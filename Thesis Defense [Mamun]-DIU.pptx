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4" r:id="rId1"/>
  </p:sldMasterIdLst>
  <p:notesMasterIdLst>
    <p:notesMasterId r:id="rId29"/>
  </p:notesMasterIdLst>
  <p:handoutMasterIdLst>
    <p:handoutMasterId r:id="rId30"/>
  </p:handoutMasterIdLst>
  <p:sldIdLst>
    <p:sldId id="279" r:id="rId2"/>
    <p:sldId id="327" r:id="rId3"/>
    <p:sldId id="269" r:id="rId4"/>
    <p:sldId id="282" r:id="rId5"/>
    <p:sldId id="270" r:id="rId6"/>
    <p:sldId id="272" r:id="rId7"/>
    <p:sldId id="285" r:id="rId8"/>
    <p:sldId id="286" r:id="rId9"/>
    <p:sldId id="288" r:id="rId10"/>
    <p:sldId id="289" r:id="rId11"/>
    <p:sldId id="291" r:id="rId12"/>
    <p:sldId id="328" r:id="rId13"/>
    <p:sldId id="330" r:id="rId14"/>
    <p:sldId id="329" r:id="rId15"/>
    <p:sldId id="293" r:id="rId16"/>
    <p:sldId id="295" r:id="rId17"/>
    <p:sldId id="315" r:id="rId18"/>
    <p:sldId id="311" r:id="rId19"/>
    <p:sldId id="318" r:id="rId20"/>
    <p:sldId id="312" r:id="rId21"/>
    <p:sldId id="314" r:id="rId22"/>
    <p:sldId id="298" r:id="rId23"/>
    <p:sldId id="332" r:id="rId24"/>
    <p:sldId id="301" r:id="rId25"/>
    <p:sldId id="304" r:id="rId26"/>
    <p:sldId id="307" r:id="rId27"/>
    <p:sldId id="333" r:id="rId28"/>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384">
          <p15:clr>
            <a:srgbClr val="A4A3A4"/>
          </p15:clr>
        </p15:guide>
        <p15:guide id="3" orient="horz" pos="3792">
          <p15:clr>
            <a:srgbClr val="A4A3A4"/>
          </p15:clr>
        </p15:guide>
        <p15:guide id="4" pos="959">
          <p15:clr>
            <a:srgbClr val="A4A3A4"/>
          </p15:clr>
        </p15:guide>
        <p15:guide id="5" pos="671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144" autoAdjust="0"/>
    <p:restoredTop sz="94660"/>
  </p:normalViewPr>
  <p:slideViewPr>
    <p:cSldViewPr>
      <p:cViewPr varScale="1">
        <p:scale>
          <a:sx n="111" d="100"/>
          <a:sy n="111" d="100"/>
        </p:scale>
        <p:origin x="528" y="96"/>
      </p:cViewPr>
      <p:guideLst>
        <p:guide orient="horz" pos="2160"/>
        <p:guide orient="horz" pos="384"/>
        <p:guide orient="horz" pos="3792"/>
        <p:guide pos="959"/>
        <p:guide pos="6719"/>
      </p:guideLst>
    </p:cSldViewPr>
  </p:slideViewPr>
  <p:notesTextViewPr>
    <p:cViewPr>
      <p:scale>
        <a:sx n="100" d="100"/>
        <a:sy n="100" d="100"/>
      </p:scale>
      <p:origin x="0" y="0"/>
    </p:cViewPr>
  </p:notesTextViewPr>
  <p:notesViewPr>
    <p:cSldViewPr showGuides="1">
      <p:cViewPr varScale="1">
        <p:scale>
          <a:sx n="76" d="100"/>
          <a:sy n="76" d="100"/>
        </p:scale>
        <p:origin x="2538"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EA74EB7-856E-45FD-83F0-5F7C6F3E4372}" type="datetimeFigureOut">
              <a:rPr lang="en-US"/>
              <a:t>1/20/2022</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4886E15-F82A-4596-A46C-375C6D3981E1}" type="slidenum">
              <a:rPr/>
              <a:t>‹#›</a:t>
            </a:fld>
            <a:endParaRPr dirty="0"/>
          </a:p>
        </p:txBody>
      </p:sp>
    </p:spTree>
    <p:extLst>
      <p:ext uri="{BB962C8B-B14F-4D97-AF65-F5344CB8AC3E}">
        <p14:creationId xmlns:p14="http://schemas.microsoft.com/office/powerpoint/2010/main" val="8683081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61B0E40-8125-41F8-BB6C-139D8D531A4F}" type="datetimeFigureOut">
              <a:rPr lang="en-US"/>
              <a:t>1/20/2022</a:t>
            </a:fld>
            <a:endParaRPr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F105DB2-FD3E-441D-8B7E-7AE83ECE27B3}" type="slidenum">
              <a:rPr/>
              <a:t>‹#›</a:t>
            </a:fld>
            <a:endParaRPr dirty="0"/>
          </a:p>
        </p:txBody>
      </p:sp>
    </p:spTree>
    <p:extLst>
      <p:ext uri="{BB962C8B-B14F-4D97-AF65-F5344CB8AC3E}">
        <p14:creationId xmlns:p14="http://schemas.microsoft.com/office/powerpoint/2010/main" val="2894720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F105DB2-FD3E-441D-8B7E-7AE83ECE27B3}" type="slidenum">
              <a:rPr lang="en-US" smtClean="0"/>
              <a:t>1</a:t>
            </a:fld>
            <a:endParaRPr lang="en-US" dirty="0"/>
          </a:p>
        </p:txBody>
      </p:sp>
    </p:spTree>
    <p:extLst>
      <p:ext uri="{BB962C8B-B14F-4D97-AF65-F5344CB8AC3E}">
        <p14:creationId xmlns:p14="http://schemas.microsoft.com/office/powerpoint/2010/main" val="15767582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F105DB2-FD3E-441D-8B7E-7AE83ECE27B3}" type="slidenum">
              <a:rPr lang="en-US" smtClean="0"/>
              <a:t>3</a:t>
            </a:fld>
            <a:endParaRPr lang="en-US" dirty="0"/>
          </a:p>
        </p:txBody>
      </p:sp>
    </p:spTree>
    <p:extLst>
      <p:ext uri="{BB962C8B-B14F-4D97-AF65-F5344CB8AC3E}">
        <p14:creationId xmlns:p14="http://schemas.microsoft.com/office/powerpoint/2010/main" val="27256001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F105DB2-FD3E-441D-8B7E-7AE83ECE27B3}" type="slidenum">
              <a:rPr lang="en-US" smtClean="0"/>
              <a:t>5</a:t>
            </a:fld>
            <a:endParaRPr lang="en-US" dirty="0"/>
          </a:p>
        </p:txBody>
      </p:sp>
    </p:spTree>
    <p:extLst>
      <p:ext uri="{BB962C8B-B14F-4D97-AF65-F5344CB8AC3E}">
        <p14:creationId xmlns:p14="http://schemas.microsoft.com/office/powerpoint/2010/main" val="35464439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F105DB2-FD3E-441D-8B7E-7AE83ECE27B3}" type="slidenum">
              <a:rPr lang="en-US" smtClean="0"/>
              <a:t>6</a:t>
            </a:fld>
            <a:endParaRPr lang="en-US" dirty="0"/>
          </a:p>
        </p:txBody>
      </p:sp>
    </p:spTree>
    <p:extLst>
      <p:ext uri="{BB962C8B-B14F-4D97-AF65-F5344CB8AC3E}">
        <p14:creationId xmlns:p14="http://schemas.microsoft.com/office/powerpoint/2010/main" val="19658745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title block"/>
          <p:cNvSpPr/>
          <p:nvPr/>
        </p:nvSpPr>
        <p:spPr bwMode="invGray">
          <a:xfrm>
            <a:off x="1141413" y="1600200"/>
            <a:ext cx="11047412" cy="32766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top graphic"/>
          <p:cNvGrpSpPr/>
          <p:nvPr/>
        </p:nvGrpSpPr>
        <p:grpSpPr>
          <a:xfrm>
            <a:off x="1279" y="0"/>
            <a:ext cx="12188952" cy="429768"/>
            <a:chOff x="1279" y="0"/>
            <a:chExt cx="12188952" cy="429768"/>
          </a:xfrm>
        </p:grpSpPr>
        <p:sp>
          <p:nvSpPr>
            <p:cNvPr id="8" name="Rectangle 7"/>
            <p:cNvSpPr/>
            <p:nvPr/>
          </p:nvSpPr>
          <p:spPr>
            <a:xfrm>
              <a:off x="1279" y="0"/>
              <a:ext cx="12188952" cy="228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9" name="Rectangle 8"/>
            <p:cNvSpPr/>
            <p:nvPr/>
          </p:nvSpPr>
          <p:spPr>
            <a:xfrm>
              <a:off x="1279" y="228600"/>
              <a:ext cx="12188952" cy="2011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0" name="Rectangle 9"/>
            <p:cNvSpPr/>
            <p:nvPr/>
          </p:nvSpPr>
          <p:spPr>
            <a:xfrm>
              <a:off x="1279" y="306324"/>
              <a:ext cx="12188952"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grpSp>
        <p:nvGrpSpPr>
          <p:cNvPr id="23" name="bottom graphic"/>
          <p:cNvGrpSpPr/>
          <p:nvPr/>
        </p:nvGrpSpPr>
        <p:grpSpPr>
          <a:xfrm>
            <a:off x="0" y="6080760"/>
            <a:ext cx="12190231" cy="777240"/>
            <a:chOff x="0" y="6080760"/>
            <a:chExt cx="12190231" cy="777240"/>
          </a:xfrm>
        </p:grpSpPr>
        <p:sp>
          <p:nvSpPr>
            <p:cNvPr id="13" name="Rectangle 12"/>
            <p:cNvSpPr/>
            <p:nvPr/>
          </p:nvSpPr>
          <p:spPr>
            <a:xfrm>
              <a:off x="0" y="6217920"/>
              <a:ext cx="12188825" cy="64008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dirty="0"/>
            </a:p>
          </p:txBody>
        </p:sp>
        <p:sp>
          <p:nvSpPr>
            <p:cNvPr id="14" name="Rectangle 13"/>
            <p:cNvSpPr/>
            <p:nvPr/>
          </p:nvSpPr>
          <p:spPr>
            <a:xfrm>
              <a:off x="1279" y="6080760"/>
              <a:ext cx="12188952" cy="97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5" name="Rectangle 14"/>
            <p:cNvSpPr/>
            <p:nvPr/>
          </p:nvSpPr>
          <p:spPr>
            <a:xfrm>
              <a:off x="1279" y="6172200"/>
              <a:ext cx="12188952" cy="274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
        <p:nvSpPr>
          <p:cNvPr id="2" name="Title 1"/>
          <p:cNvSpPr>
            <a:spLocks noGrp="1"/>
          </p:cNvSpPr>
          <p:nvPr>
            <p:ph type="ctrTitle"/>
          </p:nvPr>
        </p:nvSpPr>
        <p:spPr bwMode="invGray">
          <a:xfrm>
            <a:off x="1522414" y="1905000"/>
            <a:ext cx="9143998" cy="2667000"/>
          </a:xfrm>
        </p:spPr>
        <p:txBody>
          <a:bodyPr anchor="b">
            <a:normAutofit/>
          </a:bodyPr>
          <a:lstStyle>
            <a:lvl1pPr>
              <a:lnSpc>
                <a:spcPct val="80000"/>
              </a:lnSpc>
              <a:defRPr sz="6600">
                <a:solidFill>
                  <a:schemeClr val="bg1"/>
                </a:solidFill>
                <a:effectLst>
                  <a:outerShdw blurRad="88900" algn="ctr" rotWithShape="0">
                    <a:prstClr val="black">
                      <a:alpha val="35000"/>
                    </a:prstClr>
                  </a:outerShdw>
                </a:effectLst>
              </a:defRPr>
            </a:lvl1pPr>
          </a:lstStyle>
          <a:p>
            <a:r>
              <a:rPr lang="en-US"/>
              <a:t>Click to edit Master title style</a:t>
            </a:r>
            <a:endParaRPr dirty="0"/>
          </a:p>
        </p:txBody>
      </p:sp>
      <p:sp>
        <p:nvSpPr>
          <p:cNvPr id="3" name="Subtitle 2"/>
          <p:cNvSpPr>
            <a:spLocks noGrp="1"/>
          </p:cNvSpPr>
          <p:nvPr>
            <p:ph type="subTitle" idx="1"/>
          </p:nvPr>
        </p:nvSpPr>
        <p:spPr>
          <a:xfrm>
            <a:off x="1522413" y="5029200"/>
            <a:ext cx="8229598" cy="838200"/>
          </a:xfrm>
        </p:spPr>
        <p:txBody>
          <a:bodyPr/>
          <a:lstStyle>
            <a:lvl1pPr marL="0" indent="0" algn="l">
              <a:lnSpc>
                <a:spcPct val="90000"/>
              </a:lnSpc>
              <a:spcBef>
                <a:spcPts val="0"/>
              </a:spcBef>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21" name="Footer Placeholder 20"/>
          <p:cNvSpPr>
            <a:spLocks noGrp="1"/>
          </p:cNvSpPr>
          <p:nvPr>
            <p:ph type="ftr" sz="quarter" idx="11"/>
          </p:nvPr>
        </p:nvSpPr>
        <p:spPr/>
        <p:txBody>
          <a:bodyPr/>
          <a:lstStyle/>
          <a:p>
            <a:r>
              <a:rPr lang="en-US" dirty="0"/>
              <a:t>Add a footer</a:t>
            </a:r>
          </a:p>
        </p:txBody>
      </p:sp>
      <p:sp>
        <p:nvSpPr>
          <p:cNvPr id="20" name="Date Placeholder 19"/>
          <p:cNvSpPr>
            <a:spLocks noGrp="1"/>
          </p:cNvSpPr>
          <p:nvPr>
            <p:ph type="dt" sz="half" idx="10"/>
          </p:nvPr>
        </p:nvSpPr>
        <p:spPr/>
        <p:txBody>
          <a:bodyPr/>
          <a:lstStyle/>
          <a:p>
            <a:fld id="{FD19B4B9-893D-4A92-ACA3-E0D8A95CE038}" type="datetime1">
              <a:rPr lang="en-US" smtClean="0"/>
              <a:t>1/20/2022</a:t>
            </a:fld>
            <a:endParaRPr lang="en-US" dirty="0"/>
          </a:p>
        </p:txBody>
      </p:sp>
      <p:sp>
        <p:nvSpPr>
          <p:cNvPr id="22" name="Slide Number Placeholder 21"/>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4088169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200"/>
            </a:lvl1p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0B573522-4F0E-4552-B4A9-F39343BCD021}" type="datetime1">
              <a:rPr lang="en-US" smtClean="0"/>
              <a:t>1/20/2022</a:t>
            </a:fld>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894591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3" y="1905000"/>
            <a:ext cx="9144000" cy="2667000"/>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522413" y="4876800"/>
            <a:ext cx="8229598" cy="1143000"/>
          </a:xfrm>
        </p:spPr>
        <p:txBody>
          <a:bodyPr anchor="t">
            <a:normAutofit/>
          </a:bodyPr>
          <a:lstStyle>
            <a:lvl1pPr marL="0" indent="0">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dirty="0"/>
              <a:t>Add a footer</a:t>
            </a:r>
          </a:p>
        </p:txBody>
      </p:sp>
      <p:sp>
        <p:nvSpPr>
          <p:cNvPr id="4" name="Date Placeholder 3"/>
          <p:cNvSpPr>
            <a:spLocks noGrp="1"/>
          </p:cNvSpPr>
          <p:nvPr>
            <p:ph type="dt" sz="half" idx="10"/>
          </p:nvPr>
        </p:nvSpPr>
        <p:spPr/>
        <p:txBody>
          <a:bodyPr/>
          <a:lstStyle>
            <a:lvl1pPr>
              <a:defRPr>
                <a:solidFill>
                  <a:schemeClr val="tx1"/>
                </a:solidFill>
              </a:defRPr>
            </a:lvl1pPr>
          </a:lstStyle>
          <a:p>
            <a:fld id="{6C5918D9-2BE5-41AA-BF5F-3AAFAD95918C}" type="datetime1">
              <a:rPr lang="en-US" smtClean="0"/>
              <a:t>1/20/2022</a:t>
            </a:fld>
            <a:endParaRPr lang="en-US"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3484106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522413" y="1904999"/>
            <a:ext cx="4435564" cy="4088921"/>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30849" y="1904999"/>
            <a:ext cx="4435564" cy="4088921"/>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DB7DF581-3081-4F7F-ABE1-1E2869C6382F}" type="datetime1">
              <a:rPr lang="en-US" smtClean="0"/>
              <a:t>1/20/2022</a:t>
            </a:fld>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1512259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22413" y="1828800"/>
            <a:ext cx="4419599" cy="685801"/>
          </a:xfrm>
        </p:spPr>
        <p:txBody>
          <a:bodyPr anchor="ctr">
            <a:norm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590801"/>
            <a:ext cx="4419599" cy="3429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6814" y="1828800"/>
            <a:ext cx="4419599" cy="685801"/>
          </a:xfrm>
        </p:spPr>
        <p:txBody>
          <a:bodyPr anchor="ctr">
            <a:norm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6814" y="2590801"/>
            <a:ext cx="4419599" cy="3429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0A1F01B2-AE4E-466C-8B45-2B2E7B5D4CF2}" type="datetime1">
              <a:rPr lang="en-US" smtClean="0"/>
              <a:t>1/20/2022</a:t>
            </a:fld>
            <a:endParaRPr lang="en-US" dirty="0"/>
          </a:p>
        </p:txBody>
      </p:sp>
      <p:sp>
        <p:nvSpPr>
          <p:cNvPr id="9" name="Slide Number Placeholder 8"/>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597700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ABEF6372-DF79-414E-938F-E504C71F0226}" type="datetime1">
              <a:rPr lang="en-US" smtClean="0"/>
              <a:t>1/20/2022</a:t>
            </a:fld>
            <a:endParaRPr lang="en-US" dirty="0"/>
          </a:p>
        </p:txBody>
      </p:sp>
      <p:sp>
        <p:nvSpPr>
          <p:cNvPr id="5" name="Slide Number Placeholder 4"/>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981316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6" name="bottom graphic"/>
          <p:cNvGrpSpPr/>
          <p:nvPr userDrawn="1"/>
        </p:nvGrpSpPr>
        <p:grpSpPr>
          <a:xfrm>
            <a:off x="0" y="6309360"/>
            <a:ext cx="12190231" cy="548640"/>
            <a:chOff x="0" y="6309360"/>
            <a:chExt cx="12190231" cy="548640"/>
          </a:xfrm>
        </p:grpSpPr>
        <p:sp>
          <p:nvSpPr>
            <p:cNvPr id="7" name="Rectangle 6"/>
            <p:cNvSpPr/>
            <p:nvPr/>
          </p:nvSpPr>
          <p:spPr>
            <a:xfrm>
              <a:off x="0" y="6400800"/>
              <a:ext cx="12188825" cy="4572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dirty="0"/>
            </a:p>
          </p:txBody>
        </p:sp>
        <p:sp>
          <p:nvSpPr>
            <p:cNvPr id="8" name="Rectangle 7"/>
            <p:cNvSpPr/>
            <p:nvPr/>
          </p:nvSpPr>
          <p:spPr>
            <a:xfrm>
              <a:off x="1279" y="6309360"/>
              <a:ext cx="12188952" cy="97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9" name="Rectangle 8"/>
            <p:cNvSpPr/>
            <p:nvPr/>
          </p:nvSpPr>
          <p:spPr>
            <a:xfrm>
              <a:off x="1279" y="6379143"/>
              <a:ext cx="12188952" cy="274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0D761DAF-0465-4B4F-A7CE-D67BF74806DB}" type="datetime1">
              <a:rPr lang="en-US" smtClean="0"/>
              <a:t>1/20/2022</a:t>
            </a:fld>
            <a:endParaRPr lang="en-US" dirty="0"/>
          </a:p>
        </p:txBody>
      </p:sp>
      <p:sp>
        <p:nvSpPr>
          <p:cNvPr id="4" name="Slide Number Placeholder 3"/>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4030035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ame"/>
          <p:cNvSpPr/>
          <p:nvPr/>
        </p:nvSpPr>
        <p:spPr>
          <a:xfrm>
            <a:off x="1217610" y="1019175"/>
            <a:ext cx="6126480" cy="4572000"/>
          </a:xfrm>
          <a:prstGeom prst="rect">
            <a:avLst/>
          </a:prstGeom>
          <a:noFill/>
          <a:ln w="101600">
            <a:solidFill>
              <a:schemeClr val="accent1">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title"/>
          </p:nvPr>
        </p:nvSpPr>
        <p:spPr>
          <a:xfrm>
            <a:off x="7923214" y="1371600"/>
            <a:ext cx="3124200" cy="2057400"/>
          </a:xfrm>
        </p:spPr>
        <p:txBody>
          <a:bodyPr anchor="b">
            <a:normAutofit/>
          </a:bodyPr>
          <a:lstStyle>
            <a:lvl1pPr algn="l">
              <a:defRPr sz="3200" b="1"/>
            </a:lvl1pPr>
          </a:lstStyle>
          <a:p>
            <a:r>
              <a:rPr lang="en-US"/>
              <a:t>Click to edit Master title style</a:t>
            </a:r>
            <a:endParaRPr/>
          </a:p>
        </p:txBody>
      </p:sp>
      <p:sp>
        <p:nvSpPr>
          <p:cNvPr id="3" name="Content Placeholder 2"/>
          <p:cNvSpPr>
            <a:spLocks noGrp="1"/>
          </p:cNvSpPr>
          <p:nvPr>
            <p:ph idx="1"/>
          </p:nvPr>
        </p:nvSpPr>
        <p:spPr>
          <a:xfrm>
            <a:off x="1491930" y="1293495"/>
            <a:ext cx="5577840" cy="402336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923214" y="3536829"/>
            <a:ext cx="3124200" cy="1797169"/>
          </a:xfrm>
        </p:spPr>
        <p:txBody>
          <a:bodyPr>
            <a:normAutofit/>
          </a:bodyPr>
          <a:lstStyle>
            <a:lvl1pPr marL="0" indent="0">
              <a:spcBef>
                <a:spcPts val="8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768D733F-08D8-4247-885C-ABE5A5E1F37B}" type="datetime1">
              <a:rPr lang="en-US" smtClean="0"/>
              <a:t>1/20/2022</a:t>
            </a:fld>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3616132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frame"/>
          <p:cNvSpPr/>
          <p:nvPr/>
        </p:nvSpPr>
        <p:spPr>
          <a:xfrm>
            <a:off x="1217610" y="1019175"/>
            <a:ext cx="6126480" cy="4572000"/>
          </a:xfrm>
          <a:prstGeom prst="rect">
            <a:avLst/>
          </a:prstGeom>
          <a:noFill/>
          <a:ln w="101600">
            <a:solidFill>
              <a:schemeClr val="accent1">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title"/>
          </p:nvPr>
        </p:nvSpPr>
        <p:spPr>
          <a:xfrm>
            <a:off x="7923214" y="1371600"/>
            <a:ext cx="3124200" cy="2057400"/>
          </a:xfrm>
        </p:spPr>
        <p:txBody>
          <a:bodyPr anchor="b">
            <a:normAutofit/>
          </a:bodyPr>
          <a:lstStyle>
            <a:lvl1pPr algn="l">
              <a:defRPr sz="32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400490" y="1202055"/>
            <a:ext cx="5760720" cy="4206240"/>
          </a:xfrm>
          <a:solidFill>
            <a:schemeClr val="bg1">
              <a:lumMod val="95000"/>
            </a:schemeClr>
          </a:solidFill>
        </p:spPr>
        <p:txBody>
          <a:bodyPr tIns="914400">
            <a:normAutofit/>
          </a:bodyPr>
          <a:lstStyle>
            <a:lvl1pPr marL="0" indent="0" algn="ctr">
              <a:spcBef>
                <a:spcPts val="0"/>
              </a:spcBef>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7923214" y="3536829"/>
            <a:ext cx="3124200" cy="1797171"/>
          </a:xfrm>
        </p:spPr>
        <p:txBody>
          <a:bodyPr>
            <a:normAutofit/>
          </a:bodyPr>
          <a:lstStyle>
            <a:lvl1pPr marL="0" indent="0">
              <a:spcBef>
                <a:spcPts val="8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3FA01E15-6334-4187-84B9-DE52677200CF}" type="datetime1">
              <a:rPr lang="en-US" smtClean="0"/>
              <a:t>1/20/2022</a:t>
            </a:fld>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1931862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724E0C5C-6E3E-4C8E-9872-11988A9425AC}" type="datetime1">
              <a:rPr lang="en-US" smtClean="0"/>
              <a:t>1/20/2022</a:t>
            </a:fld>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2223790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94507" y="609600"/>
            <a:ext cx="1143001" cy="54102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522413" y="609600"/>
            <a:ext cx="7696198" cy="54102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526DF49D-4B36-4C79-B71E-1D22451078C4}" type="datetime1">
              <a:rPr lang="en-US" smtClean="0"/>
              <a:t>1/20/2022</a:t>
            </a:fld>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265341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200"/>
            </a:lvl1p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5536F1CE-2B98-4061-B236-E332B5FA40A0}" type="datetime1">
              <a:rPr lang="en-US" smtClean="0"/>
              <a:t>1/20/2022</a:t>
            </a:fld>
            <a:endParaRPr dirty="0"/>
          </a:p>
        </p:txBody>
      </p:sp>
      <p:sp>
        <p:nvSpPr>
          <p:cNvPr id="6" name="Slide Number Placeholder 5"/>
          <p:cNvSpPr>
            <a:spLocks noGrp="1"/>
          </p:cNvSpPr>
          <p:nvPr>
            <p:ph type="sldNum" sz="quarter" idx="12"/>
          </p:nvPr>
        </p:nvSpPr>
        <p:spPr/>
        <p:txBody>
          <a:bodyPr/>
          <a:lstStyle/>
          <a:p>
            <a:fld id="{DF28FB93-0A08-4E7D-8E63-9EFA29F1E093}" type="slidenum">
              <a:rPr/>
              <a:pPr/>
              <a:t>‹#›</a:t>
            </a:fld>
            <a:endParaRPr dirty="0"/>
          </a:p>
        </p:txBody>
      </p:sp>
    </p:spTree>
    <p:extLst>
      <p:ext uri="{BB962C8B-B14F-4D97-AF65-F5344CB8AC3E}">
        <p14:creationId xmlns:p14="http://schemas.microsoft.com/office/powerpoint/2010/main" val="506475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bottom graphic"/>
          <p:cNvGrpSpPr/>
          <p:nvPr/>
        </p:nvGrpSpPr>
        <p:grpSpPr>
          <a:xfrm>
            <a:off x="0" y="6309360"/>
            <a:ext cx="12190231" cy="548640"/>
            <a:chOff x="0" y="6309360"/>
            <a:chExt cx="12190231" cy="548640"/>
          </a:xfrm>
        </p:grpSpPr>
        <p:sp>
          <p:nvSpPr>
            <p:cNvPr id="7" name="Rectangle 6"/>
            <p:cNvSpPr/>
            <p:nvPr/>
          </p:nvSpPr>
          <p:spPr>
            <a:xfrm>
              <a:off x="0" y="6400800"/>
              <a:ext cx="12188825" cy="4572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dirty="0"/>
            </a:p>
          </p:txBody>
        </p:sp>
        <p:sp>
          <p:nvSpPr>
            <p:cNvPr id="8" name="Rectangle 7"/>
            <p:cNvSpPr/>
            <p:nvPr/>
          </p:nvSpPr>
          <p:spPr>
            <a:xfrm>
              <a:off x="1279" y="6309360"/>
              <a:ext cx="12188952" cy="97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9" name="Rectangle 8"/>
            <p:cNvSpPr/>
            <p:nvPr/>
          </p:nvSpPr>
          <p:spPr>
            <a:xfrm>
              <a:off x="1279" y="6379143"/>
              <a:ext cx="12188952" cy="274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grpSp>
        <p:nvGrpSpPr>
          <p:cNvPr id="10" name="top graphic"/>
          <p:cNvGrpSpPr/>
          <p:nvPr/>
        </p:nvGrpSpPr>
        <p:grpSpPr>
          <a:xfrm>
            <a:off x="1279" y="0"/>
            <a:ext cx="12188952" cy="320040"/>
            <a:chOff x="1279" y="0"/>
            <a:chExt cx="12188952" cy="320040"/>
          </a:xfrm>
        </p:grpSpPr>
        <p:sp>
          <p:nvSpPr>
            <p:cNvPr id="11" name="Rectangle 10"/>
            <p:cNvSpPr/>
            <p:nvPr/>
          </p:nvSpPr>
          <p:spPr>
            <a:xfrm>
              <a:off x="1279" y="0"/>
              <a:ext cx="12188952" cy="17023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2" name="Rectangle 11"/>
            <p:cNvSpPr/>
            <p:nvPr/>
          </p:nvSpPr>
          <p:spPr>
            <a:xfrm>
              <a:off x="1279" y="170234"/>
              <a:ext cx="12188952" cy="14980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3" name="Rectangle 12"/>
            <p:cNvSpPr/>
            <p:nvPr/>
          </p:nvSpPr>
          <p:spPr>
            <a:xfrm>
              <a:off x="1279" y="231421"/>
              <a:ext cx="12188952" cy="274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
        <p:nvSpPr>
          <p:cNvPr id="2" name="Title Placeholder 1"/>
          <p:cNvSpPr>
            <a:spLocks noGrp="1"/>
          </p:cNvSpPr>
          <p:nvPr>
            <p:ph type="title"/>
          </p:nvPr>
        </p:nvSpPr>
        <p:spPr>
          <a:xfrm>
            <a:off x="1522876" y="609600"/>
            <a:ext cx="9143538" cy="10668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876" y="1905000"/>
            <a:ext cx="9143538" cy="369746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bwMode="auto">
          <a:xfrm>
            <a:off x="1507498" y="6516865"/>
            <a:ext cx="6062145" cy="228600"/>
          </a:xfrm>
          <a:prstGeom prst="rect">
            <a:avLst/>
          </a:prstGeom>
        </p:spPr>
        <p:txBody>
          <a:bodyPr vert="horz" lIns="91440" tIns="45720" rIns="91440" bIns="45720" rtlCol="0" anchor="ctr"/>
          <a:lstStyle>
            <a:lvl1pPr algn="l">
              <a:defRPr sz="1100" cap="all" baseline="0">
                <a:solidFill>
                  <a:schemeClr val="bg1"/>
                </a:solidFill>
              </a:defRPr>
            </a:lvl1pPr>
          </a:lstStyle>
          <a:p>
            <a:r>
              <a:rPr lang="en-US" dirty="0"/>
              <a:t>Add a footer</a:t>
            </a:r>
          </a:p>
        </p:txBody>
      </p:sp>
      <p:sp>
        <p:nvSpPr>
          <p:cNvPr id="4" name="Date Placeholder 3"/>
          <p:cNvSpPr>
            <a:spLocks noGrp="1"/>
          </p:cNvSpPr>
          <p:nvPr>
            <p:ph type="dt" sz="half" idx="2"/>
          </p:nvPr>
        </p:nvSpPr>
        <p:spPr bwMode="auto">
          <a:xfrm>
            <a:off x="7994363" y="6516865"/>
            <a:ext cx="1327622" cy="228600"/>
          </a:xfrm>
          <a:prstGeom prst="rect">
            <a:avLst/>
          </a:prstGeom>
        </p:spPr>
        <p:txBody>
          <a:bodyPr vert="horz" lIns="91440" tIns="45720" rIns="91440" bIns="45720" rtlCol="0" anchor="ctr"/>
          <a:lstStyle>
            <a:lvl1pPr algn="r">
              <a:defRPr sz="1100">
                <a:solidFill>
                  <a:schemeClr val="bg1"/>
                </a:solidFill>
              </a:defRPr>
            </a:lvl1pPr>
          </a:lstStyle>
          <a:p>
            <a:fld id="{F9CB1434-F52F-4D61-871C-F88D27FA1DD0}" type="datetime1">
              <a:rPr lang="en-US" smtClean="0"/>
              <a:t>1/20/2022</a:t>
            </a:fld>
            <a:endParaRPr lang="en-US" dirty="0"/>
          </a:p>
        </p:txBody>
      </p:sp>
      <p:sp>
        <p:nvSpPr>
          <p:cNvPr id="6" name="Slide Number Placeholder 5"/>
          <p:cNvSpPr>
            <a:spLocks noGrp="1"/>
          </p:cNvSpPr>
          <p:nvPr>
            <p:ph type="sldNum" sz="quarter" idx="4"/>
          </p:nvPr>
        </p:nvSpPr>
        <p:spPr bwMode="auto">
          <a:xfrm>
            <a:off x="9730094" y="6516865"/>
            <a:ext cx="936319" cy="228600"/>
          </a:xfrm>
          <a:prstGeom prst="rect">
            <a:avLst/>
          </a:prstGeom>
        </p:spPr>
        <p:txBody>
          <a:bodyPr vert="horz" lIns="91440" tIns="45720" rIns="91440" bIns="45720" rtlCol="0" anchor="ctr"/>
          <a:lstStyle>
            <a:lvl1pPr algn="r">
              <a:defRPr sz="1100">
                <a:solidFill>
                  <a:schemeClr val="bg1"/>
                </a:solidFill>
              </a:defRPr>
            </a:lvl1p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3310681898"/>
      </p:ext>
    </p:extLst>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 id="2147483914"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p:txStyles>
    <p:titleStyle>
      <a:lvl1pPr algn="l" defTabSz="914400" rtl="0" eaLnBrk="1" latinLnBrk="0" hangingPunct="1">
        <a:lnSpc>
          <a:spcPct val="90000"/>
        </a:lnSpc>
        <a:spcBef>
          <a:spcPct val="0"/>
        </a:spcBef>
        <a:buNone/>
        <a:defRPr sz="3200" kern="1200">
          <a:solidFill>
            <a:schemeClr val="accent1">
              <a:lumMod val="50000"/>
            </a:schemeClr>
          </a:solidFill>
          <a:latin typeface="+mj-lt"/>
          <a:ea typeface="+mj-ea"/>
          <a:cs typeface="+mj-cs"/>
        </a:defRPr>
      </a:lvl1pPr>
    </p:titleStyle>
    <p:bodyStyle>
      <a:lvl1pPr marL="274320" indent="-274320" algn="l" defTabSz="914400" rtl="0" eaLnBrk="1" latinLnBrk="0" hangingPunct="1">
        <a:lnSpc>
          <a:spcPct val="90000"/>
        </a:lnSpc>
        <a:spcBef>
          <a:spcPts val="1800"/>
        </a:spcBef>
        <a:buClr>
          <a:schemeClr val="tx1"/>
        </a:buClr>
        <a:buSzPct val="80000"/>
        <a:buFont typeface="Wingdings" pitchFamily="2" charset="2"/>
        <a:buChar char="§"/>
        <a:defRPr sz="2400" kern="1200">
          <a:solidFill>
            <a:schemeClr val="tx1"/>
          </a:solidFill>
          <a:latin typeface="+mn-lt"/>
          <a:ea typeface="+mn-ea"/>
          <a:cs typeface="+mn-cs"/>
        </a:defRPr>
      </a:lvl1pPr>
      <a:lvl2pPr marL="548640" indent="-228600" algn="l" defTabSz="914400" rtl="0" eaLnBrk="1" latinLnBrk="0" hangingPunct="1">
        <a:lnSpc>
          <a:spcPct val="90000"/>
        </a:lnSpc>
        <a:spcBef>
          <a:spcPts val="1000"/>
        </a:spcBef>
        <a:buClr>
          <a:schemeClr val="tx1"/>
        </a:buClr>
        <a:buSzPct val="100000"/>
        <a:buFont typeface="Arial" pitchFamily="34" charset="0"/>
        <a:buChar char="–"/>
        <a:defRPr sz="2000" kern="1200">
          <a:solidFill>
            <a:schemeClr val="tx1"/>
          </a:solidFill>
          <a:latin typeface="+mn-lt"/>
          <a:ea typeface="+mn-ea"/>
          <a:cs typeface="+mn-cs"/>
        </a:defRPr>
      </a:lvl2pPr>
      <a:lvl3pPr marL="822960" indent="-228600" algn="l" defTabSz="914400" rtl="0" eaLnBrk="1" latinLnBrk="0" hangingPunct="1">
        <a:lnSpc>
          <a:spcPct val="90000"/>
        </a:lnSpc>
        <a:spcBef>
          <a:spcPts val="800"/>
        </a:spcBef>
        <a:buClr>
          <a:schemeClr val="tx1"/>
        </a:buClr>
        <a:buSzPct val="80000"/>
        <a:buFont typeface="Wingdings" pitchFamily="2" charset="2"/>
        <a:buChar char="§"/>
        <a:defRPr sz="1800" kern="1200">
          <a:solidFill>
            <a:schemeClr val="tx1"/>
          </a:solidFill>
          <a:latin typeface="+mn-lt"/>
          <a:ea typeface="+mn-ea"/>
          <a:cs typeface="+mn-cs"/>
        </a:defRPr>
      </a:lvl3pPr>
      <a:lvl4pPr marL="1097280" indent="-228600" algn="l" defTabSz="914400" rtl="0" eaLnBrk="1" latinLnBrk="0" hangingPunct="1">
        <a:lnSpc>
          <a:spcPct val="90000"/>
        </a:lnSpc>
        <a:spcBef>
          <a:spcPts val="800"/>
        </a:spcBef>
        <a:buClr>
          <a:schemeClr val="tx1"/>
        </a:buClr>
        <a:buSzPct val="100000"/>
        <a:buFont typeface="Arial" pitchFamily="34" charset="0"/>
        <a:buChar char="–"/>
        <a:defRPr sz="1600" kern="1200">
          <a:solidFill>
            <a:schemeClr val="tx1"/>
          </a:solidFill>
          <a:latin typeface="+mn-lt"/>
          <a:ea typeface="+mn-ea"/>
          <a:cs typeface="+mn-cs"/>
        </a:defRPr>
      </a:lvl4pPr>
      <a:lvl5pPr marL="1325880" indent="-228600" algn="l" defTabSz="914400" rtl="0" eaLnBrk="1" latinLnBrk="0" hangingPunct="1">
        <a:lnSpc>
          <a:spcPct val="90000"/>
        </a:lnSpc>
        <a:spcBef>
          <a:spcPts val="800"/>
        </a:spcBef>
        <a:buClr>
          <a:schemeClr val="tx1"/>
        </a:buClr>
        <a:buSzPct val="80000"/>
        <a:buFont typeface="Wingdings" pitchFamily="2" charset="2"/>
        <a:buChar char="§"/>
        <a:defRPr sz="1600" kern="1200">
          <a:solidFill>
            <a:schemeClr val="tx1"/>
          </a:solidFill>
          <a:latin typeface="+mn-lt"/>
          <a:ea typeface="+mn-ea"/>
          <a:cs typeface="+mn-cs"/>
        </a:defRPr>
      </a:lvl5pPr>
      <a:lvl6pPr marL="1554480" indent="-228600" algn="l" defTabSz="914400" rtl="0" eaLnBrk="1" latinLnBrk="0" hangingPunct="1">
        <a:lnSpc>
          <a:spcPct val="90000"/>
        </a:lnSpc>
        <a:spcBef>
          <a:spcPts val="800"/>
        </a:spcBef>
        <a:buClr>
          <a:schemeClr val="tx1"/>
        </a:buClr>
        <a:buSzPct val="100000"/>
        <a:buFont typeface="Arial" pitchFamily="34" charset="0"/>
        <a:buChar char="–"/>
        <a:defRPr sz="1600" kern="1200">
          <a:solidFill>
            <a:schemeClr val="tx1"/>
          </a:solidFill>
          <a:latin typeface="+mn-lt"/>
          <a:ea typeface="+mn-ea"/>
          <a:cs typeface="+mn-cs"/>
        </a:defRPr>
      </a:lvl6pPr>
      <a:lvl7pPr marL="1783080" indent="-228600" algn="l" defTabSz="914400" rtl="0" eaLnBrk="1" latinLnBrk="0" hangingPunct="1">
        <a:lnSpc>
          <a:spcPct val="90000"/>
        </a:lnSpc>
        <a:spcBef>
          <a:spcPts val="800"/>
        </a:spcBef>
        <a:buClr>
          <a:schemeClr val="tx1"/>
        </a:buClr>
        <a:buSzPct val="80000"/>
        <a:buFont typeface="Wingdings" pitchFamily="2" charset="2"/>
        <a:buChar char="§"/>
        <a:defRPr sz="1600" kern="1200">
          <a:solidFill>
            <a:schemeClr val="tx1"/>
          </a:solidFill>
          <a:latin typeface="+mn-lt"/>
          <a:ea typeface="+mn-ea"/>
          <a:cs typeface="+mn-cs"/>
        </a:defRPr>
      </a:lvl7pPr>
      <a:lvl8pPr marL="2011680" indent="-228600" algn="l" defTabSz="914400" rtl="0" eaLnBrk="1" latinLnBrk="0" hangingPunct="1">
        <a:lnSpc>
          <a:spcPct val="90000"/>
        </a:lnSpc>
        <a:spcBef>
          <a:spcPts val="800"/>
        </a:spcBef>
        <a:buClr>
          <a:schemeClr val="tx1"/>
        </a:buClr>
        <a:buSzPct val="100000"/>
        <a:buFont typeface="Arial" pitchFamily="34" charset="0"/>
        <a:buChar char="–"/>
        <a:defRPr sz="1600" kern="1200">
          <a:solidFill>
            <a:schemeClr val="tx1"/>
          </a:solidFill>
          <a:latin typeface="+mn-lt"/>
          <a:ea typeface="+mn-ea"/>
          <a:cs typeface="+mn-cs"/>
        </a:defRPr>
      </a:lvl8pPr>
      <a:lvl9pPr marL="2240280" indent="-228600" algn="l" defTabSz="914400" rtl="0" eaLnBrk="1" latinLnBrk="0" hangingPunct="1">
        <a:lnSpc>
          <a:spcPct val="90000"/>
        </a:lnSpc>
        <a:spcBef>
          <a:spcPts val="800"/>
        </a:spcBef>
        <a:buClr>
          <a:schemeClr val="tx1"/>
        </a:buClr>
        <a:buSzPct val="80000"/>
        <a:buFont typeface="Wingdings"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doi.org/10.1016/j.compbiomed.2021.104985"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2971800"/>
            <a:ext cx="4952998" cy="1805796"/>
          </a:xfrm>
        </p:spPr>
        <p:txBody>
          <a:bodyPr>
            <a:normAutofit/>
          </a:bodyPr>
          <a:lstStyle/>
          <a:p>
            <a:r>
              <a:rPr lang="en-US" sz="2000" dirty="0">
                <a:latin typeface="Times New Roman" panose="02020603050405020304" pitchFamily="18" charset="0"/>
                <a:cs typeface="Times New Roman" panose="02020603050405020304" pitchFamily="18" charset="0"/>
              </a:rPr>
              <a:t>Presented by,</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Md. Mamun Ali,</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ID: 181-35-274,</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Department of Software Engineering,</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Daffodil International University.</a:t>
            </a:r>
          </a:p>
        </p:txBody>
      </p:sp>
      <p:sp>
        <p:nvSpPr>
          <p:cNvPr id="4" name="Title 1">
            <a:extLst>
              <a:ext uri="{FF2B5EF4-FFF2-40B4-BE49-F238E27FC236}">
                <a16:creationId xmlns:a16="http://schemas.microsoft.com/office/drawing/2014/main" id="{6B0635B2-1F01-4CC3-9559-5B3FFB11D18C}"/>
              </a:ext>
            </a:extLst>
          </p:cNvPr>
          <p:cNvSpPr txBox="1">
            <a:spLocks/>
          </p:cNvSpPr>
          <p:nvPr/>
        </p:nvSpPr>
        <p:spPr bwMode="invGray">
          <a:xfrm>
            <a:off x="7085012" y="2971800"/>
            <a:ext cx="4876798" cy="1805796"/>
          </a:xfrm>
          <a:prstGeom prst="rect">
            <a:avLst/>
          </a:prstGeom>
        </p:spPr>
        <p:txBody>
          <a:bodyPr vert="horz" lIns="91440" tIns="45720" rIns="91440" bIns="45720" rtlCol="0" anchor="b">
            <a:normAutofit/>
          </a:bodyPr>
          <a:lstStyle>
            <a:lvl1pPr algn="l" defTabSz="914400" rtl="0" eaLnBrk="1" latinLnBrk="0" hangingPunct="1">
              <a:lnSpc>
                <a:spcPct val="80000"/>
              </a:lnSpc>
              <a:spcBef>
                <a:spcPct val="0"/>
              </a:spcBef>
              <a:buNone/>
              <a:defRPr sz="6600" kern="1200">
                <a:solidFill>
                  <a:schemeClr val="bg1"/>
                </a:solidFill>
                <a:effectLst>
                  <a:outerShdw blurRad="88900" algn="ctr" rotWithShape="0">
                    <a:prstClr val="black">
                      <a:alpha val="35000"/>
                    </a:prstClr>
                  </a:outerShdw>
                </a:effectLst>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Supervised by,</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Bikash Kumar Paul,</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Research Mentor,</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Department of Software Engineering,</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Daffodil International University.</a:t>
            </a:r>
          </a:p>
        </p:txBody>
      </p:sp>
      <p:sp>
        <p:nvSpPr>
          <p:cNvPr id="7" name="Date Placeholder 6">
            <a:extLst>
              <a:ext uri="{FF2B5EF4-FFF2-40B4-BE49-F238E27FC236}">
                <a16:creationId xmlns:a16="http://schemas.microsoft.com/office/drawing/2014/main" id="{1C7C7E99-5C23-4905-A6AE-6AFE1BCEE830}"/>
              </a:ext>
            </a:extLst>
          </p:cNvPr>
          <p:cNvSpPr>
            <a:spLocks noGrp="1"/>
          </p:cNvSpPr>
          <p:nvPr>
            <p:ph type="dt" sz="half" idx="10"/>
          </p:nvPr>
        </p:nvSpPr>
        <p:spPr/>
        <p:txBody>
          <a:bodyPr/>
          <a:lstStyle/>
          <a:p>
            <a:fld id="{6802C2EB-2E28-4752-96F7-47D5459E97A1}" type="datetime1">
              <a:rPr lang="en-US" smtClean="0"/>
              <a:t>1/20/2022</a:t>
            </a:fld>
            <a:endParaRPr lang="en-US" dirty="0"/>
          </a:p>
        </p:txBody>
      </p:sp>
      <p:sp>
        <p:nvSpPr>
          <p:cNvPr id="8" name="Slide Number Placeholder 7">
            <a:extLst>
              <a:ext uri="{FF2B5EF4-FFF2-40B4-BE49-F238E27FC236}">
                <a16:creationId xmlns:a16="http://schemas.microsoft.com/office/drawing/2014/main" id="{2D7D2C2F-151C-4E5A-B253-9A9C51BF1714}"/>
              </a:ext>
            </a:extLst>
          </p:cNvPr>
          <p:cNvSpPr>
            <a:spLocks noGrp="1"/>
          </p:cNvSpPr>
          <p:nvPr>
            <p:ph type="sldNum" sz="quarter" idx="12"/>
          </p:nvPr>
        </p:nvSpPr>
        <p:spPr/>
        <p:txBody>
          <a:bodyPr/>
          <a:lstStyle/>
          <a:p>
            <a:fld id="{DF28FB93-0A08-4E7D-8E63-9EFA29F1E093}" type="slidenum">
              <a:rPr lang="en-US" smtClean="0"/>
              <a:pPr/>
              <a:t>1</a:t>
            </a:fld>
            <a:endParaRPr lang="en-US" dirty="0"/>
          </a:p>
        </p:txBody>
      </p:sp>
      <p:pic>
        <p:nvPicPr>
          <p:cNvPr id="10" name="Picture 9">
            <a:extLst>
              <a:ext uri="{FF2B5EF4-FFF2-40B4-BE49-F238E27FC236}">
                <a16:creationId xmlns:a16="http://schemas.microsoft.com/office/drawing/2014/main" id="{3E524D79-0C6E-40EF-A6A2-519EF99F72B2}"/>
              </a:ext>
            </a:extLst>
          </p:cNvPr>
          <p:cNvPicPr>
            <a:picLocks noChangeAspect="1"/>
          </p:cNvPicPr>
          <p:nvPr/>
        </p:nvPicPr>
        <p:blipFill>
          <a:blip r:embed="rId3"/>
          <a:stretch>
            <a:fillRect/>
          </a:stretch>
        </p:blipFill>
        <p:spPr>
          <a:xfrm>
            <a:off x="7770812" y="533400"/>
            <a:ext cx="4190998" cy="990600"/>
          </a:xfrm>
          <a:prstGeom prst="rect">
            <a:avLst/>
          </a:prstGeom>
        </p:spPr>
      </p:pic>
      <p:sp>
        <p:nvSpPr>
          <p:cNvPr id="9" name="Title 1">
            <a:extLst>
              <a:ext uri="{FF2B5EF4-FFF2-40B4-BE49-F238E27FC236}">
                <a16:creationId xmlns:a16="http://schemas.microsoft.com/office/drawing/2014/main" id="{E36E014A-34DB-4221-AEA1-34AE27874DCE}"/>
              </a:ext>
            </a:extLst>
          </p:cNvPr>
          <p:cNvSpPr txBox="1">
            <a:spLocks/>
          </p:cNvSpPr>
          <p:nvPr/>
        </p:nvSpPr>
        <p:spPr bwMode="invGray">
          <a:xfrm>
            <a:off x="1522413" y="1768415"/>
            <a:ext cx="9143998" cy="762000"/>
          </a:xfrm>
          <a:prstGeom prst="rect">
            <a:avLst/>
          </a:prstGeom>
        </p:spPr>
        <p:txBody>
          <a:bodyPr vert="horz" lIns="91440" tIns="45720" rIns="91440" bIns="45720" rtlCol="0" anchor="b">
            <a:normAutofit fontScale="92500" lnSpcReduction="10000"/>
          </a:bodyPr>
          <a:lstStyle>
            <a:lvl1pPr algn="l" defTabSz="914400" rtl="0" eaLnBrk="1" latinLnBrk="0" hangingPunct="1">
              <a:lnSpc>
                <a:spcPct val="80000"/>
              </a:lnSpc>
              <a:spcBef>
                <a:spcPct val="0"/>
              </a:spcBef>
              <a:buNone/>
              <a:defRPr sz="6600" kern="1200">
                <a:solidFill>
                  <a:schemeClr val="bg1"/>
                </a:solidFill>
                <a:effectLst>
                  <a:outerShdw blurRad="88900" algn="ctr" rotWithShape="0">
                    <a:prstClr val="black">
                      <a:alpha val="35000"/>
                    </a:prstClr>
                  </a:outerShdw>
                </a:effectLst>
                <a:latin typeface="+mj-lt"/>
                <a:ea typeface="+mj-ea"/>
                <a:cs typeface="+mj-cs"/>
              </a:defRPr>
            </a:lvl1pPr>
          </a:lstStyle>
          <a:p>
            <a:pPr algn="ctr"/>
            <a:r>
              <a:rPr lang="en-US" sz="3200" dirty="0">
                <a:latin typeface="Times New Roman" panose="02020603050405020304" pitchFamily="18" charset="0"/>
                <a:cs typeface="Times New Roman" panose="02020603050405020304" pitchFamily="18" charset="0"/>
              </a:rPr>
              <a:t>Machine Learning-Based Statistical Analysis for Early Stage Detection of Cervical Cancer</a:t>
            </a:r>
          </a:p>
        </p:txBody>
      </p:sp>
    </p:spTree>
    <p:extLst>
      <p:ext uri="{BB962C8B-B14F-4D97-AF65-F5344CB8AC3E}">
        <p14:creationId xmlns:p14="http://schemas.microsoft.com/office/powerpoint/2010/main" val="1499568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E4ECD-10E1-42CD-93D6-6555418DFCAC}"/>
              </a:ext>
            </a:extLst>
          </p:cNvPr>
          <p:cNvSpPr>
            <a:spLocks noGrp="1"/>
          </p:cNvSpPr>
          <p:nvPr>
            <p:ph type="title"/>
          </p:nvPr>
        </p:nvSpPr>
        <p:spPr>
          <a:xfrm>
            <a:off x="1522876" y="609600"/>
            <a:ext cx="9143538" cy="645935"/>
          </a:xfrm>
        </p:spPr>
        <p:txBody>
          <a:bodyPr>
            <a:normAutofit/>
          </a:bodyPr>
          <a:lstStyle/>
          <a:p>
            <a:r>
              <a:rPr lang="en-US" dirty="0">
                <a:latin typeface="Times New Roman" panose="02020603050405020304" pitchFamily="18" charset="0"/>
                <a:cs typeface="Times New Roman" panose="02020603050405020304" pitchFamily="18" charset="0"/>
              </a:rPr>
              <a:t>Content Outlines</a:t>
            </a:r>
          </a:p>
        </p:txBody>
      </p:sp>
      <p:sp>
        <p:nvSpPr>
          <p:cNvPr id="3" name="Content Placeholder 2">
            <a:extLst>
              <a:ext uri="{FF2B5EF4-FFF2-40B4-BE49-F238E27FC236}">
                <a16:creationId xmlns:a16="http://schemas.microsoft.com/office/drawing/2014/main" id="{164787B9-A1E9-454A-BB84-D5D82FCAFDB8}"/>
              </a:ext>
            </a:extLst>
          </p:cNvPr>
          <p:cNvSpPr>
            <a:spLocks noGrp="1"/>
          </p:cNvSpPr>
          <p:nvPr>
            <p:ph idx="1"/>
          </p:nvPr>
        </p:nvSpPr>
        <p:spPr>
          <a:xfrm>
            <a:off x="1522876" y="1600200"/>
            <a:ext cx="9143538" cy="4002265"/>
          </a:xfrm>
        </p:spPr>
        <p:txBody>
          <a:bodyPr>
            <a:normAutofit/>
          </a:bodyPr>
          <a:lstStyle/>
          <a:p>
            <a:pPr>
              <a:spcBef>
                <a:spcPts val="600"/>
              </a:spcBef>
            </a:pPr>
            <a:r>
              <a:rPr lang="en-US" sz="2000" dirty="0">
                <a:latin typeface="Times New Roman" panose="02020603050405020304" pitchFamily="18" charset="0"/>
                <a:cs typeface="Times New Roman" panose="02020603050405020304" pitchFamily="18" charset="0"/>
              </a:rPr>
              <a:t>Background</a:t>
            </a:r>
          </a:p>
          <a:p>
            <a:pPr>
              <a:spcBef>
                <a:spcPts val="600"/>
              </a:spcBef>
            </a:pPr>
            <a:r>
              <a:rPr lang="en-US" sz="2000" dirty="0">
                <a:latin typeface="Times New Roman" panose="02020603050405020304" pitchFamily="18" charset="0"/>
                <a:cs typeface="Times New Roman" panose="02020603050405020304" pitchFamily="18" charset="0"/>
              </a:rPr>
              <a:t>Motivation</a:t>
            </a:r>
          </a:p>
          <a:p>
            <a:pPr>
              <a:spcBef>
                <a:spcPts val="600"/>
              </a:spcBef>
            </a:pPr>
            <a:r>
              <a:rPr lang="en-US" sz="2000" dirty="0">
                <a:latin typeface="Times New Roman" panose="02020603050405020304" pitchFamily="18" charset="0"/>
                <a:cs typeface="Times New Roman" panose="02020603050405020304" pitchFamily="18" charset="0"/>
              </a:rPr>
              <a:t>Objective</a:t>
            </a:r>
          </a:p>
          <a:p>
            <a:pPr>
              <a:spcBef>
                <a:spcPts val="600"/>
              </a:spcBef>
            </a:pPr>
            <a:r>
              <a:rPr lang="en-US" sz="2000" dirty="0">
                <a:latin typeface="Times New Roman" panose="02020603050405020304" pitchFamily="18" charset="0"/>
                <a:cs typeface="Times New Roman" panose="02020603050405020304" pitchFamily="18" charset="0"/>
              </a:rPr>
              <a:t>Literature Review</a:t>
            </a:r>
          </a:p>
          <a:p>
            <a:pPr>
              <a:spcBef>
                <a:spcPts val="600"/>
              </a:spcBef>
            </a:pPr>
            <a:r>
              <a:rPr lang="en-US" sz="2000" dirty="0">
                <a:latin typeface="Times New Roman" panose="02020603050405020304" pitchFamily="18" charset="0"/>
                <a:cs typeface="Times New Roman" panose="02020603050405020304" pitchFamily="18" charset="0"/>
              </a:rPr>
              <a:t>Methodology</a:t>
            </a:r>
          </a:p>
          <a:p>
            <a:pPr>
              <a:spcBef>
                <a:spcPts val="600"/>
              </a:spcBef>
            </a:pPr>
            <a:r>
              <a:rPr lang="en-US" sz="2000" dirty="0">
                <a:latin typeface="Times New Roman" panose="02020603050405020304" pitchFamily="18" charset="0"/>
                <a:cs typeface="Times New Roman" panose="02020603050405020304" pitchFamily="18" charset="0"/>
              </a:rPr>
              <a:t>Result Analysis</a:t>
            </a:r>
          </a:p>
          <a:p>
            <a:pPr>
              <a:spcBef>
                <a:spcPts val="600"/>
              </a:spcBef>
            </a:pPr>
            <a:r>
              <a:rPr lang="en-US" sz="2000" dirty="0">
                <a:latin typeface="Times New Roman" panose="02020603050405020304" pitchFamily="18" charset="0"/>
                <a:cs typeface="Times New Roman" panose="02020603050405020304" pitchFamily="18" charset="0"/>
              </a:rPr>
              <a:t>Conclusion &amp; Future Work</a:t>
            </a:r>
          </a:p>
          <a:p>
            <a:pPr>
              <a:spcBef>
                <a:spcPts val="600"/>
              </a:spcBef>
            </a:pPr>
            <a:r>
              <a:rPr lang="en-US" sz="2000" dirty="0">
                <a:latin typeface="Times New Roman" panose="02020603050405020304" pitchFamily="18" charset="0"/>
                <a:cs typeface="Times New Roman" panose="02020603050405020304" pitchFamily="18" charset="0"/>
              </a:rPr>
              <a:t>Achievement</a:t>
            </a:r>
          </a:p>
          <a:p>
            <a:pPr>
              <a:spcBef>
                <a:spcPts val="600"/>
              </a:spcBef>
            </a:pPr>
            <a:r>
              <a:rPr lang="en-US" sz="2000" dirty="0">
                <a:latin typeface="Times New Roman" panose="02020603050405020304" pitchFamily="18" charset="0"/>
                <a:cs typeface="Times New Roman" panose="02020603050405020304" pitchFamily="18" charset="0"/>
              </a:rPr>
              <a:t>References</a:t>
            </a:r>
          </a:p>
        </p:txBody>
      </p:sp>
      <p:sp>
        <p:nvSpPr>
          <p:cNvPr id="4" name="Date Placeholder 3">
            <a:extLst>
              <a:ext uri="{FF2B5EF4-FFF2-40B4-BE49-F238E27FC236}">
                <a16:creationId xmlns:a16="http://schemas.microsoft.com/office/drawing/2014/main" id="{21C26C14-2738-4BF0-9CA1-E538B1CA47A8}"/>
              </a:ext>
            </a:extLst>
          </p:cNvPr>
          <p:cNvSpPr>
            <a:spLocks noGrp="1"/>
          </p:cNvSpPr>
          <p:nvPr>
            <p:ph type="dt" sz="half" idx="10"/>
          </p:nvPr>
        </p:nvSpPr>
        <p:spPr/>
        <p:txBody>
          <a:bodyPr/>
          <a:lstStyle/>
          <a:p>
            <a:fld id="{0B573522-4F0E-4552-B4A9-F39343BCD021}" type="datetime1">
              <a:rPr lang="en-US" smtClean="0"/>
              <a:t>1/20/2022</a:t>
            </a:fld>
            <a:endParaRPr lang="en-US" dirty="0"/>
          </a:p>
        </p:txBody>
      </p:sp>
      <p:sp>
        <p:nvSpPr>
          <p:cNvPr id="5" name="Slide Number Placeholder 4">
            <a:extLst>
              <a:ext uri="{FF2B5EF4-FFF2-40B4-BE49-F238E27FC236}">
                <a16:creationId xmlns:a16="http://schemas.microsoft.com/office/drawing/2014/main" id="{BA863650-469F-405F-971B-0858C24BA8EF}"/>
              </a:ext>
            </a:extLst>
          </p:cNvPr>
          <p:cNvSpPr>
            <a:spLocks noGrp="1"/>
          </p:cNvSpPr>
          <p:nvPr>
            <p:ph type="sldNum" sz="quarter" idx="12"/>
          </p:nvPr>
        </p:nvSpPr>
        <p:spPr/>
        <p:txBody>
          <a:bodyPr/>
          <a:lstStyle/>
          <a:p>
            <a:fld id="{DF28FB93-0A08-4E7D-8E63-9EFA29F1E093}" type="slidenum">
              <a:rPr lang="en-US" smtClean="0"/>
              <a:pPr/>
              <a:t>2</a:t>
            </a:fld>
            <a:endParaRPr lang="en-US" dirty="0"/>
          </a:p>
        </p:txBody>
      </p:sp>
    </p:spTree>
    <p:extLst>
      <p:ext uri="{BB962C8B-B14F-4D97-AF65-F5344CB8AC3E}">
        <p14:creationId xmlns:p14="http://schemas.microsoft.com/office/powerpoint/2010/main" val="2345917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5212" y="609600"/>
            <a:ext cx="10134600" cy="645935"/>
          </a:xfrm>
        </p:spPr>
        <p:txBody>
          <a:bodyPr>
            <a:normAutofit/>
          </a:bodyPr>
          <a:lstStyle/>
          <a:p>
            <a:r>
              <a:rPr lang="en-US" dirty="0">
                <a:latin typeface="Times New Roman" panose="02020603050405020304" pitchFamily="18" charset="0"/>
                <a:cs typeface="Times New Roman" panose="02020603050405020304" pitchFamily="18" charset="0"/>
              </a:rPr>
              <a:t>Background</a:t>
            </a:r>
          </a:p>
        </p:txBody>
      </p:sp>
      <p:sp>
        <p:nvSpPr>
          <p:cNvPr id="3" name="Content Placeholder 2"/>
          <p:cNvSpPr>
            <a:spLocks noGrp="1"/>
          </p:cNvSpPr>
          <p:nvPr>
            <p:ph idx="1"/>
          </p:nvPr>
        </p:nvSpPr>
        <p:spPr>
          <a:xfrm>
            <a:off x="1065212" y="1484136"/>
            <a:ext cx="10134600" cy="4764264"/>
          </a:xfrm>
        </p:spPr>
        <p:txBody>
          <a:bodyPr>
            <a:noAutofit/>
          </a:bodyPr>
          <a:lstStyle/>
          <a:p>
            <a:pPr algn="just">
              <a:spcBef>
                <a:spcPts val="1200"/>
              </a:spcBef>
            </a:pPr>
            <a:r>
              <a:rPr lang="en-US" sz="2000" dirty="0">
                <a:latin typeface="Times New Roman" panose="02020603050405020304" pitchFamily="18" charset="0"/>
                <a:cs typeface="Times New Roman" panose="02020603050405020304" pitchFamily="18" charset="0"/>
              </a:rPr>
              <a:t>Among vaginal cancers, cervical cancer (CC) is one of the most common and causes of death for women in developing countries [1].</a:t>
            </a:r>
          </a:p>
          <a:p>
            <a:pPr algn="just">
              <a:spcBef>
                <a:spcPts val="1200"/>
              </a:spcBef>
            </a:pPr>
            <a:r>
              <a:rPr lang="en-US" sz="2000" dirty="0">
                <a:latin typeface="Times New Roman" panose="02020603050405020304" pitchFamily="18" charset="0"/>
                <a:cs typeface="Times New Roman" panose="02020603050405020304" pitchFamily="18" charset="0"/>
              </a:rPr>
              <a:t>The American Cancer Society reported nearly 13,800 women were newly diagnosed with invasive forms of CC, and the number of deaths reached at 4290 in the United States for the year 2020 due to CC [2].</a:t>
            </a:r>
          </a:p>
          <a:p>
            <a:pPr algn="just">
              <a:spcBef>
                <a:spcPts val="1200"/>
              </a:spcBef>
            </a:pPr>
            <a:r>
              <a:rPr lang="en-US" sz="2000" dirty="0">
                <a:latin typeface="Times New Roman" panose="02020603050405020304" pitchFamily="18" charset="0"/>
                <a:cs typeface="Times New Roman" panose="02020603050405020304" pitchFamily="18" charset="0"/>
              </a:rPr>
              <a:t>Human papilloma virus (HPV) is a major causal factor for CC, and indeed CC incidence has been dropping in countries where HPVs vaccine uptake is high [1,3].</a:t>
            </a:r>
          </a:p>
          <a:p>
            <a:pPr algn="just">
              <a:spcBef>
                <a:spcPts val="1200"/>
              </a:spcBef>
            </a:pPr>
            <a:r>
              <a:rPr lang="en-US" sz="2000" dirty="0">
                <a:latin typeface="Times New Roman" panose="02020603050405020304" pitchFamily="18" charset="0"/>
                <a:cs typeface="Times New Roman" panose="02020603050405020304" pitchFamily="18" charset="0"/>
              </a:rPr>
              <a:t>It is possible to reduce the risk of developing CC by having screening tests and receiving a vaccine that protects against HPV infection.</a:t>
            </a:r>
          </a:p>
          <a:p>
            <a:pPr algn="just">
              <a:spcBef>
                <a:spcPts val="1200"/>
              </a:spcBef>
            </a:pPr>
            <a:r>
              <a:rPr lang="en-US" sz="2000" dirty="0">
                <a:latin typeface="Times New Roman" panose="02020603050405020304" pitchFamily="18" charset="0"/>
                <a:cs typeface="Times New Roman" panose="02020603050405020304" pitchFamily="18" charset="0"/>
              </a:rPr>
              <a:t>Many factors are associated with CC with lower levels of association including many sexual partners, smoking, sexually transmitted infections, miscarriage prevention drug and so on [3].</a:t>
            </a:r>
          </a:p>
          <a:p>
            <a:pPr algn="just">
              <a:spcBef>
                <a:spcPts val="1200"/>
              </a:spcBef>
            </a:pPr>
            <a:r>
              <a:rPr lang="en-US" sz="2000" dirty="0">
                <a:latin typeface="Times New Roman" panose="02020603050405020304" pitchFamily="18" charset="0"/>
                <a:cs typeface="Times New Roman" panose="02020603050405020304" pitchFamily="18" charset="0"/>
              </a:rPr>
              <a:t>It is possible to predict CC using these risk factors along with patient clinical attributes.</a:t>
            </a:r>
          </a:p>
          <a:p>
            <a:pPr algn="just">
              <a:spcBef>
                <a:spcPts val="1200"/>
              </a:spcBef>
            </a:pPr>
            <a:r>
              <a:rPr lang="en-US" sz="2000" dirty="0">
                <a:latin typeface="Times New Roman" panose="02020603050405020304" pitchFamily="18" charset="0"/>
                <a:cs typeface="Times New Roman" panose="02020603050405020304" pitchFamily="18" charset="0"/>
              </a:rPr>
              <a:t>There are four types of clinical test to detect CC such as Biopsy, Cytology, </a:t>
            </a:r>
            <a:r>
              <a:rPr lang="en-US" sz="2000" dirty="0" err="1">
                <a:latin typeface="Times New Roman" panose="02020603050405020304" pitchFamily="18" charset="0"/>
                <a:cs typeface="Times New Roman" panose="02020603050405020304" pitchFamily="18" charset="0"/>
              </a:rPr>
              <a:t>Hinselmann</a:t>
            </a:r>
            <a:r>
              <a:rPr lang="en-US" sz="2000" dirty="0">
                <a:latin typeface="Times New Roman" panose="02020603050405020304" pitchFamily="18" charset="0"/>
                <a:cs typeface="Times New Roman" panose="02020603050405020304" pitchFamily="18" charset="0"/>
              </a:rPr>
              <a:t>, and Schiller.</a:t>
            </a:r>
          </a:p>
        </p:txBody>
      </p:sp>
      <p:sp>
        <p:nvSpPr>
          <p:cNvPr id="4" name="Date Placeholder 3">
            <a:extLst>
              <a:ext uri="{FF2B5EF4-FFF2-40B4-BE49-F238E27FC236}">
                <a16:creationId xmlns:a16="http://schemas.microsoft.com/office/drawing/2014/main" id="{A81AF42C-06AB-474A-93F1-8F706DE60D2F}"/>
              </a:ext>
            </a:extLst>
          </p:cNvPr>
          <p:cNvSpPr>
            <a:spLocks noGrp="1"/>
          </p:cNvSpPr>
          <p:nvPr>
            <p:ph type="dt" sz="half" idx="10"/>
          </p:nvPr>
        </p:nvSpPr>
        <p:spPr/>
        <p:txBody>
          <a:bodyPr/>
          <a:lstStyle/>
          <a:p>
            <a:fld id="{3B5B98D3-3E21-4716-A7DF-0267E499ED14}" type="datetime1">
              <a:rPr lang="en-US" smtClean="0"/>
              <a:t>1/20/2022</a:t>
            </a:fld>
            <a:endParaRPr lang="en-US" dirty="0"/>
          </a:p>
        </p:txBody>
      </p:sp>
      <p:sp>
        <p:nvSpPr>
          <p:cNvPr id="5" name="Slide Number Placeholder 4">
            <a:extLst>
              <a:ext uri="{FF2B5EF4-FFF2-40B4-BE49-F238E27FC236}">
                <a16:creationId xmlns:a16="http://schemas.microsoft.com/office/drawing/2014/main" id="{4B0C8DDD-152B-4C4F-B41D-C79BE37CDA8E}"/>
              </a:ext>
            </a:extLst>
          </p:cNvPr>
          <p:cNvSpPr>
            <a:spLocks noGrp="1"/>
          </p:cNvSpPr>
          <p:nvPr>
            <p:ph type="sldNum" sz="quarter" idx="12"/>
          </p:nvPr>
        </p:nvSpPr>
        <p:spPr/>
        <p:txBody>
          <a:bodyPr/>
          <a:lstStyle/>
          <a:p>
            <a:fld id="{DF28FB93-0A08-4E7D-8E63-9EFA29F1E093}" type="slidenum">
              <a:rPr lang="en-US" smtClean="0"/>
              <a:pPr/>
              <a:t>3</a:t>
            </a:fld>
            <a:endParaRPr lang="en-US" dirty="0"/>
          </a:p>
        </p:txBody>
      </p:sp>
    </p:spTree>
    <p:extLst>
      <p:ext uri="{BB962C8B-B14F-4D97-AF65-F5344CB8AC3E}">
        <p14:creationId xmlns:p14="http://schemas.microsoft.com/office/powerpoint/2010/main" val="3148110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4A528-C8A8-4A2A-98A2-850398499B96}"/>
              </a:ext>
            </a:extLst>
          </p:cNvPr>
          <p:cNvSpPr>
            <a:spLocks noGrp="1"/>
          </p:cNvSpPr>
          <p:nvPr>
            <p:ph type="title"/>
          </p:nvPr>
        </p:nvSpPr>
        <p:spPr>
          <a:xfrm>
            <a:off x="1522876" y="609600"/>
            <a:ext cx="9143538" cy="645935"/>
          </a:xfrm>
        </p:spPr>
        <p:txBody>
          <a:bodyPr>
            <a:normAutofit/>
          </a:bodyPr>
          <a:lstStyle/>
          <a:p>
            <a:r>
              <a:rPr lang="en-US" dirty="0">
                <a:latin typeface="Times New Roman" panose="02020603050405020304" pitchFamily="18" charset="0"/>
                <a:cs typeface="Times New Roman" panose="02020603050405020304" pitchFamily="18" charset="0"/>
              </a:rPr>
              <a:t>Motivation</a:t>
            </a:r>
          </a:p>
        </p:txBody>
      </p:sp>
      <p:sp>
        <p:nvSpPr>
          <p:cNvPr id="3" name="Content Placeholder 2">
            <a:extLst>
              <a:ext uri="{FF2B5EF4-FFF2-40B4-BE49-F238E27FC236}">
                <a16:creationId xmlns:a16="http://schemas.microsoft.com/office/drawing/2014/main" id="{BE63E421-76D0-481A-9050-8F5D94EC4E7C}"/>
              </a:ext>
            </a:extLst>
          </p:cNvPr>
          <p:cNvSpPr>
            <a:spLocks noGrp="1"/>
          </p:cNvSpPr>
          <p:nvPr>
            <p:ph idx="1"/>
          </p:nvPr>
        </p:nvSpPr>
        <p:spPr>
          <a:xfrm>
            <a:off x="1522876" y="1524000"/>
            <a:ext cx="9143538" cy="4078465"/>
          </a:xfrm>
        </p:spPr>
        <p:txBody>
          <a:bodyPr>
            <a:noAutofit/>
          </a:bodyPr>
          <a:lstStyle/>
          <a:p>
            <a:pPr algn="just">
              <a:spcBef>
                <a:spcPts val="1200"/>
              </a:spcBef>
            </a:pPr>
            <a:r>
              <a:rPr lang="en-US" sz="2000" dirty="0">
                <a:latin typeface="Times New Roman" panose="02020603050405020304" pitchFamily="18" charset="0"/>
                <a:cs typeface="Times New Roman" panose="02020603050405020304" pitchFamily="18" charset="0"/>
              </a:rPr>
              <a:t>Although it is possible to detect CC in its early stages using regular cervical Pap smear and cytological screening, this requires high levels of resources and of engagement with patients, so that in many countries mortality remains very high.</a:t>
            </a:r>
          </a:p>
          <a:p>
            <a:pPr algn="just">
              <a:spcBef>
                <a:spcPts val="1200"/>
              </a:spcBef>
            </a:pPr>
            <a:r>
              <a:rPr lang="en-US" sz="2000" dirty="0">
                <a:latin typeface="Times New Roman" panose="02020603050405020304" pitchFamily="18" charset="0"/>
                <a:cs typeface="Times New Roman" panose="02020603050405020304" pitchFamily="18" charset="0"/>
              </a:rPr>
              <a:t>Surgery and/or radiotherapy is used effectively for therapeutic interventions, which has many adverse effects on patients that are more severe if the CC is not caught at an early stage [4].</a:t>
            </a:r>
          </a:p>
          <a:p>
            <a:pPr algn="just">
              <a:spcBef>
                <a:spcPts val="1200"/>
              </a:spcBef>
            </a:pPr>
            <a:r>
              <a:rPr lang="en-US" sz="2000" dirty="0">
                <a:latin typeface="Times New Roman" panose="02020603050405020304" pitchFamily="18" charset="0"/>
                <a:cs typeface="Times New Roman" panose="02020603050405020304" pitchFamily="18" charset="0"/>
              </a:rPr>
              <a:t>Unfortunately, in many developing countries under 5% of women participate in Pap smear screening programs to detect this cancer [5].</a:t>
            </a:r>
          </a:p>
          <a:p>
            <a:pPr algn="just">
              <a:spcBef>
                <a:spcPts val="1200"/>
              </a:spcBef>
            </a:pPr>
            <a:r>
              <a:rPr lang="en-US" sz="2000" dirty="0">
                <a:latin typeface="Times New Roman" panose="02020603050405020304" pitchFamily="18" charset="0"/>
                <a:cs typeface="Times New Roman" panose="02020603050405020304" pitchFamily="18" charset="0"/>
              </a:rPr>
              <a:t>There are many reasons for lack of participation, including lack of awareness and the cost of diagnosis cost, but the consequence is that many cases of CC are detected at a late stage when therapy is more severe and survival less certain.</a:t>
            </a:r>
          </a:p>
          <a:p>
            <a:pPr algn="just">
              <a:spcBef>
                <a:spcPts val="1200"/>
              </a:spcBef>
            </a:pPr>
            <a:r>
              <a:rPr lang="en-US" sz="2000" dirty="0">
                <a:latin typeface="Times New Roman" panose="02020603050405020304" pitchFamily="18" charset="0"/>
                <a:cs typeface="Times New Roman" panose="02020603050405020304" pitchFamily="18" charset="0"/>
              </a:rPr>
              <a:t>However, this issue can potentially be solved using the ML approaches, since ML has been found to have high predictive value for many diseases.</a:t>
            </a:r>
          </a:p>
        </p:txBody>
      </p:sp>
      <p:sp>
        <p:nvSpPr>
          <p:cNvPr id="4" name="Date Placeholder 3">
            <a:extLst>
              <a:ext uri="{FF2B5EF4-FFF2-40B4-BE49-F238E27FC236}">
                <a16:creationId xmlns:a16="http://schemas.microsoft.com/office/drawing/2014/main" id="{30D25975-B62C-4918-A174-A1717CD8DA43}"/>
              </a:ext>
            </a:extLst>
          </p:cNvPr>
          <p:cNvSpPr>
            <a:spLocks noGrp="1"/>
          </p:cNvSpPr>
          <p:nvPr>
            <p:ph type="dt" sz="half" idx="10"/>
          </p:nvPr>
        </p:nvSpPr>
        <p:spPr/>
        <p:txBody>
          <a:bodyPr/>
          <a:lstStyle/>
          <a:p>
            <a:fld id="{0B573522-4F0E-4552-B4A9-F39343BCD021}" type="datetime1">
              <a:rPr lang="en-US" smtClean="0"/>
              <a:t>1/20/2022</a:t>
            </a:fld>
            <a:endParaRPr lang="en-US" dirty="0"/>
          </a:p>
        </p:txBody>
      </p:sp>
      <p:sp>
        <p:nvSpPr>
          <p:cNvPr id="5" name="Slide Number Placeholder 4">
            <a:extLst>
              <a:ext uri="{FF2B5EF4-FFF2-40B4-BE49-F238E27FC236}">
                <a16:creationId xmlns:a16="http://schemas.microsoft.com/office/drawing/2014/main" id="{966A49EC-B122-46C6-BA7C-6C272E13BFD5}"/>
              </a:ext>
            </a:extLst>
          </p:cNvPr>
          <p:cNvSpPr>
            <a:spLocks noGrp="1"/>
          </p:cNvSpPr>
          <p:nvPr>
            <p:ph type="sldNum" sz="quarter" idx="12"/>
          </p:nvPr>
        </p:nvSpPr>
        <p:spPr/>
        <p:txBody>
          <a:bodyPr/>
          <a:lstStyle/>
          <a:p>
            <a:fld id="{DF28FB93-0A08-4E7D-8E63-9EFA29F1E093}" type="slidenum">
              <a:rPr lang="en-US" smtClean="0"/>
              <a:pPr/>
              <a:t>4</a:t>
            </a:fld>
            <a:endParaRPr lang="en-US" dirty="0"/>
          </a:p>
        </p:txBody>
      </p:sp>
    </p:spTree>
    <p:extLst>
      <p:ext uri="{BB962C8B-B14F-4D97-AF65-F5344CB8AC3E}">
        <p14:creationId xmlns:p14="http://schemas.microsoft.com/office/powerpoint/2010/main" val="2820134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22876" y="609600"/>
            <a:ext cx="9143538" cy="685800"/>
          </a:xfrm>
        </p:spPr>
        <p:txBody>
          <a:bodyPr>
            <a:normAutofit/>
          </a:bodyPr>
          <a:lstStyle/>
          <a:p>
            <a:r>
              <a:rPr lang="en-US" dirty="0">
                <a:latin typeface="Times New Roman" panose="02020603050405020304" pitchFamily="18" charset="0"/>
                <a:cs typeface="Times New Roman" panose="02020603050405020304" pitchFamily="18" charset="0"/>
              </a:rPr>
              <a:t>Objective</a:t>
            </a:r>
          </a:p>
        </p:txBody>
      </p:sp>
      <p:sp>
        <p:nvSpPr>
          <p:cNvPr id="2" name="Content Placeholder 1"/>
          <p:cNvSpPr>
            <a:spLocks noGrp="1"/>
          </p:cNvSpPr>
          <p:nvPr>
            <p:ph idx="1"/>
          </p:nvPr>
        </p:nvSpPr>
        <p:spPr/>
        <p:txBody>
          <a:bodyPr>
            <a:normAutofit/>
          </a:bodyPr>
          <a:lstStyle/>
          <a:p>
            <a:pPr algn="just">
              <a:spcBef>
                <a:spcPts val="600"/>
              </a:spcBef>
            </a:pPr>
            <a:r>
              <a:rPr lang="en-US" sz="2000" dirty="0">
                <a:latin typeface="Times New Roman" panose="02020603050405020304" pitchFamily="18" charset="0"/>
                <a:cs typeface="Times New Roman" panose="02020603050405020304" pitchFamily="18" charset="0"/>
              </a:rPr>
              <a:t>All the women throughout the world can be able to detect CC in early stage.</a:t>
            </a:r>
          </a:p>
          <a:p>
            <a:pPr algn="just">
              <a:spcBef>
                <a:spcPts val="600"/>
              </a:spcBef>
            </a:pPr>
            <a:r>
              <a:rPr lang="en-US" sz="2000" dirty="0">
                <a:latin typeface="Times New Roman" panose="02020603050405020304" pitchFamily="18" charset="0"/>
                <a:cs typeface="Times New Roman" panose="02020603050405020304" pitchFamily="18" charset="0"/>
              </a:rPr>
              <a:t>Diagnosis cost will be reduced.</a:t>
            </a:r>
          </a:p>
          <a:p>
            <a:pPr algn="just">
              <a:spcBef>
                <a:spcPts val="600"/>
              </a:spcBef>
            </a:pPr>
            <a:r>
              <a:rPr lang="en-US" sz="2000" dirty="0">
                <a:latin typeface="Times New Roman" panose="02020603050405020304" pitchFamily="18" charset="0"/>
                <a:cs typeface="Times New Roman" panose="02020603050405020304" pitchFamily="18" charset="0"/>
              </a:rPr>
              <a:t>Early stage detection of CC will increase awareness among all the women throughout the world.</a:t>
            </a:r>
          </a:p>
          <a:p>
            <a:pPr algn="just">
              <a:spcBef>
                <a:spcPts val="600"/>
              </a:spcBef>
            </a:pPr>
            <a:r>
              <a:rPr lang="en-US" sz="2000" dirty="0">
                <a:latin typeface="Times New Roman" panose="02020603050405020304" pitchFamily="18" charset="0"/>
                <a:cs typeface="Times New Roman" panose="02020603050405020304" pitchFamily="18" charset="0"/>
              </a:rPr>
              <a:t>Mortality rate will be reduced since early stage treatment of CC is able to cure the disease.</a:t>
            </a:r>
          </a:p>
          <a:p>
            <a:pPr algn="just">
              <a:spcBef>
                <a:spcPts val="600"/>
              </a:spcBef>
            </a:pPr>
            <a:r>
              <a:rPr lang="en-US" sz="2000" dirty="0">
                <a:latin typeface="Times New Roman" panose="02020603050405020304" pitchFamily="18" charset="0"/>
                <a:cs typeface="Times New Roman" panose="02020603050405020304" pitchFamily="18" charset="0"/>
              </a:rPr>
              <a:t>Doctors and clinicians will be able to decide the treatment instantly detecting CC using the proposed ML model.</a:t>
            </a:r>
          </a:p>
        </p:txBody>
      </p:sp>
      <p:sp>
        <p:nvSpPr>
          <p:cNvPr id="5" name="Date Placeholder 4">
            <a:extLst>
              <a:ext uri="{FF2B5EF4-FFF2-40B4-BE49-F238E27FC236}">
                <a16:creationId xmlns:a16="http://schemas.microsoft.com/office/drawing/2014/main" id="{EC714653-AAFB-4A63-AE3D-579D2093663B}"/>
              </a:ext>
            </a:extLst>
          </p:cNvPr>
          <p:cNvSpPr>
            <a:spLocks noGrp="1"/>
          </p:cNvSpPr>
          <p:nvPr>
            <p:ph type="dt" sz="half" idx="10"/>
          </p:nvPr>
        </p:nvSpPr>
        <p:spPr/>
        <p:txBody>
          <a:bodyPr/>
          <a:lstStyle/>
          <a:p>
            <a:fld id="{C20FCD81-1B4B-4272-A4C6-D6D7C0075136}" type="datetime1">
              <a:rPr lang="en-US" smtClean="0"/>
              <a:t>1/20/2022</a:t>
            </a:fld>
            <a:endParaRPr lang="en-US" dirty="0"/>
          </a:p>
        </p:txBody>
      </p:sp>
      <p:sp>
        <p:nvSpPr>
          <p:cNvPr id="6" name="Slide Number Placeholder 5">
            <a:extLst>
              <a:ext uri="{FF2B5EF4-FFF2-40B4-BE49-F238E27FC236}">
                <a16:creationId xmlns:a16="http://schemas.microsoft.com/office/drawing/2014/main" id="{7C699827-5EB8-437C-9171-2DA900E26D21}"/>
              </a:ext>
            </a:extLst>
          </p:cNvPr>
          <p:cNvSpPr>
            <a:spLocks noGrp="1"/>
          </p:cNvSpPr>
          <p:nvPr>
            <p:ph type="sldNum" sz="quarter" idx="12"/>
          </p:nvPr>
        </p:nvSpPr>
        <p:spPr/>
        <p:txBody>
          <a:bodyPr/>
          <a:lstStyle/>
          <a:p>
            <a:fld id="{DF28FB93-0A08-4E7D-8E63-9EFA29F1E093}" type="slidenum">
              <a:rPr lang="en-US" smtClean="0"/>
              <a:pPr/>
              <a:t>5</a:t>
            </a:fld>
            <a:endParaRPr lang="en-US" dirty="0"/>
          </a:p>
        </p:txBody>
      </p:sp>
    </p:spTree>
    <p:extLst>
      <p:ext uri="{BB962C8B-B14F-4D97-AF65-F5344CB8AC3E}">
        <p14:creationId xmlns:p14="http://schemas.microsoft.com/office/powerpoint/2010/main" val="1152966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22876" y="609600"/>
            <a:ext cx="9143538" cy="645935"/>
          </a:xfrm>
        </p:spPr>
        <p:txBody>
          <a:bodyPr>
            <a:normAutofit/>
          </a:bodyPr>
          <a:lstStyle/>
          <a:p>
            <a:r>
              <a:rPr lang="en-US" dirty="0">
                <a:latin typeface="Times New Roman" panose="02020603050405020304" pitchFamily="18" charset="0"/>
                <a:cs typeface="Times New Roman" panose="02020603050405020304" pitchFamily="18" charset="0"/>
              </a:rPr>
              <a:t>Literature Review</a:t>
            </a:r>
          </a:p>
        </p:txBody>
      </p:sp>
      <p:sp>
        <p:nvSpPr>
          <p:cNvPr id="5" name="Date Placeholder 4">
            <a:extLst>
              <a:ext uri="{FF2B5EF4-FFF2-40B4-BE49-F238E27FC236}">
                <a16:creationId xmlns:a16="http://schemas.microsoft.com/office/drawing/2014/main" id="{B084A7AC-EFA4-48C6-9A82-C89229AADD69}"/>
              </a:ext>
            </a:extLst>
          </p:cNvPr>
          <p:cNvSpPr>
            <a:spLocks noGrp="1"/>
          </p:cNvSpPr>
          <p:nvPr>
            <p:ph type="dt" sz="half" idx="10"/>
          </p:nvPr>
        </p:nvSpPr>
        <p:spPr/>
        <p:txBody>
          <a:bodyPr/>
          <a:lstStyle/>
          <a:p>
            <a:fld id="{D9733BCE-6EBB-4685-8D74-27B1235E53F9}" type="datetime1">
              <a:rPr lang="en-US" smtClean="0"/>
              <a:t>1/20/2022</a:t>
            </a:fld>
            <a:endParaRPr lang="en-US" dirty="0"/>
          </a:p>
        </p:txBody>
      </p:sp>
      <p:sp>
        <p:nvSpPr>
          <p:cNvPr id="6" name="Slide Number Placeholder 5">
            <a:extLst>
              <a:ext uri="{FF2B5EF4-FFF2-40B4-BE49-F238E27FC236}">
                <a16:creationId xmlns:a16="http://schemas.microsoft.com/office/drawing/2014/main" id="{8F8589CC-FCCA-4D8C-BEA0-4EE8BCFB067B}"/>
              </a:ext>
            </a:extLst>
          </p:cNvPr>
          <p:cNvSpPr>
            <a:spLocks noGrp="1"/>
          </p:cNvSpPr>
          <p:nvPr>
            <p:ph type="sldNum" sz="quarter" idx="12"/>
          </p:nvPr>
        </p:nvSpPr>
        <p:spPr/>
        <p:txBody>
          <a:bodyPr/>
          <a:lstStyle/>
          <a:p>
            <a:fld id="{DF28FB93-0A08-4E7D-8E63-9EFA29F1E093}" type="slidenum">
              <a:rPr lang="en-US" smtClean="0"/>
              <a:pPr/>
              <a:t>6</a:t>
            </a:fld>
            <a:endParaRPr lang="en-US" dirty="0"/>
          </a:p>
        </p:txBody>
      </p:sp>
      <p:sp>
        <p:nvSpPr>
          <p:cNvPr id="9" name="Content Placeholder 8">
            <a:extLst>
              <a:ext uri="{FF2B5EF4-FFF2-40B4-BE49-F238E27FC236}">
                <a16:creationId xmlns:a16="http://schemas.microsoft.com/office/drawing/2014/main" id="{C052CBFF-8CE6-497E-AA8E-62E6246236EB}"/>
              </a:ext>
            </a:extLst>
          </p:cNvPr>
          <p:cNvSpPr>
            <a:spLocks noGrp="1"/>
          </p:cNvSpPr>
          <p:nvPr>
            <p:ph idx="1"/>
          </p:nvPr>
        </p:nvSpPr>
        <p:spPr>
          <a:xfrm>
            <a:off x="1522876" y="1524000"/>
            <a:ext cx="9143538" cy="4495800"/>
          </a:xfrm>
        </p:spPr>
        <p:txBody>
          <a:bodyPr>
            <a:noAutofit/>
          </a:bodyPr>
          <a:lstStyle/>
          <a:p>
            <a:pPr algn="just">
              <a:spcBef>
                <a:spcPts val="600"/>
              </a:spcBef>
            </a:pPr>
            <a:r>
              <a:rPr lang="en-US" sz="2000" dirty="0" err="1">
                <a:latin typeface="Times New Roman" panose="02020603050405020304" pitchFamily="18" charset="0"/>
                <a:cs typeface="Times New Roman" panose="02020603050405020304" pitchFamily="18" charset="0"/>
              </a:rPr>
              <a:t>Asadi</a:t>
            </a:r>
            <a:r>
              <a:rPr lang="en-US" sz="2000" dirty="0">
                <a:latin typeface="Times New Roman" panose="02020603050405020304" pitchFamily="18" charset="0"/>
                <a:cs typeface="Times New Roman" panose="02020603050405020304" pitchFamily="18" charset="0"/>
              </a:rPr>
              <a:t>, F. et al., (2020) proposed a decision tree-based ML model, which detects cervical cancer [5]. However, the observed accuracy (95.5%) of the proposed system can be improved, which is vital if surgical intervention is envisaged. </a:t>
            </a:r>
          </a:p>
          <a:p>
            <a:pPr algn="just">
              <a:spcBef>
                <a:spcPts val="600"/>
              </a:spcBef>
            </a:pPr>
            <a:r>
              <a:rPr lang="en-US" sz="2000" dirty="0">
                <a:latin typeface="Times New Roman" panose="02020603050405020304" pitchFamily="18" charset="0"/>
                <a:cs typeface="Times New Roman" panose="02020603050405020304" pitchFamily="18" charset="0"/>
              </a:rPr>
              <a:t>Ijaz et al., (2020) proposed a data-driven CC prediction model implementing outlier detection and over-sampling methods [6]. They used DBSCAN and </a:t>
            </a:r>
            <a:r>
              <a:rPr lang="en-US" sz="2000" dirty="0" err="1">
                <a:latin typeface="Times New Roman" panose="02020603050405020304" pitchFamily="18" charset="0"/>
                <a:cs typeface="Times New Roman" panose="02020603050405020304" pitchFamily="18" charset="0"/>
              </a:rPr>
              <a:t>iForest</a:t>
            </a:r>
            <a:r>
              <a:rPr lang="en-US" sz="2000" dirty="0">
                <a:latin typeface="Times New Roman" panose="02020603050405020304" pitchFamily="18" charset="0"/>
                <a:cs typeface="Times New Roman" panose="02020603050405020304" pitchFamily="18" charset="0"/>
              </a:rPr>
              <a:t> approach for outlier detection and removal, where </a:t>
            </a:r>
            <a:r>
              <a:rPr lang="en-US" sz="2000" dirty="0" err="1">
                <a:latin typeface="Times New Roman" panose="02020603050405020304" pitchFamily="18" charset="0"/>
                <a:cs typeface="Times New Roman" panose="02020603050405020304" pitchFamily="18" charset="0"/>
              </a:rPr>
              <a:t>SMOTETomek</a:t>
            </a:r>
            <a:r>
              <a:rPr lang="en-US" sz="2000" dirty="0">
                <a:latin typeface="Times New Roman" panose="02020603050405020304" pitchFamily="18" charset="0"/>
                <a:cs typeface="Times New Roman" panose="02020603050405020304" pitchFamily="18" charset="0"/>
              </a:rPr>
              <a:t> and SMOTE were used to balance the imbalanced dataset.</a:t>
            </a:r>
          </a:p>
          <a:p>
            <a:pPr algn="just">
              <a:spcBef>
                <a:spcPts val="600"/>
              </a:spcBef>
            </a:pPr>
            <a:r>
              <a:rPr lang="en-US" sz="2000" dirty="0">
                <a:latin typeface="Times New Roman" panose="02020603050405020304" pitchFamily="18" charset="0"/>
                <a:cs typeface="Times New Roman" panose="02020603050405020304" pitchFamily="18" charset="0"/>
              </a:rPr>
              <a:t>Islam, </a:t>
            </a:r>
            <a:r>
              <a:rPr lang="en-US" sz="2000" dirty="0" err="1">
                <a:latin typeface="Times New Roman" panose="02020603050405020304" pitchFamily="18" charset="0"/>
                <a:cs typeface="Times New Roman" panose="02020603050405020304" pitchFamily="18" charset="0"/>
              </a:rPr>
              <a:t>Arif</a:t>
            </a:r>
            <a:r>
              <a:rPr lang="en-US" sz="2000" dirty="0">
                <a:latin typeface="Times New Roman" panose="02020603050405020304" pitchFamily="18" charset="0"/>
                <a:cs typeface="Times New Roman" panose="02020603050405020304" pitchFamily="18" charset="0"/>
              </a:rPr>
              <a:t>- U., et al., (2019) suggested Random Forest (RF) as the best classifier for the proposed model to detect CC from clinical data [7]. However, only one single classifier is not efficient to classify four class attributes.</a:t>
            </a:r>
          </a:p>
          <a:p>
            <a:pPr algn="just">
              <a:spcBef>
                <a:spcPts val="600"/>
              </a:spcBef>
            </a:pPr>
            <a:r>
              <a:rPr lang="en-US" sz="2000" dirty="0" err="1">
                <a:latin typeface="Times New Roman" panose="02020603050405020304" pitchFamily="18" charset="0"/>
                <a:cs typeface="Times New Roman" panose="02020603050405020304" pitchFamily="18" charset="0"/>
              </a:rPr>
              <a:t>Elayaraja</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Suganthi</a:t>
            </a:r>
            <a:r>
              <a:rPr lang="en-US" sz="2000" dirty="0">
                <a:latin typeface="Times New Roman" panose="02020603050405020304" pitchFamily="18" charset="0"/>
                <a:cs typeface="Times New Roman" panose="02020603050405020304" pitchFamily="18" charset="0"/>
              </a:rPr>
              <a:t> (2018) proposed an automatic approach for CC detection and segmentation implementing Neural Network Classifier on </a:t>
            </a:r>
            <a:r>
              <a:rPr lang="en-US" sz="2000" dirty="0" err="1">
                <a:latin typeface="Times New Roman" panose="02020603050405020304" pitchFamily="18" charset="0"/>
                <a:cs typeface="Times New Roman" panose="02020603050405020304" pitchFamily="18" charset="0"/>
              </a:rPr>
              <a:t>cervigram</a:t>
            </a:r>
            <a:r>
              <a:rPr lang="en-US" sz="2000" dirty="0">
                <a:latin typeface="Times New Roman" panose="02020603050405020304" pitchFamily="18" charset="0"/>
                <a:cs typeface="Times New Roman" panose="02020603050405020304" pitchFamily="18" charset="0"/>
              </a:rPr>
              <a:t> images </a:t>
            </a:r>
            <a:r>
              <a:rPr lang="en-US" sz="2000" dirty="0" err="1">
                <a:latin typeface="Times New Roman" panose="02020603050405020304" pitchFamily="18" charset="0"/>
                <a:cs typeface="Times New Roman" panose="02020603050405020304" pitchFamily="18" charset="0"/>
              </a:rPr>
              <a:t>witg</a:t>
            </a:r>
            <a:r>
              <a:rPr lang="en-US" sz="2000" dirty="0">
                <a:latin typeface="Times New Roman" panose="02020603050405020304" pitchFamily="18" charset="0"/>
                <a:cs typeface="Times New Roman" panose="02020603050405020304" pitchFamily="18" charset="0"/>
              </a:rPr>
              <a:t> 98.29% accuracy [8]. However, the proposed methodology did not perform well for early-stage detection of CC, which is a crucial aspect of cancer detection.</a:t>
            </a:r>
          </a:p>
        </p:txBody>
      </p:sp>
    </p:spTree>
    <p:extLst>
      <p:ext uri="{BB962C8B-B14F-4D97-AF65-F5344CB8AC3E}">
        <p14:creationId xmlns:p14="http://schemas.microsoft.com/office/powerpoint/2010/main" val="3224243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1F20B-B7E3-4FEC-B2B5-92301B7AF9C6}"/>
              </a:ext>
            </a:extLst>
          </p:cNvPr>
          <p:cNvSpPr>
            <a:spLocks noGrp="1"/>
          </p:cNvSpPr>
          <p:nvPr>
            <p:ph type="title"/>
          </p:nvPr>
        </p:nvSpPr>
        <p:spPr>
          <a:xfrm>
            <a:off x="1522876" y="609600"/>
            <a:ext cx="9143538" cy="645935"/>
          </a:xfrm>
        </p:spPr>
        <p:txBody>
          <a:bodyPr>
            <a:normAutofit/>
          </a:bodyPr>
          <a:lstStyle/>
          <a:p>
            <a:r>
              <a:rPr lang="en-US" dirty="0">
                <a:latin typeface="Times New Roman" panose="02020603050405020304" pitchFamily="18" charset="0"/>
                <a:cs typeface="Times New Roman" panose="02020603050405020304" pitchFamily="18" charset="0"/>
              </a:rPr>
              <a:t>Literature Review Cont.</a:t>
            </a:r>
          </a:p>
        </p:txBody>
      </p:sp>
      <p:sp>
        <p:nvSpPr>
          <p:cNvPr id="3" name="Content Placeholder 2">
            <a:extLst>
              <a:ext uri="{FF2B5EF4-FFF2-40B4-BE49-F238E27FC236}">
                <a16:creationId xmlns:a16="http://schemas.microsoft.com/office/drawing/2014/main" id="{AB0EA74C-0EEE-4556-BCCE-2C0E0F2CCA23}"/>
              </a:ext>
            </a:extLst>
          </p:cNvPr>
          <p:cNvSpPr>
            <a:spLocks noGrp="1"/>
          </p:cNvSpPr>
          <p:nvPr>
            <p:ph idx="1"/>
          </p:nvPr>
        </p:nvSpPr>
        <p:spPr>
          <a:xfrm>
            <a:off x="1522876" y="1371600"/>
            <a:ext cx="9143538" cy="4230865"/>
          </a:xfrm>
        </p:spPr>
        <p:txBody>
          <a:bodyPr>
            <a:noAutofit/>
          </a:bodyPr>
          <a:lstStyle/>
          <a:p>
            <a:pPr algn="just">
              <a:spcBef>
                <a:spcPts val="600"/>
              </a:spcBef>
            </a:pPr>
            <a:r>
              <a:rPr lang="en-US" sz="2000" dirty="0">
                <a:latin typeface="Times New Roman" panose="02020603050405020304" pitchFamily="18" charset="0"/>
                <a:cs typeface="Times New Roman" panose="02020603050405020304" pitchFamily="18" charset="0"/>
              </a:rPr>
              <a:t>X. </a:t>
            </a:r>
            <a:r>
              <a:rPr lang="en-US" sz="2000" dirty="0" err="1">
                <a:latin typeface="Times New Roman" panose="02020603050405020304" pitchFamily="18" charset="0"/>
                <a:cs typeface="Times New Roman" panose="02020603050405020304" pitchFamily="18" charset="0"/>
              </a:rPr>
              <a:t>Qiu</a:t>
            </a:r>
            <a:r>
              <a:rPr lang="en-US" sz="2000" dirty="0">
                <a:latin typeface="Times New Roman" panose="02020603050405020304" pitchFamily="18" charset="0"/>
                <a:cs typeface="Times New Roman" panose="02020603050405020304" pitchFamily="18" charset="0"/>
              </a:rPr>
              <a:t> et al., (2017) proposed an artificial neural network model to detect CC [9]. Such neural networks are extremely complex computational methods that have powerful predictive power [10] but require very large amounts of training data.</a:t>
            </a:r>
          </a:p>
          <a:p>
            <a:pPr algn="just">
              <a:spcBef>
                <a:spcPts val="600"/>
              </a:spcBef>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In addition, Wu and Zhou (2017) similarly created an SVM-based classification model for CC detection [</a:t>
            </a:r>
            <a:r>
              <a:rPr lang="en-US" sz="2000" dirty="0">
                <a:latin typeface="Times New Roman" panose="02020603050405020304" pitchFamily="18" charset="0"/>
                <a:ea typeface="Calibri" panose="020F0502020204030204" pitchFamily="34" charset="0"/>
                <a:cs typeface="Times New Roman" panose="02020603050405020304" pitchFamily="18" charset="0"/>
              </a:rPr>
              <a:t>10</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Note that although an SVM approach can categorize CC data well, it has a high computational cost. </a:t>
            </a:r>
            <a:endParaRPr lang="en-US" sz="2000" dirty="0">
              <a:latin typeface="Times New Roman" panose="02020603050405020304" pitchFamily="18" charset="0"/>
              <a:cs typeface="Times New Roman" panose="02020603050405020304" pitchFamily="18" charset="0"/>
            </a:endParaRPr>
          </a:p>
          <a:p>
            <a:pPr algn="just">
              <a:spcBef>
                <a:spcPts val="600"/>
              </a:spcBef>
            </a:pPr>
            <a:r>
              <a:rPr lang="en-US" sz="2000" dirty="0" err="1">
                <a:latin typeface="Times New Roman" panose="02020603050405020304" pitchFamily="18" charset="0"/>
                <a:cs typeface="Times New Roman" panose="02020603050405020304" pitchFamily="18" charset="0"/>
              </a:rPr>
              <a:t>Machmud</a:t>
            </a:r>
            <a:r>
              <a:rPr lang="en-US" sz="2000" dirty="0">
                <a:latin typeface="Times New Roman" panose="02020603050405020304" pitchFamily="18" charset="0"/>
                <a:cs typeface="Times New Roman" panose="02020603050405020304" pitchFamily="18" charset="0"/>
              </a:rPr>
              <a:t> and Wijaya (2016) employed social science behavior theory to categorize CC using approaches such as Naïve Bayes (NB) and logistic regression and showed NB as best classifier with 91.67% accuracy [11]. The accuracy is not satisfactory since it is possible to generate better accuracy.</a:t>
            </a:r>
          </a:p>
          <a:p>
            <a:pPr algn="just">
              <a:spcBef>
                <a:spcPts val="600"/>
              </a:spcBef>
            </a:pPr>
            <a:r>
              <a:rPr lang="en-US" sz="2000" dirty="0" err="1">
                <a:latin typeface="Times New Roman" panose="02020603050405020304" pitchFamily="18" charset="0"/>
                <a:cs typeface="Times New Roman" panose="02020603050405020304" pitchFamily="18" charset="0"/>
              </a:rPr>
              <a:t>Tareef</a:t>
            </a:r>
            <a:r>
              <a:rPr lang="en-US" sz="2000" dirty="0">
                <a:latin typeface="Times New Roman" panose="02020603050405020304" pitchFamily="18" charset="0"/>
                <a:cs typeface="Times New Roman" panose="02020603050405020304" pitchFamily="18" charset="0"/>
              </a:rPr>
              <a:t> et al., (2014) employed a linear kernel support vector machine (SVM) classifier on </a:t>
            </a:r>
            <a:r>
              <a:rPr lang="en-US" sz="2000" dirty="0" err="1">
                <a:latin typeface="Times New Roman" panose="02020603050405020304" pitchFamily="18" charset="0"/>
                <a:cs typeface="Times New Roman" panose="02020603050405020304" pitchFamily="18" charset="0"/>
              </a:rPr>
              <a:t>superpixels</a:t>
            </a:r>
            <a:r>
              <a:rPr lang="en-US" sz="2000" dirty="0">
                <a:latin typeface="Times New Roman" panose="02020603050405020304" pitchFamily="18" charset="0"/>
                <a:cs typeface="Times New Roman" panose="02020603050405020304" pitchFamily="18" charset="0"/>
              </a:rPr>
              <a:t>, together with edge enhancement and adaptive thresholding [12].</a:t>
            </a:r>
          </a:p>
          <a:p>
            <a:pPr algn="just">
              <a:spcBef>
                <a:spcPts val="600"/>
              </a:spcBef>
            </a:pPr>
            <a:endParaRPr lang="en-US"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F01F12C-514A-4EFD-A251-251EC20F4F85}"/>
              </a:ext>
            </a:extLst>
          </p:cNvPr>
          <p:cNvSpPr>
            <a:spLocks noGrp="1"/>
          </p:cNvSpPr>
          <p:nvPr>
            <p:ph type="dt" sz="half" idx="10"/>
          </p:nvPr>
        </p:nvSpPr>
        <p:spPr/>
        <p:txBody>
          <a:bodyPr/>
          <a:lstStyle/>
          <a:p>
            <a:fld id="{0B573522-4F0E-4552-B4A9-F39343BCD021}" type="datetime1">
              <a:rPr lang="en-US" smtClean="0"/>
              <a:t>1/20/2022</a:t>
            </a:fld>
            <a:endParaRPr lang="en-US" dirty="0"/>
          </a:p>
        </p:txBody>
      </p:sp>
      <p:sp>
        <p:nvSpPr>
          <p:cNvPr id="5" name="Slide Number Placeholder 4">
            <a:extLst>
              <a:ext uri="{FF2B5EF4-FFF2-40B4-BE49-F238E27FC236}">
                <a16:creationId xmlns:a16="http://schemas.microsoft.com/office/drawing/2014/main" id="{C8A398A4-2D64-444F-B78A-465DD2BCD0FA}"/>
              </a:ext>
            </a:extLst>
          </p:cNvPr>
          <p:cNvSpPr>
            <a:spLocks noGrp="1"/>
          </p:cNvSpPr>
          <p:nvPr>
            <p:ph type="sldNum" sz="quarter" idx="12"/>
          </p:nvPr>
        </p:nvSpPr>
        <p:spPr/>
        <p:txBody>
          <a:bodyPr/>
          <a:lstStyle/>
          <a:p>
            <a:fld id="{DF28FB93-0A08-4E7D-8E63-9EFA29F1E093}" type="slidenum">
              <a:rPr lang="en-US" smtClean="0"/>
              <a:pPr/>
              <a:t>7</a:t>
            </a:fld>
            <a:endParaRPr lang="en-US" dirty="0"/>
          </a:p>
        </p:txBody>
      </p:sp>
    </p:spTree>
    <p:extLst>
      <p:ext uri="{BB962C8B-B14F-4D97-AF65-F5344CB8AC3E}">
        <p14:creationId xmlns:p14="http://schemas.microsoft.com/office/powerpoint/2010/main" val="3763005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6E14F-FC19-4CE2-9B2B-4E3AA61BA35F}"/>
              </a:ext>
            </a:extLst>
          </p:cNvPr>
          <p:cNvSpPr>
            <a:spLocks noGrp="1"/>
          </p:cNvSpPr>
          <p:nvPr>
            <p:ph type="title"/>
          </p:nvPr>
        </p:nvSpPr>
        <p:spPr>
          <a:xfrm>
            <a:off x="1522876" y="609600"/>
            <a:ext cx="9143538" cy="645935"/>
          </a:xfrm>
        </p:spPr>
        <p:txBody>
          <a:bodyPr>
            <a:normAutofit/>
          </a:bodyPr>
          <a:lstStyle/>
          <a:p>
            <a:r>
              <a:rPr lang="en-US" dirty="0">
                <a:latin typeface="Times New Roman" panose="02020603050405020304" pitchFamily="18" charset="0"/>
                <a:cs typeface="Times New Roman" panose="02020603050405020304" pitchFamily="18" charset="0"/>
              </a:rPr>
              <a:t>Literature Review Cont.</a:t>
            </a:r>
          </a:p>
        </p:txBody>
      </p:sp>
      <p:sp>
        <p:nvSpPr>
          <p:cNvPr id="3" name="Content Placeholder 2">
            <a:extLst>
              <a:ext uri="{FF2B5EF4-FFF2-40B4-BE49-F238E27FC236}">
                <a16:creationId xmlns:a16="http://schemas.microsoft.com/office/drawing/2014/main" id="{F3AC81D8-FFEC-40BD-B98A-CB5A6CF82531}"/>
              </a:ext>
            </a:extLst>
          </p:cNvPr>
          <p:cNvSpPr>
            <a:spLocks noGrp="1"/>
          </p:cNvSpPr>
          <p:nvPr>
            <p:ph idx="1"/>
          </p:nvPr>
        </p:nvSpPr>
        <p:spPr>
          <a:xfrm>
            <a:off x="1522876" y="1524000"/>
            <a:ext cx="9143538" cy="4078465"/>
          </a:xfrm>
        </p:spPr>
        <p:txBody>
          <a:bodyPr>
            <a:normAutofit/>
          </a:bodyPr>
          <a:lstStyle/>
          <a:p>
            <a:pPr algn="just">
              <a:spcBef>
                <a:spcPts val="600"/>
              </a:spcBef>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Chang et al., (2013) developed a MARS-based model to predict CC, suggesting decision tree and MARS as their model’s classification algorithm [13]. In their study, the number of attributes was only 12, which is low and arguably insufficient.</a:t>
            </a:r>
          </a:p>
          <a:p>
            <a:pPr algn="just">
              <a:spcBef>
                <a:spcPts val="600"/>
              </a:spcBef>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Edward Kim and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Xiaolei</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Huang (2013) proposed a data driven approach using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cervigram</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image analysis and classification technique [14]. They employed majority vote and L-SVM method in their study and showed 73% and 75% sensitivity and 77% and 76% specificity respectively. The performance of their proposed model is not satisfactory at all since it is possible to show better performance.</a:t>
            </a:r>
          </a:p>
          <a:p>
            <a:pPr marL="0" indent="0" algn="just">
              <a:spcBef>
                <a:spcPts val="600"/>
              </a:spcBef>
              <a:buNone/>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4572F88-5662-438C-B0FA-8FC558EE7F08}"/>
              </a:ext>
            </a:extLst>
          </p:cNvPr>
          <p:cNvSpPr>
            <a:spLocks noGrp="1"/>
          </p:cNvSpPr>
          <p:nvPr>
            <p:ph type="dt" sz="half" idx="10"/>
          </p:nvPr>
        </p:nvSpPr>
        <p:spPr/>
        <p:txBody>
          <a:bodyPr/>
          <a:lstStyle/>
          <a:p>
            <a:fld id="{0B573522-4F0E-4552-B4A9-F39343BCD021}" type="datetime1">
              <a:rPr lang="en-US" smtClean="0"/>
              <a:t>1/20/2022</a:t>
            </a:fld>
            <a:endParaRPr lang="en-US" dirty="0"/>
          </a:p>
        </p:txBody>
      </p:sp>
      <p:sp>
        <p:nvSpPr>
          <p:cNvPr id="5" name="Slide Number Placeholder 4">
            <a:extLst>
              <a:ext uri="{FF2B5EF4-FFF2-40B4-BE49-F238E27FC236}">
                <a16:creationId xmlns:a16="http://schemas.microsoft.com/office/drawing/2014/main" id="{0D9E84BA-9856-49A1-8FF9-7A48B001B72D}"/>
              </a:ext>
            </a:extLst>
          </p:cNvPr>
          <p:cNvSpPr>
            <a:spLocks noGrp="1"/>
          </p:cNvSpPr>
          <p:nvPr>
            <p:ph type="sldNum" sz="quarter" idx="12"/>
          </p:nvPr>
        </p:nvSpPr>
        <p:spPr/>
        <p:txBody>
          <a:bodyPr/>
          <a:lstStyle/>
          <a:p>
            <a:fld id="{DF28FB93-0A08-4E7D-8E63-9EFA29F1E093}" type="slidenum">
              <a:rPr lang="en-US" smtClean="0"/>
              <a:pPr/>
              <a:t>8</a:t>
            </a:fld>
            <a:endParaRPr lang="en-US" dirty="0"/>
          </a:p>
        </p:txBody>
      </p:sp>
    </p:spTree>
    <p:extLst>
      <p:ext uri="{BB962C8B-B14F-4D97-AF65-F5344CB8AC3E}">
        <p14:creationId xmlns:p14="http://schemas.microsoft.com/office/powerpoint/2010/main" val="98858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87337-1FBB-47C3-9C10-BD7BFA8479BF}"/>
              </a:ext>
            </a:extLst>
          </p:cNvPr>
          <p:cNvSpPr>
            <a:spLocks noGrp="1"/>
          </p:cNvSpPr>
          <p:nvPr>
            <p:ph type="title"/>
          </p:nvPr>
        </p:nvSpPr>
        <p:spPr>
          <a:xfrm>
            <a:off x="1522876" y="609600"/>
            <a:ext cx="9143538" cy="685800"/>
          </a:xfrm>
        </p:spPr>
        <p:txBody>
          <a:bodyPr>
            <a:normAutofit/>
          </a:bodyPr>
          <a:lstStyle/>
          <a:p>
            <a:r>
              <a:rPr lang="en-US" dirty="0">
                <a:latin typeface="Times New Roman" panose="02020603050405020304" pitchFamily="18" charset="0"/>
                <a:cs typeface="Times New Roman" panose="02020603050405020304" pitchFamily="18" charset="0"/>
              </a:rPr>
              <a:t>Methodology</a:t>
            </a:r>
          </a:p>
        </p:txBody>
      </p:sp>
      <p:sp>
        <p:nvSpPr>
          <p:cNvPr id="4" name="Date Placeholder 3">
            <a:extLst>
              <a:ext uri="{FF2B5EF4-FFF2-40B4-BE49-F238E27FC236}">
                <a16:creationId xmlns:a16="http://schemas.microsoft.com/office/drawing/2014/main" id="{751FF7A9-6B25-4FBB-94FF-5C25E7577460}"/>
              </a:ext>
            </a:extLst>
          </p:cNvPr>
          <p:cNvSpPr>
            <a:spLocks noGrp="1"/>
          </p:cNvSpPr>
          <p:nvPr>
            <p:ph type="dt" sz="half" idx="10"/>
          </p:nvPr>
        </p:nvSpPr>
        <p:spPr/>
        <p:txBody>
          <a:bodyPr/>
          <a:lstStyle/>
          <a:p>
            <a:fld id="{0B573522-4F0E-4552-B4A9-F39343BCD021}" type="datetime1">
              <a:rPr lang="en-US" smtClean="0"/>
              <a:t>1/20/2022</a:t>
            </a:fld>
            <a:endParaRPr lang="en-US" dirty="0"/>
          </a:p>
        </p:txBody>
      </p:sp>
      <p:sp>
        <p:nvSpPr>
          <p:cNvPr id="5" name="Slide Number Placeholder 4">
            <a:extLst>
              <a:ext uri="{FF2B5EF4-FFF2-40B4-BE49-F238E27FC236}">
                <a16:creationId xmlns:a16="http://schemas.microsoft.com/office/drawing/2014/main" id="{002BEA37-CB0A-48F8-94AF-0C8C0CBFB472}"/>
              </a:ext>
            </a:extLst>
          </p:cNvPr>
          <p:cNvSpPr>
            <a:spLocks noGrp="1"/>
          </p:cNvSpPr>
          <p:nvPr>
            <p:ph type="sldNum" sz="quarter" idx="12"/>
          </p:nvPr>
        </p:nvSpPr>
        <p:spPr/>
        <p:txBody>
          <a:bodyPr/>
          <a:lstStyle/>
          <a:p>
            <a:fld id="{DF28FB93-0A08-4E7D-8E63-9EFA29F1E093}" type="slidenum">
              <a:rPr lang="en-US" smtClean="0"/>
              <a:pPr/>
              <a:t>9</a:t>
            </a:fld>
            <a:endParaRPr lang="en-US" dirty="0"/>
          </a:p>
        </p:txBody>
      </p:sp>
      <p:pic>
        <p:nvPicPr>
          <p:cNvPr id="23" name="Content Placeholder 22">
            <a:extLst>
              <a:ext uri="{FF2B5EF4-FFF2-40B4-BE49-F238E27FC236}">
                <a16:creationId xmlns:a16="http://schemas.microsoft.com/office/drawing/2014/main" id="{8DBC3BE5-D819-48F8-BBB3-4D7856EB9556}"/>
              </a:ext>
            </a:extLst>
          </p:cNvPr>
          <p:cNvPicPr>
            <a:picLocks noGrp="1" noChangeAspect="1"/>
          </p:cNvPicPr>
          <p:nvPr>
            <p:ph idx="1"/>
          </p:nvPr>
        </p:nvPicPr>
        <p:blipFill>
          <a:blip r:embed="rId2"/>
          <a:stretch>
            <a:fillRect/>
          </a:stretch>
        </p:blipFill>
        <p:spPr>
          <a:xfrm>
            <a:off x="2979738" y="2072481"/>
            <a:ext cx="6229350" cy="3362325"/>
          </a:xfrm>
        </p:spPr>
      </p:pic>
    </p:spTree>
    <p:extLst>
      <p:ext uri="{BB962C8B-B14F-4D97-AF65-F5344CB8AC3E}">
        <p14:creationId xmlns:p14="http://schemas.microsoft.com/office/powerpoint/2010/main" val="2434805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4EB28-7B55-4CB6-9A03-A93816525C6D}"/>
              </a:ext>
            </a:extLst>
          </p:cNvPr>
          <p:cNvSpPr>
            <a:spLocks noGrp="1"/>
          </p:cNvSpPr>
          <p:nvPr>
            <p:ph type="title"/>
          </p:nvPr>
        </p:nvSpPr>
        <p:spPr>
          <a:xfrm>
            <a:off x="1522876" y="609600"/>
            <a:ext cx="9143538" cy="645935"/>
          </a:xfrm>
        </p:spPr>
        <p:txBody>
          <a:bodyPr>
            <a:normAutofit/>
          </a:bodyPr>
          <a:lstStyle/>
          <a:p>
            <a:r>
              <a:rPr lang="en-US" dirty="0">
                <a:latin typeface="Times New Roman" panose="02020603050405020304" pitchFamily="18" charset="0"/>
                <a:cs typeface="Times New Roman" panose="02020603050405020304" pitchFamily="18" charset="0"/>
              </a:rPr>
              <a:t>Methodology Cont.</a:t>
            </a:r>
          </a:p>
        </p:txBody>
      </p:sp>
      <p:sp>
        <p:nvSpPr>
          <p:cNvPr id="3" name="Content Placeholder 2">
            <a:extLst>
              <a:ext uri="{FF2B5EF4-FFF2-40B4-BE49-F238E27FC236}">
                <a16:creationId xmlns:a16="http://schemas.microsoft.com/office/drawing/2014/main" id="{4E8D8F2C-1A69-41CA-8281-3E68F9743D9C}"/>
              </a:ext>
            </a:extLst>
          </p:cNvPr>
          <p:cNvSpPr>
            <a:spLocks noGrp="1"/>
          </p:cNvSpPr>
          <p:nvPr>
            <p:ph idx="1"/>
          </p:nvPr>
        </p:nvSpPr>
        <p:spPr>
          <a:xfrm>
            <a:off x="1522876" y="1524000"/>
            <a:ext cx="9143538" cy="4078465"/>
          </a:xfrm>
        </p:spPr>
        <p:txBody>
          <a:bodyPr>
            <a:normAutofit/>
          </a:bodyPr>
          <a:lstStyle/>
          <a:p>
            <a:pPr algn="just">
              <a:spcBef>
                <a:spcPts val="600"/>
              </a:spcBef>
            </a:pPr>
            <a:r>
              <a:rPr lang="en-US" sz="2000" dirty="0">
                <a:latin typeface="Times New Roman" panose="02020603050405020304" pitchFamily="18" charset="0"/>
                <a:cs typeface="Times New Roman" panose="02020603050405020304" pitchFamily="18" charset="0"/>
              </a:rPr>
              <a:t>Data Collection</a:t>
            </a:r>
          </a:p>
          <a:p>
            <a:pPr lvl="1" algn="just">
              <a:spcBef>
                <a:spcPts val="600"/>
              </a:spcBef>
            </a:pPr>
            <a:r>
              <a:rPr lang="en-US" sz="1600" dirty="0">
                <a:latin typeface="Times New Roman" panose="02020603050405020304" pitchFamily="18" charset="0"/>
                <a:cs typeface="Times New Roman" panose="02020603050405020304" pitchFamily="18" charset="0"/>
              </a:rPr>
              <a:t>Dataset is collected from Kaggle &amp; UCI ML Repository.</a:t>
            </a:r>
          </a:p>
          <a:p>
            <a:pPr lvl="1" algn="just">
              <a:spcBef>
                <a:spcPts val="600"/>
              </a:spcBef>
            </a:pPr>
            <a:r>
              <a:rPr lang="en-US" sz="1600" dirty="0">
                <a:latin typeface="Times New Roman" panose="02020603050405020304" pitchFamily="18" charset="0"/>
                <a:cs typeface="Times New Roman" panose="02020603050405020304" pitchFamily="18" charset="0"/>
              </a:rPr>
              <a:t>The dataset has 36 attributes along with four target attributes such as Biopsy, Cytology, </a:t>
            </a:r>
            <a:r>
              <a:rPr lang="en-US" sz="1600" dirty="0" err="1">
                <a:latin typeface="Times New Roman" panose="02020603050405020304" pitchFamily="18" charset="0"/>
                <a:cs typeface="Times New Roman" panose="02020603050405020304" pitchFamily="18" charset="0"/>
              </a:rPr>
              <a:t>Hinselmann</a:t>
            </a:r>
            <a:r>
              <a:rPr lang="en-US" sz="1600" dirty="0">
                <a:latin typeface="Times New Roman" panose="02020603050405020304" pitchFamily="18" charset="0"/>
                <a:cs typeface="Times New Roman" panose="02020603050405020304" pitchFamily="18" charset="0"/>
              </a:rPr>
              <a:t>, and Schiller.</a:t>
            </a:r>
          </a:p>
          <a:p>
            <a:pPr lvl="1" algn="just">
              <a:spcBef>
                <a:spcPts val="600"/>
              </a:spcBef>
            </a:pPr>
            <a:r>
              <a:rPr lang="en-US" sz="1600" dirty="0">
                <a:latin typeface="Times New Roman" panose="02020603050405020304" pitchFamily="18" charset="0"/>
                <a:cs typeface="Times New Roman" panose="02020603050405020304" pitchFamily="18" charset="0"/>
              </a:rPr>
              <a:t>Among all the target attributes, 55 biopsy results were positive, 44 cytology results were positive, 35 </a:t>
            </a:r>
            <a:r>
              <a:rPr lang="en-US" sz="1600" dirty="0" err="1">
                <a:latin typeface="Times New Roman" panose="02020603050405020304" pitchFamily="18" charset="0"/>
                <a:cs typeface="Times New Roman" panose="02020603050405020304" pitchFamily="18" charset="0"/>
              </a:rPr>
              <a:t>hinselmann</a:t>
            </a:r>
            <a:r>
              <a:rPr lang="en-US" sz="1600" dirty="0">
                <a:latin typeface="Times New Roman" panose="02020603050405020304" pitchFamily="18" charset="0"/>
                <a:cs typeface="Times New Roman" panose="02020603050405020304" pitchFamily="18" charset="0"/>
              </a:rPr>
              <a:t> results were positive and 74 Schiller results were positive in the dataset will be used in this study.</a:t>
            </a:r>
          </a:p>
          <a:p>
            <a:pPr lvl="1" algn="just">
              <a:spcBef>
                <a:spcPts val="600"/>
              </a:spcBef>
            </a:pPr>
            <a:r>
              <a:rPr lang="en-US" sz="1600" dirty="0">
                <a:latin typeface="Times New Roman" panose="02020603050405020304" pitchFamily="18" charset="0"/>
                <a:cs typeface="Times New Roman" panose="02020603050405020304" pitchFamily="18" charset="0"/>
              </a:rPr>
              <a:t>The dataset contains 858 instances.</a:t>
            </a:r>
            <a:endParaRPr lang="en-US" sz="1600" b="1" dirty="0">
              <a:latin typeface="Times New Roman" panose="02020603050405020304" pitchFamily="18" charset="0"/>
              <a:cs typeface="Times New Roman" panose="02020603050405020304" pitchFamily="18" charset="0"/>
            </a:endParaRPr>
          </a:p>
          <a:p>
            <a:pPr algn="just">
              <a:spcBef>
                <a:spcPts val="600"/>
              </a:spcBef>
            </a:pPr>
            <a:r>
              <a:rPr lang="en-US" sz="2000" dirty="0">
                <a:latin typeface="Times New Roman" panose="02020603050405020304" pitchFamily="18" charset="0"/>
                <a:cs typeface="Times New Roman" panose="02020603050405020304" pitchFamily="18" charset="0"/>
              </a:rPr>
              <a:t>Data Preprocessing</a:t>
            </a:r>
          </a:p>
          <a:p>
            <a:pPr lvl="1" algn="just">
              <a:spcBef>
                <a:spcPts val="600"/>
              </a:spcBef>
            </a:pPr>
            <a:r>
              <a:rPr lang="en-US" sz="1600" dirty="0">
                <a:latin typeface="Times New Roman" panose="02020603050405020304" pitchFamily="18" charset="0"/>
                <a:cs typeface="Times New Roman" panose="02020603050405020304" pitchFamily="18" charset="0"/>
              </a:rPr>
              <a:t>Missing value handling</a:t>
            </a:r>
          </a:p>
          <a:p>
            <a:pPr lvl="1" algn="just">
              <a:spcBef>
                <a:spcPts val="600"/>
              </a:spcBef>
            </a:pPr>
            <a:r>
              <a:rPr lang="en-US" sz="1600" dirty="0">
                <a:latin typeface="Times New Roman" panose="02020603050405020304" pitchFamily="18" charset="0"/>
                <a:cs typeface="Times New Roman" panose="02020603050405020304" pitchFamily="18" charset="0"/>
              </a:rPr>
              <a:t>Feature Engineering</a:t>
            </a:r>
          </a:p>
          <a:p>
            <a:pPr lvl="1" algn="just">
              <a:spcBef>
                <a:spcPts val="600"/>
              </a:spcBef>
            </a:pPr>
            <a:r>
              <a:rPr lang="en-US" sz="1600" dirty="0">
                <a:latin typeface="Times New Roman" panose="02020603050405020304" pitchFamily="18" charset="0"/>
                <a:cs typeface="Times New Roman" panose="02020603050405020304" pitchFamily="18" charset="0"/>
              </a:rPr>
              <a:t>Outlier Detection &amp; Removal</a:t>
            </a:r>
          </a:p>
          <a:p>
            <a:pPr lvl="1" algn="just">
              <a:spcBef>
                <a:spcPts val="600"/>
              </a:spcBef>
            </a:pPr>
            <a:r>
              <a:rPr lang="en-US" sz="1600" dirty="0">
                <a:latin typeface="Times New Roman" panose="02020603050405020304" pitchFamily="18" charset="0"/>
                <a:cs typeface="Times New Roman" panose="02020603050405020304" pitchFamily="18" charset="0"/>
              </a:rPr>
              <a:t>Applied SMOTE to balance the imbalance dataset</a:t>
            </a:r>
          </a:p>
          <a:p>
            <a:pPr lvl="1" algn="just">
              <a:spcBef>
                <a:spcPts val="600"/>
              </a:spcBef>
            </a:pPr>
            <a:r>
              <a:rPr lang="en-US" sz="1600" dirty="0">
                <a:latin typeface="Times New Roman" panose="02020603050405020304" pitchFamily="18" charset="0"/>
                <a:cs typeface="Times New Roman" panose="02020603050405020304" pitchFamily="18" charset="0"/>
              </a:rPr>
              <a:t>Dataset will be split into four sub dataset based on four target attributes.</a:t>
            </a:r>
          </a:p>
        </p:txBody>
      </p:sp>
      <p:sp>
        <p:nvSpPr>
          <p:cNvPr id="4" name="Date Placeholder 3">
            <a:extLst>
              <a:ext uri="{FF2B5EF4-FFF2-40B4-BE49-F238E27FC236}">
                <a16:creationId xmlns:a16="http://schemas.microsoft.com/office/drawing/2014/main" id="{4BDDDFE5-F238-4DDA-B7EB-435BA4AA504D}"/>
              </a:ext>
            </a:extLst>
          </p:cNvPr>
          <p:cNvSpPr>
            <a:spLocks noGrp="1"/>
          </p:cNvSpPr>
          <p:nvPr>
            <p:ph type="dt" sz="half" idx="10"/>
          </p:nvPr>
        </p:nvSpPr>
        <p:spPr/>
        <p:txBody>
          <a:bodyPr/>
          <a:lstStyle/>
          <a:p>
            <a:fld id="{0B573522-4F0E-4552-B4A9-F39343BCD021}" type="datetime1">
              <a:rPr lang="en-US" smtClean="0"/>
              <a:t>1/20/2022</a:t>
            </a:fld>
            <a:endParaRPr lang="en-US" dirty="0"/>
          </a:p>
        </p:txBody>
      </p:sp>
      <p:sp>
        <p:nvSpPr>
          <p:cNvPr id="5" name="Slide Number Placeholder 4">
            <a:extLst>
              <a:ext uri="{FF2B5EF4-FFF2-40B4-BE49-F238E27FC236}">
                <a16:creationId xmlns:a16="http://schemas.microsoft.com/office/drawing/2014/main" id="{58CB8ADA-BFB9-45EB-B956-F8828406693C}"/>
              </a:ext>
            </a:extLst>
          </p:cNvPr>
          <p:cNvSpPr>
            <a:spLocks noGrp="1"/>
          </p:cNvSpPr>
          <p:nvPr>
            <p:ph type="sldNum" sz="quarter" idx="12"/>
          </p:nvPr>
        </p:nvSpPr>
        <p:spPr/>
        <p:txBody>
          <a:bodyPr/>
          <a:lstStyle/>
          <a:p>
            <a:fld id="{DF28FB93-0A08-4E7D-8E63-9EFA29F1E093}" type="slidenum">
              <a:rPr lang="en-US" smtClean="0"/>
              <a:pPr/>
              <a:t>10</a:t>
            </a:fld>
            <a:endParaRPr lang="en-US" dirty="0"/>
          </a:p>
        </p:txBody>
      </p:sp>
    </p:spTree>
    <p:extLst>
      <p:ext uri="{BB962C8B-B14F-4D97-AF65-F5344CB8AC3E}">
        <p14:creationId xmlns:p14="http://schemas.microsoft.com/office/powerpoint/2010/main" val="4245337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2B4A-97F4-4EC2-B246-746D5C6A25E6}"/>
              </a:ext>
            </a:extLst>
          </p:cNvPr>
          <p:cNvSpPr>
            <a:spLocks noGrp="1"/>
          </p:cNvSpPr>
          <p:nvPr>
            <p:ph type="title"/>
          </p:nvPr>
        </p:nvSpPr>
        <p:spPr>
          <a:xfrm>
            <a:off x="1522643" y="609600"/>
            <a:ext cx="9143538" cy="645935"/>
          </a:xfrm>
        </p:spPr>
        <p:txBody>
          <a:bodyPr>
            <a:normAutofit/>
          </a:bodyPr>
          <a:lstStyle/>
          <a:p>
            <a:r>
              <a:rPr lang="en-US" dirty="0">
                <a:latin typeface="Times New Roman" panose="02020603050405020304" pitchFamily="18" charset="0"/>
                <a:cs typeface="Times New Roman" panose="02020603050405020304" pitchFamily="18" charset="0"/>
              </a:rPr>
              <a:t>Methodology Cont.</a:t>
            </a:r>
            <a:endParaRPr lang="en-US" dirty="0"/>
          </a:p>
        </p:txBody>
      </p:sp>
      <p:sp>
        <p:nvSpPr>
          <p:cNvPr id="3" name="Content Placeholder 2">
            <a:extLst>
              <a:ext uri="{FF2B5EF4-FFF2-40B4-BE49-F238E27FC236}">
                <a16:creationId xmlns:a16="http://schemas.microsoft.com/office/drawing/2014/main" id="{E28CC256-AA14-4748-B10A-C230D4399FDA}"/>
              </a:ext>
            </a:extLst>
          </p:cNvPr>
          <p:cNvSpPr>
            <a:spLocks noGrp="1"/>
          </p:cNvSpPr>
          <p:nvPr>
            <p:ph idx="1"/>
          </p:nvPr>
        </p:nvSpPr>
        <p:spPr>
          <a:xfrm>
            <a:off x="1522876" y="1905000"/>
            <a:ext cx="4723936" cy="3697465"/>
          </a:xfrm>
        </p:spPr>
        <p:txBody>
          <a:bodyPr>
            <a:normAutofit/>
          </a:bodyPr>
          <a:lstStyle/>
          <a:p>
            <a:r>
              <a:rPr lang="en-US" sz="2000" dirty="0">
                <a:latin typeface="Times New Roman" panose="02020603050405020304" pitchFamily="18" charset="0"/>
                <a:cs typeface="Times New Roman" panose="02020603050405020304" pitchFamily="18" charset="0"/>
              </a:rPr>
              <a:t>Apply FT Methods</a:t>
            </a:r>
          </a:p>
        </p:txBody>
      </p:sp>
      <p:sp>
        <p:nvSpPr>
          <p:cNvPr id="4" name="Date Placeholder 3">
            <a:extLst>
              <a:ext uri="{FF2B5EF4-FFF2-40B4-BE49-F238E27FC236}">
                <a16:creationId xmlns:a16="http://schemas.microsoft.com/office/drawing/2014/main" id="{0C35588A-39D0-4243-BDD4-7556B5A867B5}"/>
              </a:ext>
            </a:extLst>
          </p:cNvPr>
          <p:cNvSpPr>
            <a:spLocks noGrp="1"/>
          </p:cNvSpPr>
          <p:nvPr>
            <p:ph type="dt" sz="half" idx="10"/>
          </p:nvPr>
        </p:nvSpPr>
        <p:spPr/>
        <p:txBody>
          <a:bodyPr/>
          <a:lstStyle/>
          <a:p>
            <a:fld id="{0B573522-4F0E-4552-B4A9-F39343BCD021}" type="datetime1">
              <a:rPr lang="en-US" smtClean="0"/>
              <a:t>1/20/2022</a:t>
            </a:fld>
            <a:endParaRPr lang="en-US" dirty="0"/>
          </a:p>
        </p:txBody>
      </p:sp>
      <p:sp>
        <p:nvSpPr>
          <p:cNvPr id="5" name="Slide Number Placeholder 4">
            <a:extLst>
              <a:ext uri="{FF2B5EF4-FFF2-40B4-BE49-F238E27FC236}">
                <a16:creationId xmlns:a16="http://schemas.microsoft.com/office/drawing/2014/main" id="{BD2216D2-81B0-4EF1-99CB-0D9359172452}"/>
              </a:ext>
            </a:extLst>
          </p:cNvPr>
          <p:cNvSpPr>
            <a:spLocks noGrp="1"/>
          </p:cNvSpPr>
          <p:nvPr>
            <p:ph type="sldNum" sz="quarter" idx="12"/>
          </p:nvPr>
        </p:nvSpPr>
        <p:spPr/>
        <p:txBody>
          <a:bodyPr/>
          <a:lstStyle/>
          <a:p>
            <a:fld id="{DF28FB93-0A08-4E7D-8E63-9EFA29F1E093}" type="slidenum">
              <a:rPr lang="en-US" smtClean="0"/>
              <a:pPr/>
              <a:t>11</a:t>
            </a:fld>
            <a:endParaRPr lang="en-US" dirty="0"/>
          </a:p>
        </p:txBody>
      </p:sp>
      <mc:AlternateContent xmlns:mc="http://schemas.openxmlformats.org/markup-compatibility/2006" xmlns:a14="http://schemas.microsoft.com/office/drawing/2010/main">
        <mc:Choice Requires="a14">
          <p:graphicFrame>
            <p:nvGraphicFramePr>
              <p:cNvPr id="7" name="Table 7">
                <a:extLst>
                  <a:ext uri="{FF2B5EF4-FFF2-40B4-BE49-F238E27FC236}">
                    <a16:creationId xmlns:a16="http://schemas.microsoft.com/office/drawing/2014/main" id="{E53C653E-A1DA-4C4F-98C1-023618285BEE}"/>
                  </a:ext>
                </a:extLst>
              </p:cNvPr>
              <p:cNvGraphicFramePr>
                <a:graphicFrameLocks noGrp="1"/>
              </p:cNvGraphicFramePr>
              <p:nvPr>
                <p:extLst>
                  <p:ext uri="{D42A27DB-BD31-4B8C-83A1-F6EECF244321}">
                    <p14:modId xmlns:p14="http://schemas.microsoft.com/office/powerpoint/2010/main" val="3397487070"/>
                  </p:ext>
                </p:extLst>
              </p:nvPr>
            </p:nvGraphicFramePr>
            <p:xfrm>
              <a:off x="1522643" y="2761931"/>
              <a:ext cx="4571537" cy="1903858"/>
            </p:xfrm>
            <a:graphic>
              <a:graphicData uri="http://schemas.openxmlformats.org/drawingml/2006/table">
                <a:tbl>
                  <a:tblPr firstRow="1" bandRow="1">
                    <a:tableStyleId>{93296810-A885-4BE3-A3E7-6D5BEEA58F35}</a:tableStyleId>
                  </a:tblPr>
                  <a:tblGrid>
                    <a:gridCol w="1371369">
                      <a:extLst>
                        <a:ext uri="{9D8B030D-6E8A-4147-A177-3AD203B41FA5}">
                          <a16:colId xmlns:a16="http://schemas.microsoft.com/office/drawing/2014/main" val="3070444450"/>
                        </a:ext>
                      </a:extLst>
                    </a:gridCol>
                    <a:gridCol w="3200168">
                      <a:extLst>
                        <a:ext uri="{9D8B030D-6E8A-4147-A177-3AD203B41FA5}">
                          <a16:colId xmlns:a16="http://schemas.microsoft.com/office/drawing/2014/main" val="2030638960"/>
                        </a:ext>
                      </a:extLst>
                    </a:gridCol>
                  </a:tblGrid>
                  <a:tr h="370840">
                    <a:tc>
                      <a:txBody>
                        <a:bodyPr/>
                        <a:lstStyle/>
                        <a:p>
                          <a:pPr marL="0" marR="0" algn="just">
                            <a:lnSpc>
                              <a:spcPct val="107000"/>
                            </a:lnSpc>
                            <a:spcBef>
                              <a:spcPts val="0"/>
                            </a:spcBef>
                            <a:spcAft>
                              <a:spcPts val="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FTs</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Formula</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72952944"/>
                      </a:ext>
                    </a:extLst>
                  </a:tr>
                  <a:tr h="370840">
                    <a:tc>
                      <a:txBody>
                        <a:bodyPr/>
                        <a:lstStyle/>
                        <a:p>
                          <a:pPr marL="0" marR="0" algn="just">
                            <a:lnSpc>
                              <a:spcPct val="107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Logarithmic</a:t>
                          </a:r>
                        </a:p>
                      </a:txBody>
                      <a:tcPr marL="68580" marR="68580" marT="0" marB="0"/>
                    </a:tc>
                    <a:tc>
                      <a:txBody>
                        <a:bodyPr/>
                        <a:lstStyle/>
                        <a:p>
                          <a:pPr marL="0" marR="0" algn="just">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𝑦</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𝑐</m:t>
                                </m:r>
                                <m:func>
                                  <m:func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uncPr>
                                  <m:fName>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log</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𝑏</m:t>
                                        </m:r>
                                      </m:sub>
                                    </m:sSub>
                                  </m:fName>
                                  <m:e>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𝑥</m:t>
                                        </m:r>
                                      </m:e>
                                    </m:d>
                                  </m:e>
                                </m:func>
                              </m:oMath>
                            </m:oMathPara>
                          </a14:m>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36030945"/>
                      </a:ext>
                    </a:extLst>
                  </a:tr>
                  <a:tr h="370840">
                    <a:tc>
                      <a:txBody>
                        <a:bodyPr/>
                        <a:lstStyle/>
                        <a:p>
                          <a:pPr marL="0" marR="0" algn="just">
                            <a:lnSpc>
                              <a:spcPct val="107000"/>
                            </a:lnSpc>
                            <a:spcBef>
                              <a:spcPts val="0"/>
                            </a:spcBef>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ZScore</a:t>
                          </a:r>
                        </a:p>
                      </a:txBody>
                      <a:tcPr marL="68580" marR="68580" marT="0" marB="0"/>
                    </a:tc>
                    <a:tc>
                      <a:txBody>
                        <a:bodyPr/>
                        <a:lstStyle/>
                        <a:p>
                          <a:pPr marL="0" marR="0" algn="just">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𝑧</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𝑥</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𝜇</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𝜎</m:t>
                                    </m:r>
                                  </m:den>
                                </m:f>
                              </m:oMath>
                            </m:oMathPara>
                          </a14:m>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68199905"/>
                      </a:ext>
                    </a:extLst>
                  </a:tr>
                  <a:tr h="370840">
                    <a:tc>
                      <a:txBody>
                        <a:bodyPr/>
                        <a:lstStyle/>
                        <a:p>
                          <a:pPr marL="0" marR="0" algn="just">
                            <a:lnSpc>
                              <a:spcPct val="107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Sine</a:t>
                          </a:r>
                        </a:p>
                      </a:txBody>
                      <a:tcPr marL="68580" marR="68580" marT="0" marB="0"/>
                    </a:tc>
                    <a:tc>
                      <a:txBody>
                        <a:bodyPr/>
                        <a:lstStyle/>
                        <a:p>
                          <a:pPr marL="0" marR="0" algn="just">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𝐹</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𝑘</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nary>
                                  <m:naryPr>
                                    <m:chr m:val="∑"/>
                                    <m:limLoc m:val="subSup"/>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𝑗</m:t>
                                    </m:r>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𝑁</m:t>
                                    </m:r>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p>
                                  <m:e>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𝑓</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𝑗</m:t>
                                        </m:r>
                                      </m:sub>
                                    </m:sSub>
                                    <m:func>
                                      <m:func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uncPr>
                                      <m:fName>
                                        <m:r>
                                          <a:rPr lang="en-US" sz="1800" i="1">
                                            <a:effectLst/>
                                            <a:latin typeface="Cambria Math" panose="02040503050406030204" pitchFamily="18" charset="0"/>
                                            <a:ea typeface="Calibri" panose="020F0502020204030204" pitchFamily="34" charset="0"/>
                                            <a:cs typeface="Times New Roman" panose="02020603050405020304" pitchFamily="18" charset="0"/>
                                          </a:rPr>
                                          <m:t>𝑠𝑖𝑛</m:t>
                                        </m:r>
                                      </m:fName>
                                      <m:e>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𝜋</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𝑗𝑘</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𝑁</m:t>
                                                </m:r>
                                              </m:den>
                                            </m:f>
                                          </m:e>
                                        </m:d>
                                      </m:e>
                                    </m:func>
                                  </m:e>
                                </m:nary>
                              </m:oMath>
                            </m:oMathPara>
                          </a14:m>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13017289"/>
                      </a:ext>
                    </a:extLst>
                  </a:tr>
                </a:tbl>
              </a:graphicData>
            </a:graphic>
          </p:graphicFrame>
        </mc:Choice>
        <mc:Fallback xmlns="">
          <p:graphicFrame>
            <p:nvGraphicFramePr>
              <p:cNvPr id="7" name="Table 7">
                <a:extLst>
                  <a:ext uri="{FF2B5EF4-FFF2-40B4-BE49-F238E27FC236}">
                    <a16:creationId xmlns:a16="http://schemas.microsoft.com/office/drawing/2014/main" id="{E53C653E-A1DA-4C4F-98C1-023618285BEE}"/>
                  </a:ext>
                </a:extLst>
              </p:cNvPr>
              <p:cNvGraphicFramePr>
                <a:graphicFrameLocks noGrp="1"/>
              </p:cNvGraphicFramePr>
              <p:nvPr>
                <p:extLst>
                  <p:ext uri="{D42A27DB-BD31-4B8C-83A1-F6EECF244321}">
                    <p14:modId xmlns:p14="http://schemas.microsoft.com/office/powerpoint/2010/main" val="3397487070"/>
                  </p:ext>
                </p:extLst>
              </p:nvPr>
            </p:nvGraphicFramePr>
            <p:xfrm>
              <a:off x="1522643" y="2761931"/>
              <a:ext cx="4571537" cy="1903858"/>
            </p:xfrm>
            <a:graphic>
              <a:graphicData uri="http://schemas.openxmlformats.org/drawingml/2006/table">
                <a:tbl>
                  <a:tblPr firstRow="1" bandRow="1">
                    <a:tableStyleId>{93296810-A885-4BE3-A3E7-6D5BEEA58F35}</a:tableStyleId>
                  </a:tblPr>
                  <a:tblGrid>
                    <a:gridCol w="1371369">
                      <a:extLst>
                        <a:ext uri="{9D8B030D-6E8A-4147-A177-3AD203B41FA5}">
                          <a16:colId xmlns:a16="http://schemas.microsoft.com/office/drawing/2014/main" val="3070444450"/>
                        </a:ext>
                      </a:extLst>
                    </a:gridCol>
                    <a:gridCol w="3200168">
                      <a:extLst>
                        <a:ext uri="{9D8B030D-6E8A-4147-A177-3AD203B41FA5}">
                          <a16:colId xmlns:a16="http://schemas.microsoft.com/office/drawing/2014/main" val="2030638960"/>
                        </a:ext>
                      </a:extLst>
                    </a:gridCol>
                  </a:tblGrid>
                  <a:tr h="370840">
                    <a:tc>
                      <a:txBody>
                        <a:bodyPr/>
                        <a:lstStyle/>
                        <a:p>
                          <a:pPr marL="0" marR="0" algn="just">
                            <a:lnSpc>
                              <a:spcPct val="107000"/>
                            </a:lnSpc>
                            <a:spcBef>
                              <a:spcPts val="0"/>
                            </a:spcBef>
                            <a:spcAft>
                              <a:spcPts val="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FTs</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Formula</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72952944"/>
                      </a:ext>
                    </a:extLst>
                  </a:tr>
                  <a:tr h="370840">
                    <a:tc>
                      <a:txBody>
                        <a:bodyPr/>
                        <a:lstStyle/>
                        <a:p>
                          <a:pPr marL="0" marR="0" algn="just">
                            <a:lnSpc>
                              <a:spcPct val="107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Logarithmic</a:t>
                          </a:r>
                        </a:p>
                      </a:txBody>
                      <a:tcPr marL="68580" marR="68580" marT="0" marB="0"/>
                    </a:tc>
                    <a:tc>
                      <a:txBody>
                        <a:bodyPr/>
                        <a:lstStyle/>
                        <a:p>
                          <a:endParaRPr lang="en-US"/>
                        </a:p>
                      </a:txBody>
                      <a:tcPr marL="68580" marR="68580" marT="0" marB="0">
                        <a:blipFill>
                          <a:blip r:embed="rId2"/>
                          <a:stretch>
                            <a:fillRect l="-42966" t="-121311" r="-760" b="-316393"/>
                          </a:stretch>
                        </a:blipFill>
                      </a:tcPr>
                    </a:tc>
                    <a:extLst>
                      <a:ext uri="{0D108BD9-81ED-4DB2-BD59-A6C34878D82A}">
                        <a16:rowId xmlns:a16="http://schemas.microsoft.com/office/drawing/2014/main" val="2036030945"/>
                      </a:ext>
                    </a:extLst>
                  </a:tr>
                  <a:tr h="502730">
                    <a:tc>
                      <a:txBody>
                        <a:bodyPr/>
                        <a:lstStyle/>
                        <a:p>
                          <a:pPr marL="0" marR="0" algn="just">
                            <a:lnSpc>
                              <a:spcPct val="107000"/>
                            </a:lnSpc>
                            <a:spcBef>
                              <a:spcPts val="0"/>
                            </a:spcBef>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ZScore</a:t>
                          </a:r>
                        </a:p>
                      </a:txBody>
                      <a:tcPr marL="68580" marR="68580" marT="0" marB="0"/>
                    </a:tc>
                    <a:tc>
                      <a:txBody>
                        <a:bodyPr/>
                        <a:lstStyle/>
                        <a:p>
                          <a:endParaRPr lang="en-US"/>
                        </a:p>
                      </a:txBody>
                      <a:tcPr marL="68580" marR="68580" marT="0" marB="0">
                        <a:blipFill>
                          <a:blip r:embed="rId2"/>
                          <a:stretch>
                            <a:fillRect l="-42966" t="-162651" r="-760" b="-132530"/>
                          </a:stretch>
                        </a:blipFill>
                      </a:tcPr>
                    </a:tc>
                    <a:extLst>
                      <a:ext uri="{0D108BD9-81ED-4DB2-BD59-A6C34878D82A}">
                        <a16:rowId xmlns:a16="http://schemas.microsoft.com/office/drawing/2014/main" val="1568199905"/>
                      </a:ext>
                    </a:extLst>
                  </a:tr>
                  <a:tr h="659448">
                    <a:tc>
                      <a:txBody>
                        <a:bodyPr/>
                        <a:lstStyle/>
                        <a:p>
                          <a:pPr marL="0" marR="0" algn="just">
                            <a:lnSpc>
                              <a:spcPct val="107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Sine</a:t>
                          </a:r>
                        </a:p>
                      </a:txBody>
                      <a:tcPr marL="68580" marR="68580" marT="0" marB="0"/>
                    </a:tc>
                    <a:tc>
                      <a:txBody>
                        <a:bodyPr/>
                        <a:lstStyle/>
                        <a:p>
                          <a:endParaRPr lang="en-US"/>
                        </a:p>
                      </a:txBody>
                      <a:tcPr marL="68580" marR="68580" marT="0" marB="0">
                        <a:blipFill>
                          <a:blip r:embed="rId2"/>
                          <a:stretch>
                            <a:fillRect l="-42966" t="-201852" r="-760" b="-1852"/>
                          </a:stretch>
                        </a:blipFill>
                      </a:tcPr>
                    </a:tc>
                    <a:extLst>
                      <a:ext uri="{0D108BD9-81ED-4DB2-BD59-A6C34878D82A}">
                        <a16:rowId xmlns:a16="http://schemas.microsoft.com/office/drawing/2014/main" val="3913017289"/>
                      </a:ext>
                    </a:extLst>
                  </a:tr>
                </a:tbl>
              </a:graphicData>
            </a:graphic>
          </p:graphicFrame>
        </mc:Fallback>
      </mc:AlternateContent>
      <p:sp>
        <p:nvSpPr>
          <p:cNvPr id="8" name="Content Placeholder 2">
            <a:extLst>
              <a:ext uri="{FF2B5EF4-FFF2-40B4-BE49-F238E27FC236}">
                <a16:creationId xmlns:a16="http://schemas.microsoft.com/office/drawing/2014/main" id="{EF6DB195-41FA-4112-B674-AC73A9B365B7}"/>
              </a:ext>
            </a:extLst>
          </p:cNvPr>
          <p:cNvSpPr txBox="1">
            <a:spLocks/>
          </p:cNvSpPr>
          <p:nvPr/>
        </p:nvSpPr>
        <p:spPr>
          <a:xfrm>
            <a:off x="6780212" y="1917940"/>
            <a:ext cx="4903741" cy="3697465"/>
          </a:xfrm>
          <a:prstGeom prst="rect">
            <a:avLst/>
          </a:prstGeom>
        </p:spPr>
        <p:txBody>
          <a:bodyPr vert="horz" lIns="91440" tIns="45720" rIns="91440" bIns="45720" rtlCol="0">
            <a:normAutofit/>
          </a:bodyPr>
          <a:lstStyle>
            <a:lvl1pPr marL="274320" indent="-274320" algn="l" defTabSz="914400" rtl="0" eaLnBrk="1" latinLnBrk="0" hangingPunct="1">
              <a:lnSpc>
                <a:spcPct val="90000"/>
              </a:lnSpc>
              <a:spcBef>
                <a:spcPts val="1800"/>
              </a:spcBef>
              <a:buClr>
                <a:schemeClr val="tx1"/>
              </a:buClr>
              <a:buSzPct val="80000"/>
              <a:buFont typeface="Wingdings" pitchFamily="2" charset="2"/>
              <a:buChar char="§"/>
              <a:defRPr sz="2400" kern="1200">
                <a:solidFill>
                  <a:schemeClr val="tx1"/>
                </a:solidFill>
                <a:latin typeface="+mn-lt"/>
                <a:ea typeface="+mn-ea"/>
                <a:cs typeface="+mn-cs"/>
              </a:defRPr>
            </a:lvl1pPr>
            <a:lvl2pPr marL="548640" indent="-228600" algn="l" defTabSz="914400" rtl="0" eaLnBrk="1" latinLnBrk="0" hangingPunct="1">
              <a:lnSpc>
                <a:spcPct val="90000"/>
              </a:lnSpc>
              <a:spcBef>
                <a:spcPts val="1000"/>
              </a:spcBef>
              <a:buClr>
                <a:schemeClr val="tx1"/>
              </a:buClr>
              <a:buSzPct val="100000"/>
              <a:buFont typeface="Arial" pitchFamily="34" charset="0"/>
              <a:buChar char="–"/>
              <a:defRPr sz="2000" kern="1200">
                <a:solidFill>
                  <a:schemeClr val="tx1"/>
                </a:solidFill>
                <a:latin typeface="+mn-lt"/>
                <a:ea typeface="+mn-ea"/>
                <a:cs typeface="+mn-cs"/>
              </a:defRPr>
            </a:lvl2pPr>
            <a:lvl3pPr marL="822960" indent="-228600" algn="l" defTabSz="914400" rtl="0" eaLnBrk="1" latinLnBrk="0" hangingPunct="1">
              <a:lnSpc>
                <a:spcPct val="90000"/>
              </a:lnSpc>
              <a:spcBef>
                <a:spcPts val="800"/>
              </a:spcBef>
              <a:buClr>
                <a:schemeClr val="tx1"/>
              </a:buClr>
              <a:buSzPct val="80000"/>
              <a:buFont typeface="Wingdings" pitchFamily="2" charset="2"/>
              <a:buChar char="§"/>
              <a:defRPr sz="1800" kern="1200">
                <a:solidFill>
                  <a:schemeClr val="tx1"/>
                </a:solidFill>
                <a:latin typeface="+mn-lt"/>
                <a:ea typeface="+mn-ea"/>
                <a:cs typeface="+mn-cs"/>
              </a:defRPr>
            </a:lvl3pPr>
            <a:lvl4pPr marL="1097280" indent="-228600" algn="l" defTabSz="914400" rtl="0" eaLnBrk="1" latinLnBrk="0" hangingPunct="1">
              <a:lnSpc>
                <a:spcPct val="90000"/>
              </a:lnSpc>
              <a:spcBef>
                <a:spcPts val="800"/>
              </a:spcBef>
              <a:buClr>
                <a:schemeClr val="tx1"/>
              </a:buClr>
              <a:buSzPct val="100000"/>
              <a:buFont typeface="Arial" pitchFamily="34" charset="0"/>
              <a:buChar char="–"/>
              <a:defRPr sz="1600" kern="1200">
                <a:solidFill>
                  <a:schemeClr val="tx1"/>
                </a:solidFill>
                <a:latin typeface="+mn-lt"/>
                <a:ea typeface="+mn-ea"/>
                <a:cs typeface="+mn-cs"/>
              </a:defRPr>
            </a:lvl4pPr>
            <a:lvl5pPr marL="1325880" indent="-228600" algn="l" defTabSz="914400" rtl="0" eaLnBrk="1" latinLnBrk="0" hangingPunct="1">
              <a:lnSpc>
                <a:spcPct val="90000"/>
              </a:lnSpc>
              <a:spcBef>
                <a:spcPts val="800"/>
              </a:spcBef>
              <a:buClr>
                <a:schemeClr val="tx1"/>
              </a:buClr>
              <a:buSzPct val="80000"/>
              <a:buFont typeface="Wingdings" pitchFamily="2" charset="2"/>
              <a:buChar char="§"/>
              <a:defRPr sz="1600" kern="1200">
                <a:solidFill>
                  <a:schemeClr val="tx1"/>
                </a:solidFill>
                <a:latin typeface="+mn-lt"/>
                <a:ea typeface="+mn-ea"/>
                <a:cs typeface="+mn-cs"/>
              </a:defRPr>
            </a:lvl5pPr>
            <a:lvl6pPr marL="1554480" indent="-228600" algn="l" defTabSz="914400" rtl="0" eaLnBrk="1" latinLnBrk="0" hangingPunct="1">
              <a:lnSpc>
                <a:spcPct val="90000"/>
              </a:lnSpc>
              <a:spcBef>
                <a:spcPts val="800"/>
              </a:spcBef>
              <a:buClr>
                <a:schemeClr val="tx1"/>
              </a:buClr>
              <a:buSzPct val="100000"/>
              <a:buFont typeface="Arial" pitchFamily="34" charset="0"/>
              <a:buChar char="–"/>
              <a:defRPr sz="1600" kern="1200">
                <a:solidFill>
                  <a:schemeClr val="tx1"/>
                </a:solidFill>
                <a:latin typeface="+mn-lt"/>
                <a:ea typeface="+mn-ea"/>
                <a:cs typeface="+mn-cs"/>
              </a:defRPr>
            </a:lvl6pPr>
            <a:lvl7pPr marL="1783080" indent="-228600" algn="l" defTabSz="914400" rtl="0" eaLnBrk="1" latinLnBrk="0" hangingPunct="1">
              <a:lnSpc>
                <a:spcPct val="90000"/>
              </a:lnSpc>
              <a:spcBef>
                <a:spcPts val="800"/>
              </a:spcBef>
              <a:buClr>
                <a:schemeClr val="tx1"/>
              </a:buClr>
              <a:buSzPct val="80000"/>
              <a:buFont typeface="Wingdings" pitchFamily="2" charset="2"/>
              <a:buChar char="§"/>
              <a:defRPr sz="1600" kern="1200">
                <a:solidFill>
                  <a:schemeClr val="tx1"/>
                </a:solidFill>
                <a:latin typeface="+mn-lt"/>
                <a:ea typeface="+mn-ea"/>
                <a:cs typeface="+mn-cs"/>
              </a:defRPr>
            </a:lvl7pPr>
            <a:lvl8pPr marL="2011680" indent="-228600" algn="l" defTabSz="914400" rtl="0" eaLnBrk="1" latinLnBrk="0" hangingPunct="1">
              <a:lnSpc>
                <a:spcPct val="90000"/>
              </a:lnSpc>
              <a:spcBef>
                <a:spcPts val="800"/>
              </a:spcBef>
              <a:buClr>
                <a:schemeClr val="tx1"/>
              </a:buClr>
              <a:buSzPct val="100000"/>
              <a:buFont typeface="Arial" pitchFamily="34" charset="0"/>
              <a:buChar char="–"/>
              <a:defRPr sz="1600" kern="1200">
                <a:solidFill>
                  <a:schemeClr val="tx1"/>
                </a:solidFill>
                <a:latin typeface="+mn-lt"/>
                <a:ea typeface="+mn-ea"/>
                <a:cs typeface="+mn-cs"/>
              </a:defRPr>
            </a:lvl8pPr>
            <a:lvl9pPr marL="2240280" indent="-228600" algn="l" defTabSz="914400" rtl="0" eaLnBrk="1" latinLnBrk="0" hangingPunct="1">
              <a:lnSpc>
                <a:spcPct val="90000"/>
              </a:lnSpc>
              <a:spcBef>
                <a:spcPts val="800"/>
              </a:spcBef>
              <a:buClr>
                <a:schemeClr val="tx1"/>
              </a:buClr>
              <a:buSzPct val="80000"/>
              <a:buFont typeface="Wingdings" pitchFamily="2" charset="2"/>
              <a:buChar char="§"/>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Apply Classifiers into Transformed Dataset</a:t>
            </a:r>
          </a:p>
          <a:p>
            <a:pPr lvl="1"/>
            <a:r>
              <a:rPr lang="en-US" sz="1600" dirty="0" err="1">
                <a:latin typeface="Times New Roman" panose="02020603050405020304" pitchFamily="18" charset="0"/>
                <a:cs typeface="Times New Roman" panose="02020603050405020304" pitchFamily="18" charset="0"/>
              </a:rPr>
              <a:t>IBk</a:t>
            </a:r>
            <a:endParaRPr lang="en-US" sz="1600" dirty="0">
              <a:latin typeface="Times New Roman" panose="02020603050405020304" pitchFamily="18" charset="0"/>
              <a:cs typeface="Times New Roman" panose="02020603050405020304" pitchFamily="18" charset="0"/>
            </a:endParaRPr>
          </a:p>
          <a:p>
            <a:pPr lvl="1"/>
            <a:r>
              <a:rPr lang="en-US" sz="1600" dirty="0" err="1">
                <a:latin typeface="Times New Roman" panose="02020603050405020304" pitchFamily="18" charset="0"/>
                <a:cs typeface="Times New Roman" panose="02020603050405020304" pitchFamily="18" charset="0"/>
              </a:rPr>
              <a:t>KStar</a:t>
            </a:r>
            <a:endParaRPr lang="en-US" sz="1600" dirty="0">
              <a:latin typeface="Times New Roman" panose="02020603050405020304" pitchFamily="18" charset="0"/>
              <a:cs typeface="Times New Roman" panose="02020603050405020304" pitchFamily="18" charset="0"/>
            </a:endParaRPr>
          </a:p>
          <a:p>
            <a:pPr lvl="1"/>
            <a:r>
              <a:rPr lang="en-US" sz="1600" dirty="0">
                <a:latin typeface="Times New Roman" panose="02020603050405020304" pitchFamily="18" charset="0"/>
                <a:cs typeface="Times New Roman" panose="02020603050405020304" pitchFamily="18" charset="0"/>
              </a:rPr>
              <a:t>SPAARC</a:t>
            </a:r>
          </a:p>
          <a:p>
            <a:pPr lvl="1"/>
            <a:r>
              <a:rPr lang="en-US" sz="1600" dirty="0">
                <a:latin typeface="Times New Roman" panose="02020603050405020304" pitchFamily="18" charset="0"/>
                <a:cs typeface="Times New Roman" panose="02020603050405020304" pitchFamily="18" charset="0"/>
              </a:rPr>
              <a:t>Random Tree</a:t>
            </a:r>
          </a:p>
          <a:p>
            <a:pPr lvl="1"/>
            <a:r>
              <a:rPr lang="en-US" sz="1600" dirty="0">
                <a:latin typeface="Times New Roman" panose="02020603050405020304" pitchFamily="18" charset="0"/>
                <a:cs typeface="Times New Roman" panose="02020603050405020304" pitchFamily="18" charset="0"/>
              </a:rPr>
              <a:t>Random Forest</a:t>
            </a:r>
          </a:p>
        </p:txBody>
      </p:sp>
    </p:spTree>
    <p:extLst>
      <p:ext uri="{BB962C8B-B14F-4D97-AF65-F5344CB8AC3E}">
        <p14:creationId xmlns:p14="http://schemas.microsoft.com/office/powerpoint/2010/main" val="2345135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1258E-DFBC-48A3-88F5-8D01F1CF53FD}"/>
              </a:ext>
            </a:extLst>
          </p:cNvPr>
          <p:cNvSpPr>
            <a:spLocks noGrp="1"/>
          </p:cNvSpPr>
          <p:nvPr>
            <p:ph type="title"/>
          </p:nvPr>
        </p:nvSpPr>
        <p:spPr>
          <a:xfrm>
            <a:off x="1522876" y="609600"/>
            <a:ext cx="9143538" cy="645935"/>
          </a:xfrm>
        </p:spPr>
        <p:txBody>
          <a:bodyPr>
            <a:normAutofit/>
          </a:bodyPr>
          <a:lstStyle/>
          <a:p>
            <a:r>
              <a:rPr lang="en-US" dirty="0">
                <a:latin typeface="Times New Roman" panose="02020603050405020304" pitchFamily="18" charset="0"/>
                <a:cs typeface="Times New Roman" panose="02020603050405020304" pitchFamily="18" charset="0"/>
              </a:rPr>
              <a:t>Methodology Cont.</a:t>
            </a:r>
          </a:p>
        </p:txBody>
      </p:sp>
      <p:sp>
        <p:nvSpPr>
          <p:cNvPr id="3" name="Content Placeholder 2">
            <a:extLst>
              <a:ext uri="{FF2B5EF4-FFF2-40B4-BE49-F238E27FC236}">
                <a16:creationId xmlns:a16="http://schemas.microsoft.com/office/drawing/2014/main" id="{8B218564-B4CB-4DDE-A133-C06AC576333F}"/>
              </a:ext>
            </a:extLst>
          </p:cNvPr>
          <p:cNvSpPr>
            <a:spLocks noGrp="1"/>
          </p:cNvSpPr>
          <p:nvPr>
            <p:ph idx="1"/>
          </p:nvPr>
        </p:nvSpPr>
        <p:spPr>
          <a:xfrm>
            <a:off x="1522876" y="1447800"/>
            <a:ext cx="9143538" cy="4154665"/>
          </a:xfrm>
        </p:spPr>
        <p:txBody>
          <a:bodyPr>
            <a:normAutofit/>
          </a:bodyPr>
          <a:lstStyle/>
          <a:p>
            <a:pPr>
              <a:spcBef>
                <a:spcPts val="600"/>
              </a:spcBef>
            </a:pPr>
            <a:r>
              <a:rPr lang="en-US" sz="2000" dirty="0">
                <a:latin typeface="Times New Roman" panose="02020603050405020304" pitchFamily="18" charset="0"/>
                <a:cs typeface="Times New Roman" panose="02020603050405020304" pitchFamily="18" charset="0"/>
              </a:rPr>
              <a:t>Instance-Based K-Nearest Neighbor (IBK)</a:t>
            </a:r>
          </a:p>
          <a:p>
            <a:pPr lvl="1" algn="just">
              <a:spcBef>
                <a:spcPts val="600"/>
              </a:spcBef>
            </a:pPr>
            <a:r>
              <a:rPr lang="en-US" sz="1600" dirty="0">
                <a:latin typeface="Times New Roman" panose="02020603050405020304" pitchFamily="18" charset="0"/>
                <a:cs typeface="Times New Roman" panose="02020603050405020304" pitchFamily="18" charset="0"/>
              </a:rPr>
              <a:t>Applies a KNN technique that evaluates known values near an unknown data point and predicts unknown values using the measured values. </a:t>
            </a:r>
          </a:p>
          <a:p>
            <a:pPr lvl="1">
              <a:spcBef>
                <a:spcPts val="600"/>
              </a:spcBef>
            </a:pPr>
            <a:r>
              <a:rPr lang="en-US" sz="1600" dirty="0">
                <a:latin typeface="Times New Roman" panose="02020603050405020304" pitchFamily="18" charset="0"/>
                <a:cs typeface="Times New Roman" panose="02020603050405020304" pitchFamily="18" charset="0"/>
              </a:rPr>
              <a:t>The classifier can locate the nearest training instance (in Euclidean distance) as well as different attributes such as numeric, date, unary, binary, missing attributes when classifying a training instance [15].</a:t>
            </a:r>
          </a:p>
          <a:p>
            <a:pPr lvl="1">
              <a:spcBef>
                <a:spcPts val="600"/>
              </a:spcBef>
            </a:pPr>
            <a:r>
              <a:rPr lang="en-US" sz="1600" dirty="0">
                <a:latin typeface="Times New Roman" panose="02020603050405020304" pitchFamily="18" charset="0"/>
                <a:cs typeface="Times New Roman" panose="02020603050405020304" pitchFamily="18" charset="0"/>
              </a:rPr>
              <a:t>It trains and tests a model with a single instance.</a:t>
            </a:r>
          </a:p>
          <a:p>
            <a:pPr lvl="1">
              <a:spcBef>
                <a:spcPts val="600"/>
              </a:spcBef>
            </a:pPr>
            <a:r>
              <a:rPr lang="en-US" sz="1600" dirty="0">
                <a:latin typeface="Times New Roman" panose="02020603050405020304" pitchFamily="18" charset="0"/>
                <a:cs typeface="Times New Roman" panose="02020603050405020304" pitchFamily="18" charset="0"/>
              </a:rPr>
              <a:t>It employs cross-validation to pick the optimal value for K.</a:t>
            </a:r>
          </a:p>
          <a:p>
            <a:pPr>
              <a:spcBef>
                <a:spcPts val="600"/>
              </a:spcBef>
            </a:pPr>
            <a:r>
              <a:rPr lang="en-US" sz="2000" dirty="0" err="1">
                <a:latin typeface="Times New Roman" panose="02020603050405020304" pitchFamily="18" charset="0"/>
                <a:cs typeface="Times New Roman" panose="02020603050405020304" pitchFamily="18" charset="0"/>
              </a:rPr>
              <a:t>Kstar</a:t>
            </a:r>
            <a:endParaRPr lang="en-US" sz="2000" dirty="0">
              <a:latin typeface="Times New Roman" panose="02020603050405020304" pitchFamily="18" charset="0"/>
              <a:cs typeface="Times New Roman" panose="02020603050405020304" pitchFamily="18" charset="0"/>
            </a:endParaRPr>
          </a:p>
          <a:p>
            <a:pPr lvl="1">
              <a:spcBef>
                <a:spcPts val="600"/>
              </a:spcBef>
            </a:pPr>
            <a:r>
              <a:rPr lang="en-US" sz="1600" dirty="0">
                <a:latin typeface="Times New Roman" panose="02020603050405020304" pitchFamily="18" charset="0"/>
                <a:cs typeface="Times New Roman" panose="02020603050405020304" pitchFamily="18" charset="0"/>
              </a:rPr>
              <a:t>It is a lazy learning algorithm that seeks to split n data points into k clusters such that each data point is categorized into the closest neighbor [16].</a:t>
            </a:r>
          </a:p>
          <a:p>
            <a:pPr lvl="1">
              <a:spcBef>
                <a:spcPts val="600"/>
              </a:spcBef>
            </a:pPr>
            <a:r>
              <a:rPr lang="en-US" sz="1600" dirty="0">
                <a:latin typeface="Times New Roman" panose="02020603050405020304" pitchFamily="18" charset="0"/>
                <a:cs typeface="Times New Roman" panose="02020603050405020304" pitchFamily="18" charset="0"/>
              </a:rPr>
              <a:t>The K technique, known as an instance-based learner, uses the KNN approach with entropy as a distance metric [17].</a:t>
            </a:r>
          </a:p>
          <a:p>
            <a:pPr lvl="1">
              <a:spcBef>
                <a:spcPts val="600"/>
              </a:spcBef>
            </a:pPr>
            <a:r>
              <a:rPr lang="en-US" sz="1600" dirty="0">
                <a:latin typeface="Times New Roman" panose="02020603050405020304" pitchFamily="18" charset="0"/>
                <a:cs typeface="Times New Roman" panose="02020603050405020304" pitchFamily="18" charset="0"/>
              </a:rPr>
              <a:t>The fundamental distinction between </a:t>
            </a:r>
            <a:r>
              <a:rPr lang="en-US" sz="1600" dirty="0" err="1">
                <a:latin typeface="Times New Roman" panose="02020603050405020304" pitchFamily="18" charset="0"/>
                <a:cs typeface="Times New Roman" panose="02020603050405020304" pitchFamily="18" charset="0"/>
              </a:rPr>
              <a:t>KStar</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IBk</a:t>
            </a:r>
            <a:r>
              <a:rPr lang="en-US" sz="1600" dirty="0">
                <a:latin typeface="Times New Roman" panose="02020603050405020304" pitchFamily="18" charset="0"/>
                <a:cs typeface="Times New Roman" panose="02020603050405020304" pitchFamily="18" charset="0"/>
              </a:rPr>
              <a:t> classification techniques is the definition used to describe the distance measure.</a:t>
            </a:r>
          </a:p>
          <a:p>
            <a:pPr lvl="1">
              <a:spcBef>
                <a:spcPts val="600"/>
              </a:spcBef>
            </a:pPr>
            <a:endParaRPr lang="en-US" sz="16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B9318C6-6308-43EF-A97F-13D6709AB8D5}"/>
              </a:ext>
            </a:extLst>
          </p:cNvPr>
          <p:cNvSpPr>
            <a:spLocks noGrp="1"/>
          </p:cNvSpPr>
          <p:nvPr>
            <p:ph type="dt" sz="half" idx="10"/>
          </p:nvPr>
        </p:nvSpPr>
        <p:spPr/>
        <p:txBody>
          <a:bodyPr/>
          <a:lstStyle/>
          <a:p>
            <a:fld id="{0B573522-4F0E-4552-B4A9-F39343BCD021}" type="datetime1">
              <a:rPr lang="en-US" smtClean="0"/>
              <a:t>1/20/2022</a:t>
            </a:fld>
            <a:endParaRPr lang="en-US" dirty="0"/>
          </a:p>
        </p:txBody>
      </p:sp>
      <p:sp>
        <p:nvSpPr>
          <p:cNvPr id="5" name="Slide Number Placeholder 4">
            <a:extLst>
              <a:ext uri="{FF2B5EF4-FFF2-40B4-BE49-F238E27FC236}">
                <a16:creationId xmlns:a16="http://schemas.microsoft.com/office/drawing/2014/main" id="{B210307B-1412-4409-8DE1-1CE9FAC2BD4B}"/>
              </a:ext>
            </a:extLst>
          </p:cNvPr>
          <p:cNvSpPr>
            <a:spLocks noGrp="1"/>
          </p:cNvSpPr>
          <p:nvPr>
            <p:ph type="sldNum" sz="quarter" idx="12"/>
          </p:nvPr>
        </p:nvSpPr>
        <p:spPr/>
        <p:txBody>
          <a:bodyPr/>
          <a:lstStyle/>
          <a:p>
            <a:fld id="{DF28FB93-0A08-4E7D-8E63-9EFA29F1E093}" type="slidenum">
              <a:rPr lang="en-US" smtClean="0"/>
              <a:pPr/>
              <a:t>12</a:t>
            </a:fld>
            <a:endParaRPr lang="en-US" dirty="0"/>
          </a:p>
        </p:txBody>
      </p:sp>
    </p:spTree>
    <p:extLst>
      <p:ext uri="{BB962C8B-B14F-4D97-AF65-F5344CB8AC3E}">
        <p14:creationId xmlns:p14="http://schemas.microsoft.com/office/powerpoint/2010/main" val="1032849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37A19-9F1E-4ED5-93EC-EF6229106F18}"/>
              </a:ext>
            </a:extLst>
          </p:cNvPr>
          <p:cNvSpPr>
            <a:spLocks noGrp="1"/>
          </p:cNvSpPr>
          <p:nvPr>
            <p:ph type="title"/>
          </p:nvPr>
        </p:nvSpPr>
        <p:spPr>
          <a:xfrm>
            <a:off x="1522876" y="609600"/>
            <a:ext cx="9143538" cy="645935"/>
          </a:xfrm>
        </p:spPr>
        <p:txBody>
          <a:bodyPr>
            <a:normAutofit/>
          </a:bodyPr>
          <a:lstStyle/>
          <a:p>
            <a:r>
              <a:rPr lang="en-US" dirty="0">
                <a:latin typeface="Times New Roman" panose="02020603050405020304" pitchFamily="18" charset="0"/>
                <a:cs typeface="Times New Roman" panose="02020603050405020304" pitchFamily="18" charset="0"/>
              </a:rPr>
              <a:t>Methodology Cont.</a:t>
            </a:r>
          </a:p>
        </p:txBody>
      </p:sp>
      <p:sp>
        <p:nvSpPr>
          <p:cNvPr id="3" name="Content Placeholder 2">
            <a:extLst>
              <a:ext uri="{FF2B5EF4-FFF2-40B4-BE49-F238E27FC236}">
                <a16:creationId xmlns:a16="http://schemas.microsoft.com/office/drawing/2014/main" id="{891089CC-4DAC-4AA1-9127-C0E306971541}"/>
              </a:ext>
            </a:extLst>
          </p:cNvPr>
          <p:cNvSpPr>
            <a:spLocks noGrp="1"/>
          </p:cNvSpPr>
          <p:nvPr>
            <p:ph idx="1"/>
          </p:nvPr>
        </p:nvSpPr>
        <p:spPr>
          <a:xfrm>
            <a:off x="1522876" y="1524000"/>
            <a:ext cx="9143538" cy="4078465"/>
          </a:xfrm>
        </p:spPr>
        <p:txBody>
          <a:bodyPr>
            <a:noAutofit/>
          </a:bodyPr>
          <a:lstStyle/>
          <a:p>
            <a:pPr>
              <a:spcBef>
                <a:spcPts val="600"/>
              </a:spcBef>
            </a:pPr>
            <a:r>
              <a:rPr lang="en-US" sz="2000" dirty="0">
                <a:latin typeface="Times New Roman" panose="02020603050405020304" pitchFamily="18" charset="0"/>
                <a:cs typeface="Times New Roman" panose="02020603050405020304" pitchFamily="18" charset="0"/>
              </a:rPr>
              <a:t>SPAARC</a:t>
            </a:r>
          </a:p>
          <a:p>
            <a:pPr lvl="1">
              <a:spcBef>
                <a:spcPts val="600"/>
              </a:spcBef>
            </a:pPr>
            <a:r>
              <a:rPr lang="en-US" sz="1600" dirty="0">
                <a:latin typeface="Times New Roman" panose="02020603050405020304" pitchFamily="18" charset="0"/>
                <a:cs typeface="Times New Roman" panose="02020603050405020304" pitchFamily="18" charset="0"/>
              </a:rPr>
              <a:t>SPAARC stands for Split-Point And Attribute Reduced Classifier.</a:t>
            </a:r>
          </a:p>
          <a:p>
            <a:pPr lvl="1">
              <a:spcBef>
                <a:spcPts val="600"/>
              </a:spcBef>
            </a:pPr>
            <a:r>
              <a:rPr lang="en-US" sz="1600" dirty="0">
                <a:latin typeface="Times New Roman" panose="02020603050405020304" pitchFamily="18" charset="0"/>
                <a:cs typeface="Times New Roman" panose="02020603050405020304" pitchFamily="18" charset="0"/>
              </a:rPr>
              <a:t>It is a decision tree-based supervised machine learning algorithm.</a:t>
            </a:r>
          </a:p>
          <a:p>
            <a:pPr lvl="1" algn="just">
              <a:spcBef>
                <a:spcPts val="600"/>
              </a:spcBef>
            </a:pPr>
            <a:r>
              <a:rPr lang="en-US" sz="1600" dirty="0">
                <a:latin typeface="Times New Roman" panose="02020603050405020304" pitchFamily="18" charset="0"/>
                <a:cs typeface="Times New Roman" panose="02020603050405020304" pitchFamily="18" charset="0"/>
              </a:rPr>
              <a:t>Consists of two elements to address computational issues in handling high dimensional datasets: (1) analyzing the numerical attribute of the tree-node split points, and (2) dynamically changing the node attribute collection space.</a:t>
            </a:r>
          </a:p>
          <a:p>
            <a:pPr lvl="1" algn="just">
              <a:spcBef>
                <a:spcPts val="600"/>
              </a:spcBef>
            </a:pPr>
            <a:r>
              <a:rPr lang="en-US" sz="1600" dirty="0">
                <a:latin typeface="Times New Roman" panose="02020603050405020304" pitchFamily="18" charset="0"/>
                <a:cs typeface="Times New Roman" panose="02020603050405020304" pitchFamily="18" charset="0"/>
              </a:rPr>
              <a:t>The first approach involves systematically picking features with above-average knowledge gains, then using the current tree depth level to move between all features and the chosen node checking subspace.</a:t>
            </a:r>
          </a:p>
          <a:p>
            <a:pPr lvl="1" algn="just">
              <a:spcBef>
                <a:spcPts val="600"/>
              </a:spcBef>
            </a:pPr>
            <a:r>
              <a:rPr lang="en-US" sz="1600" dirty="0">
                <a:latin typeface="Times New Roman" panose="02020603050405020304" pitchFamily="18" charset="0"/>
                <a:cs typeface="Times New Roman" panose="02020603050405020304" pitchFamily="18" charset="0"/>
              </a:rPr>
              <a:t>The second approach measures the potential split-point feature value by jumping around the different space values at equivalent widths right before the tree algorithm’s information gain calculations.</a:t>
            </a:r>
          </a:p>
          <a:p>
            <a:pPr lvl="1" algn="just">
              <a:spcBef>
                <a:spcPts val="600"/>
              </a:spcBef>
            </a:pPr>
            <a:r>
              <a:rPr lang="en-US" sz="1600" dirty="0">
                <a:latin typeface="Times New Roman" panose="02020603050405020304" pitchFamily="18" charset="0"/>
                <a:cs typeface="Times New Roman" panose="02020603050405020304" pitchFamily="18" charset="0"/>
              </a:rPr>
              <a:t>Reduces the computational cost of the decision tree algorithm, which makes the algorithm more efficient for the classification of any kind of data.</a:t>
            </a:r>
          </a:p>
        </p:txBody>
      </p:sp>
      <p:sp>
        <p:nvSpPr>
          <p:cNvPr id="4" name="Date Placeholder 3">
            <a:extLst>
              <a:ext uri="{FF2B5EF4-FFF2-40B4-BE49-F238E27FC236}">
                <a16:creationId xmlns:a16="http://schemas.microsoft.com/office/drawing/2014/main" id="{34077C55-9DE1-43AA-AC47-54301C760357}"/>
              </a:ext>
            </a:extLst>
          </p:cNvPr>
          <p:cNvSpPr>
            <a:spLocks noGrp="1"/>
          </p:cNvSpPr>
          <p:nvPr>
            <p:ph type="dt" sz="half" idx="10"/>
          </p:nvPr>
        </p:nvSpPr>
        <p:spPr/>
        <p:txBody>
          <a:bodyPr/>
          <a:lstStyle/>
          <a:p>
            <a:fld id="{0B573522-4F0E-4552-B4A9-F39343BCD021}" type="datetime1">
              <a:rPr lang="en-US" smtClean="0"/>
              <a:t>1/20/2022</a:t>
            </a:fld>
            <a:endParaRPr lang="en-US" dirty="0"/>
          </a:p>
        </p:txBody>
      </p:sp>
      <p:sp>
        <p:nvSpPr>
          <p:cNvPr id="5" name="Slide Number Placeholder 4">
            <a:extLst>
              <a:ext uri="{FF2B5EF4-FFF2-40B4-BE49-F238E27FC236}">
                <a16:creationId xmlns:a16="http://schemas.microsoft.com/office/drawing/2014/main" id="{90765C42-7C44-4A15-9984-48A2D74F1286}"/>
              </a:ext>
            </a:extLst>
          </p:cNvPr>
          <p:cNvSpPr>
            <a:spLocks noGrp="1"/>
          </p:cNvSpPr>
          <p:nvPr>
            <p:ph type="sldNum" sz="quarter" idx="12"/>
          </p:nvPr>
        </p:nvSpPr>
        <p:spPr/>
        <p:txBody>
          <a:bodyPr/>
          <a:lstStyle/>
          <a:p>
            <a:fld id="{DF28FB93-0A08-4E7D-8E63-9EFA29F1E093}" type="slidenum">
              <a:rPr lang="en-US" smtClean="0"/>
              <a:pPr/>
              <a:t>13</a:t>
            </a:fld>
            <a:endParaRPr lang="en-US" dirty="0"/>
          </a:p>
        </p:txBody>
      </p:sp>
    </p:spTree>
    <p:extLst>
      <p:ext uri="{BB962C8B-B14F-4D97-AF65-F5344CB8AC3E}">
        <p14:creationId xmlns:p14="http://schemas.microsoft.com/office/powerpoint/2010/main" val="1280029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A5E3F-6AED-4F0F-947D-332B9F8E9371}"/>
              </a:ext>
            </a:extLst>
          </p:cNvPr>
          <p:cNvSpPr>
            <a:spLocks noGrp="1"/>
          </p:cNvSpPr>
          <p:nvPr>
            <p:ph type="title"/>
          </p:nvPr>
        </p:nvSpPr>
        <p:spPr>
          <a:xfrm>
            <a:off x="1522876" y="609600"/>
            <a:ext cx="9143538" cy="645935"/>
          </a:xfrm>
        </p:spPr>
        <p:txBody>
          <a:bodyPr>
            <a:normAutofit/>
          </a:bodyPr>
          <a:lstStyle/>
          <a:p>
            <a:r>
              <a:rPr lang="en-US" dirty="0">
                <a:latin typeface="Times New Roman" panose="02020603050405020304" pitchFamily="18" charset="0"/>
                <a:cs typeface="Times New Roman" panose="02020603050405020304" pitchFamily="18" charset="0"/>
              </a:rPr>
              <a:t>Methodology Cont.</a:t>
            </a:r>
          </a:p>
        </p:txBody>
      </p:sp>
      <p:sp>
        <p:nvSpPr>
          <p:cNvPr id="3" name="Content Placeholder 2">
            <a:extLst>
              <a:ext uri="{FF2B5EF4-FFF2-40B4-BE49-F238E27FC236}">
                <a16:creationId xmlns:a16="http://schemas.microsoft.com/office/drawing/2014/main" id="{DB9453DA-632A-4B4A-91FB-345BA8009362}"/>
              </a:ext>
            </a:extLst>
          </p:cNvPr>
          <p:cNvSpPr>
            <a:spLocks noGrp="1"/>
          </p:cNvSpPr>
          <p:nvPr>
            <p:ph idx="1"/>
          </p:nvPr>
        </p:nvSpPr>
        <p:spPr>
          <a:xfrm>
            <a:off x="1522876" y="1524000"/>
            <a:ext cx="9143538" cy="4078465"/>
          </a:xfrm>
        </p:spPr>
        <p:txBody>
          <a:bodyPr>
            <a:normAutofit/>
          </a:bodyPr>
          <a:lstStyle/>
          <a:p>
            <a:pPr>
              <a:spcBef>
                <a:spcPts val="600"/>
              </a:spcBef>
            </a:pPr>
            <a:r>
              <a:rPr lang="en-US" sz="2000" dirty="0">
                <a:latin typeface="Times New Roman" panose="02020603050405020304" pitchFamily="18" charset="0"/>
                <a:cs typeface="Times New Roman" panose="02020603050405020304" pitchFamily="18" charset="0"/>
              </a:rPr>
              <a:t>Random Forest</a:t>
            </a:r>
          </a:p>
          <a:p>
            <a:pPr lvl="1">
              <a:spcBef>
                <a:spcPts val="600"/>
              </a:spcBef>
            </a:pPr>
            <a:r>
              <a:rPr lang="en-US" sz="1600" dirty="0">
                <a:latin typeface="Times New Roman" panose="02020603050405020304" pitchFamily="18" charset="0"/>
                <a:cs typeface="Times New Roman" panose="02020603050405020304" pitchFamily="18" charset="0"/>
              </a:rPr>
              <a:t>It is a type of ensemble learning algorithm.</a:t>
            </a:r>
          </a:p>
          <a:p>
            <a:pPr lvl="1">
              <a:spcBef>
                <a:spcPts val="600"/>
              </a:spcBef>
            </a:pPr>
            <a:r>
              <a:rPr lang="en-US" sz="1600" dirty="0">
                <a:latin typeface="Times New Roman" panose="02020603050405020304" pitchFamily="18" charset="0"/>
                <a:cs typeface="Times New Roman" panose="02020603050405020304" pitchFamily="18" charset="0"/>
              </a:rPr>
              <a:t>It is derived from Decision Tree.</a:t>
            </a:r>
          </a:p>
          <a:p>
            <a:pPr lvl="1">
              <a:spcBef>
                <a:spcPts val="600"/>
              </a:spcBef>
            </a:pPr>
            <a:r>
              <a:rPr lang="en-US" sz="1600" dirty="0">
                <a:latin typeface="Times New Roman" panose="02020603050405020304" pitchFamily="18" charset="0"/>
                <a:cs typeface="Times New Roman" panose="02020603050405020304" pitchFamily="18" charset="0"/>
              </a:rPr>
              <a:t>Used for both of classification and regression.</a:t>
            </a:r>
          </a:p>
          <a:p>
            <a:pPr lvl="1">
              <a:spcBef>
                <a:spcPts val="600"/>
              </a:spcBef>
            </a:pPr>
            <a:r>
              <a:rPr lang="en-US" sz="1600" dirty="0">
                <a:latin typeface="Times New Roman" panose="02020603050405020304" pitchFamily="18" charset="0"/>
                <a:cs typeface="Times New Roman" panose="02020603050405020304" pitchFamily="18" charset="0"/>
              </a:rPr>
              <a:t>It is able to deal with higher dimensional datasets with relatively higher efficiency [18].</a:t>
            </a:r>
          </a:p>
          <a:p>
            <a:pPr>
              <a:spcBef>
                <a:spcPts val="600"/>
              </a:spcBef>
            </a:pPr>
            <a:r>
              <a:rPr lang="en-US" sz="2000" dirty="0">
                <a:latin typeface="Times New Roman" panose="02020603050405020304" pitchFamily="18" charset="0"/>
                <a:cs typeface="Times New Roman" panose="02020603050405020304" pitchFamily="18" charset="0"/>
              </a:rPr>
              <a:t>Random Tree</a:t>
            </a:r>
          </a:p>
          <a:p>
            <a:pPr lvl="1">
              <a:spcBef>
                <a:spcPts val="600"/>
              </a:spcBef>
            </a:pPr>
            <a:r>
              <a:rPr lang="en-US" sz="1600" dirty="0">
                <a:latin typeface="Times New Roman" panose="02020603050405020304" pitchFamily="18" charset="0"/>
                <a:cs typeface="Times New Roman" panose="02020603050405020304" pitchFamily="18" charset="0"/>
              </a:rPr>
              <a:t>RT is an ensemble type of supervised machine learning algorithm, which derives multiple learners. </a:t>
            </a:r>
          </a:p>
          <a:p>
            <a:pPr lvl="1">
              <a:spcBef>
                <a:spcPts val="600"/>
              </a:spcBef>
            </a:pPr>
            <a:r>
              <a:rPr lang="en-US" sz="1600" dirty="0">
                <a:latin typeface="Times New Roman" panose="02020603050405020304" pitchFamily="18" charset="0"/>
                <a:cs typeface="Times New Roman" panose="02020603050405020304" pitchFamily="18" charset="0"/>
              </a:rPr>
              <a:t>A decision tree is built by generating a random set of data, which is generated by exploiting the bagging method [19].</a:t>
            </a:r>
          </a:p>
          <a:p>
            <a:pPr lvl="1">
              <a:spcBef>
                <a:spcPts val="600"/>
              </a:spcBef>
            </a:pPr>
            <a:r>
              <a:rPr lang="en-US" sz="1600" dirty="0">
                <a:latin typeface="Times New Roman" panose="02020603050405020304" pitchFamily="18" charset="0"/>
                <a:cs typeface="Times New Roman" panose="02020603050405020304" pitchFamily="18" charset="0"/>
              </a:rPr>
              <a:t>It is upgraded version of Random forest.</a:t>
            </a:r>
          </a:p>
        </p:txBody>
      </p:sp>
      <p:sp>
        <p:nvSpPr>
          <p:cNvPr id="4" name="Date Placeholder 3">
            <a:extLst>
              <a:ext uri="{FF2B5EF4-FFF2-40B4-BE49-F238E27FC236}">
                <a16:creationId xmlns:a16="http://schemas.microsoft.com/office/drawing/2014/main" id="{640DA1CD-FF59-49C5-9DA1-22D073000562}"/>
              </a:ext>
            </a:extLst>
          </p:cNvPr>
          <p:cNvSpPr>
            <a:spLocks noGrp="1"/>
          </p:cNvSpPr>
          <p:nvPr>
            <p:ph type="dt" sz="half" idx="10"/>
          </p:nvPr>
        </p:nvSpPr>
        <p:spPr/>
        <p:txBody>
          <a:bodyPr/>
          <a:lstStyle/>
          <a:p>
            <a:fld id="{0B573522-4F0E-4552-B4A9-F39343BCD021}" type="datetime1">
              <a:rPr lang="en-US" smtClean="0"/>
              <a:t>1/20/2022</a:t>
            </a:fld>
            <a:endParaRPr lang="en-US" dirty="0"/>
          </a:p>
        </p:txBody>
      </p:sp>
      <p:sp>
        <p:nvSpPr>
          <p:cNvPr id="5" name="Slide Number Placeholder 4">
            <a:extLst>
              <a:ext uri="{FF2B5EF4-FFF2-40B4-BE49-F238E27FC236}">
                <a16:creationId xmlns:a16="http://schemas.microsoft.com/office/drawing/2014/main" id="{7926F53D-9928-46E7-8C7E-69B3E868C9C2}"/>
              </a:ext>
            </a:extLst>
          </p:cNvPr>
          <p:cNvSpPr>
            <a:spLocks noGrp="1"/>
          </p:cNvSpPr>
          <p:nvPr>
            <p:ph type="sldNum" sz="quarter" idx="12"/>
          </p:nvPr>
        </p:nvSpPr>
        <p:spPr/>
        <p:txBody>
          <a:bodyPr/>
          <a:lstStyle/>
          <a:p>
            <a:fld id="{DF28FB93-0A08-4E7D-8E63-9EFA29F1E093}" type="slidenum">
              <a:rPr lang="en-US" smtClean="0"/>
              <a:pPr/>
              <a:t>14</a:t>
            </a:fld>
            <a:endParaRPr lang="en-US" dirty="0"/>
          </a:p>
        </p:txBody>
      </p:sp>
    </p:spTree>
    <p:extLst>
      <p:ext uri="{BB962C8B-B14F-4D97-AF65-F5344CB8AC3E}">
        <p14:creationId xmlns:p14="http://schemas.microsoft.com/office/powerpoint/2010/main" val="1054187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772A7-0328-403A-87A4-9CC6DCEFFF67}"/>
              </a:ext>
            </a:extLst>
          </p:cNvPr>
          <p:cNvSpPr>
            <a:spLocks noGrp="1"/>
          </p:cNvSpPr>
          <p:nvPr>
            <p:ph type="title"/>
          </p:nvPr>
        </p:nvSpPr>
        <p:spPr>
          <a:xfrm>
            <a:off x="1522876" y="609600"/>
            <a:ext cx="9143538" cy="645935"/>
          </a:xfrm>
        </p:spPr>
        <p:txBody>
          <a:bodyPr>
            <a:normAutofit/>
          </a:bodyPr>
          <a:lstStyle/>
          <a:p>
            <a:r>
              <a:rPr lang="en-US" dirty="0">
                <a:latin typeface="Times New Roman" panose="02020603050405020304" pitchFamily="18" charset="0"/>
                <a:cs typeface="Times New Roman" panose="02020603050405020304" pitchFamily="18" charset="0"/>
              </a:rPr>
              <a:t>Methodology Cont.</a:t>
            </a:r>
          </a:p>
        </p:txBody>
      </p:sp>
      <p:sp>
        <p:nvSpPr>
          <p:cNvPr id="3" name="Content Placeholder 2">
            <a:extLst>
              <a:ext uri="{FF2B5EF4-FFF2-40B4-BE49-F238E27FC236}">
                <a16:creationId xmlns:a16="http://schemas.microsoft.com/office/drawing/2014/main" id="{F2DB1BD1-8510-4634-8049-74BCF6C31A91}"/>
              </a:ext>
            </a:extLst>
          </p:cNvPr>
          <p:cNvSpPr>
            <a:spLocks noGrp="1"/>
          </p:cNvSpPr>
          <p:nvPr>
            <p:ph idx="1"/>
          </p:nvPr>
        </p:nvSpPr>
        <p:spPr>
          <a:xfrm>
            <a:off x="1522876" y="1447800"/>
            <a:ext cx="9143538" cy="4154665"/>
          </a:xfrm>
        </p:spPr>
        <p:txBody>
          <a:bodyPr>
            <a:normAutofit/>
          </a:bodyPr>
          <a:lstStyle/>
          <a:p>
            <a:r>
              <a:rPr lang="en-US" sz="2000" dirty="0">
                <a:latin typeface="Times New Roman" panose="02020603050405020304" pitchFamily="18" charset="0"/>
                <a:cs typeface="Times New Roman" panose="02020603050405020304" pitchFamily="18" charset="0"/>
              </a:rPr>
              <a:t>Performance Analysis</a:t>
            </a:r>
          </a:p>
        </p:txBody>
      </p:sp>
      <p:sp>
        <p:nvSpPr>
          <p:cNvPr id="4" name="Date Placeholder 3">
            <a:extLst>
              <a:ext uri="{FF2B5EF4-FFF2-40B4-BE49-F238E27FC236}">
                <a16:creationId xmlns:a16="http://schemas.microsoft.com/office/drawing/2014/main" id="{9B00D1A6-1FBC-4C3E-83C4-8D374BBE8B22}"/>
              </a:ext>
            </a:extLst>
          </p:cNvPr>
          <p:cNvSpPr>
            <a:spLocks noGrp="1"/>
          </p:cNvSpPr>
          <p:nvPr>
            <p:ph type="dt" sz="half" idx="10"/>
          </p:nvPr>
        </p:nvSpPr>
        <p:spPr/>
        <p:txBody>
          <a:bodyPr/>
          <a:lstStyle/>
          <a:p>
            <a:fld id="{0B573522-4F0E-4552-B4A9-F39343BCD021}" type="datetime1">
              <a:rPr lang="en-US" smtClean="0"/>
              <a:t>1/20/2022</a:t>
            </a:fld>
            <a:endParaRPr lang="en-US" dirty="0"/>
          </a:p>
        </p:txBody>
      </p:sp>
      <p:sp>
        <p:nvSpPr>
          <p:cNvPr id="5" name="Slide Number Placeholder 4">
            <a:extLst>
              <a:ext uri="{FF2B5EF4-FFF2-40B4-BE49-F238E27FC236}">
                <a16:creationId xmlns:a16="http://schemas.microsoft.com/office/drawing/2014/main" id="{61F5FF40-2D89-4012-91E7-E71C3C3F72C1}"/>
              </a:ext>
            </a:extLst>
          </p:cNvPr>
          <p:cNvSpPr>
            <a:spLocks noGrp="1"/>
          </p:cNvSpPr>
          <p:nvPr>
            <p:ph type="sldNum" sz="quarter" idx="12"/>
          </p:nvPr>
        </p:nvSpPr>
        <p:spPr/>
        <p:txBody>
          <a:bodyPr/>
          <a:lstStyle/>
          <a:p>
            <a:fld id="{DF28FB93-0A08-4E7D-8E63-9EFA29F1E093}" type="slidenum">
              <a:rPr lang="en-US" smtClean="0"/>
              <a:pPr/>
              <a:t>15</a:t>
            </a:fld>
            <a:endParaRPr lang="en-US" dirty="0"/>
          </a:p>
        </p:txBody>
      </p:sp>
      <mc:AlternateContent xmlns:mc="http://schemas.openxmlformats.org/markup-compatibility/2006" xmlns:a14="http://schemas.microsoft.com/office/drawing/2010/main">
        <mc:Choice Requires="a14">
          <p:graphicFrame>
            <p:nvGraphicFramePr>
              <p:cNvPr id="7" name="Table 7">
                <a:extLst>
                  <a:ext uri="{FF2B5EF4-FFF2-40B4-BE49-F238E27FC236}">
                    <a16:creationId xmlns:a16="http://schemas.microsoft.com/office/drawing/2014/main" id="{B931A309-31CE-407E-95E8-2A2B4DDA407A}"/>
                  </a:ext>
                </a:extLst>
              </p:cNvPr>
              <p:cNvGraphicFramePr>
                <a:graphicFrameLocks noGrp="1"/>
              </p:cNvGraphicFramePr>
              <p:nvPr>
                <p:extLst>
                  <p:ext uri="{D42A27DB-BD31-4B8C-83A1-F6EECF244321}">
                    <p14:modId xmlns:p14="http://schemas.microsoft.com/office/powerpoint/2010/main" val="1488986754"/>
                  </p:ext>
                </p:extLst>
              </p:nvPr>
            </p:nvGraphicFramePr>
            <p:xfrm>
              <a:off x="1827211" y="2146931"/>
              <a:ext cx="8534402" cy="3642039"/>
            </p:xfrm>
            <a:graphic>
              <a:graphicData uri="http://schemas.openxmlformats.org/drawingml/2006/table">
                <a:tbl>
                  <a:tblPr firstRow="1" bandRow="1">
                    <a:tableStyleId>{93296810-A885-4BE3-A3E7-6D5BEEA58F35}</a:tableStyleId>
                  </a:tblPr>
                  <a:tblGrid>
                    <a:gridCol w="1295401">
                      <a:extLst>
                        <a:ext uri="{9D8B030D-6E8A-4147-A177-3AD203B41FA5}">
                          <a16:colId xmlns:a16="http://schemas.microsoft.com/office/drawing/2014/main" val="3135984999"/>
                        </a:ext>
                      </a:extLst>
                    </a:gridCol>
                    <a:gridCol w="2743200">
                      <a:extLst>
                        <a:ext uri="{9D8B030D-6E8A-4147-A177-3AD203B41FA5}">
                          <a16:colId xmlns:a16="http://schemas.microsoft.com/office/drawing/2014/main" val="793158315"/>
                        </a:ext>
                      </a:extLst>
                    </a:gridCol>
                    <a:gridCol w="1828801">
                      <a:extLst>
                        <a:ext uri="{9D8B030D-6E8A-4147-A177-3AD203B41FA5}">
                          <a16:colId xmlns:a16="http://schemas.microsoft.com/office/drawing/2014/main" val="1028867024"/>
                        </a:ext>
                      </a:extLst>
                    </a:gridCol>
                    <a:gridCol w="2667000">
                      <a:extLst>
                        <a:ext uri="{9D8B030D-6E8A-4147-A177-3AD203B41FA5}">
                          <a16:colId xmlns:a16="http://schemas.microsoft.com/office/drawing/2014/main" val="2655288071"/>
                        </a:ext>
                      </a:extLst>
                    </a:gridCol>
                  </a:tblGrid>
                  <a:tr h="272914">
                    <a:tc>
                      <a:txBody>
                        <a:bodyPr/>
                        <a:lstStyle/>
                        <a:p>
                          <a:pPr marL="0" marR="0" algn="just">
                            <a:lnSpc>
                              <a:spcPct val="107000"/>
                            </a:lnSpc>
                            <a:spcBef>
                              <a:spcPts val="0"/>
                            </a:spcBef>
                            <a:spcAft>
                              <a:spcPts val="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Metrics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Formula</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Metrics</a:t>
                          </a:r>
                        </a:p>
                      </a:txBody>
                      <a:tcPr marL="68580" marR="68580" marT="0" marB="0"/>
                    </a:tc>
                    <a:tc>
                      <a:txBody>
                        <a:bodyPr/>
                        <a:lstStyle/>
                        <a:p>
                          <a:pPr marL="0" marR="0" algn="just">
                            <a:lnSpc>
                              <a:spcPct val="107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Formula</a:t>
                          </a:r>
                        </a:p>
                      </a:txBody>
                      <a:tcPr marL="68580" marR="68580" marT="0" marB="0"/>
                    </a:tc>
                    <a:extLst>
                      <a:ext uri="{0D108BD9-81ED-4DB2-BD59-A6C34878D82A}">
                        <a16:rowId xmlns:a16="http://schemas.microsoft.com/office/drawing/2014/main" val="722079220"/>
                      </a:ext>
                    </a:extLst>
                  </a:tr>
                  <a:tr h="560028">
                    <a:tc>
                      <a:txBody>
                        <a:bodyPr/>
                        <a:lstStyle/>
                        <a:p>
                          <a:pPr marL="0" marR="0" algn="just">
                            <a:lnSpc>
                              <a:spcPct val="107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Accuracy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𝐴</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𝑐</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𝑇𝑃</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𝑇𝑁</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𝑇𝑃</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𝑇𝑁</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𝐹𝑃</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𝐹𝑁</m:t>
                                    </m:r>
                                  </m:den>
                                </m:f>
                              </m:oMath>
                            </m:oMathPara>
                          </a14:m>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Recall</a:t>
                          </a:r>
                        </a:p>
                      </a:txBody>
                      <a:tcPr marL="68580" marR="68580" marT="0" marB="0"/>
                    </a:tc>
                    <a:tc>
                      <a:txBody>
                        <a:bodyPr/>
                        <a:lstStyle/>
                        <a:p>
                          <a:pPr marL="0" marR="0" algn="just">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𝑅𝑒𝑐</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𝑇𝑃</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𝑇𝑃</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𝐹𝑁</m:t>
                                    </m:r>
                                  </m:den>
                                </m:f>
                              </m:oMath>
                            </m:oMathPara>
                          </a14:m>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99627062"/>
                      </a:ext>
                    </a:extLst>
                  </a:tr>
                  <a:tr h="847141">
                    <a:tc>
                      <a:txBody>
                        <a:bodyPr/>
                        <a:lstStyle/>
                        <a:p>
                          <a:pPr marL="0" marR="0" algn="just">
                            <a:lnSpc>
                              <a:spcPct val="107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Sensitivity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𝑆𝑒𝑛</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𝑇𝑃</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𝑇𝑃</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𝐹𝑁</m:t>
                                    </m:r>
                                  </m:den>
                                </m:f>
                              </m:oMath>
                            </m:oMathPara>
                          </a14:m>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F-Measure</a:t>
                          </a:r>
                        </a:p>
                      </a:txBody>
                      <a:tcPr marL="68580" marR="68580" marT="0" marB="0"/>
                    </a:tc>
                    <a:tc>
                      <a:txBody>
                        <a:bodyPr/>
                        <a:lstStyle/>
                        <a:p>
                          <a:pPr marL="0" marR="0" algn="just">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𝐹𝑚</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2 (</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𝑇𝑃</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2 (</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𝑇𝑃</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𝐹𝑁</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𝐹𝑃</m:t>
                                    </m:r>
                                  </m:den>
                                </m:f>
                              </m:oMath>
                            </m:oMathPara>
                          </a14:m>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63383578"/>
                      </a:ext>
                    </a:extLst>
                  </a:tr>
                  <a:tr h="847141">
                    <a:tc>
                      <a:txBody>
                        <a:bodyPr/>
                        <a:lstStyle/>
                        <a:p>
                          <a:pPr marL="0" marR="0" algn="just">
                            <a:lnSpc>
                              <a:spcPct val="107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Specificity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𝑆𝑝𝑒</m:t>
                                </m:r>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𝐹𝑃</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𝐹𝑃</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𝑇𝑁</m:t>
                                    </m:r>
                                  </m:den>
                                </m:f>
                                <m:r>
                                  <a:rPr lang="en-US" sz="1800"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AUROC</a:t>
                          </a:r>
                        </a:p>
                      </a:txBody>
                      <a:tcPr marL="68580" marR="68580" marT="0" marB="0"/>
                    </a:tc>
                    <a:tc>
                      <a:txBody>
                        <a:bodyPr/>
                        <a:lstStyle/>
                        <a:p>
                          <a:pPr marL="0" marR="0" algn="just">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𝑇𝑃𝑅</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𝑇𝑃</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𝑇𝑃</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𝐹𝑁</m:t>
                                    </m:r>
                                  </m:den>
                                </m:f>
                              </m:oMath>
                            </m:oMathPara>
                          </a14:m>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𝐹𝑃𝑅</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𝐹𝑃</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𝐹𝑃</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𝑇𝑁</m:t>
                                    </m:r>
                                  </m:den>
                                </m:f>
                              </m:oMath>
                            </m:oMathPara>
                          </a14:m>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57527283"/>
                      </a:ext>
                    </a:extLst>
                  </a:tr>
                  <a:tr h="847141">
                    <a:tc>
                      <a:txBody>
                        <a:bodyPr/>
                        <a:lstStyle/>
                        <a:p>
                          <a:pPr marL="0" marR="0" algn="just">
                            <a:lnSpc>
                              <a:spcPct val="107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Precision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𝑃𝑟𝑒</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𝑇𝑃</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𝑇𝑃</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𝐹𝑃</m:t>
                                    </m:r>
                                  </m:den>
                                </m:f>
                              </m:oMath>
                            </m:oMathPara>
                          </a14:m>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Kappa Statistics</a:t>
                          </a:r>
                        </a:p>
                      </a:txBody>
                      <a:tcPr marL="68580" marR="68580" marT="0" marB="0"/>
                    </a:tc>
                    <a:tc>
                      <a:txBody>
                        <a:bodyPr/>
                        <a:lstStyle/>
                        <a:p>
                          <a:pPr marL="0" marR="0" algn="just">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𝐾</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𝑝</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𝑜</m:t>
                                        </m:r>
                                      </m:sub>
                                    </m:sSub>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𝑝</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𝑒</m:t>
                                        </m:r>
                                      </m:sub>
                                    </m:sSub>
                                  </m:den>
                                </m:f>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96599690"/>
                      </a:ext>
                    </a:extLst>
                  </a:tr>
                </a:tbl>
              </a:graphicData>
            </a:graphic>
          </p:graphicFrame>
        </mc:Choice>
        <mc:Fallback xmlns="">
          <p:graphicFrame>
            <p:nvGraphicFramePr>
              <p:cNvPr id="7" name="Table 7">
                <a:extLst>
                  <a:ext uri="{FF2B5EF4-FFF2-40B4-BE49-F238E27FC236}">
                    <a16:creationId xmlns:a16="http://schemas.microsoft.com/office/drawing/2014/main" id="{B931A309-31CE-407E-95E8-2A2B4DDA407A}"/>
                  </a:ext>
                </a:extLst>
              </p:cNvPr>
              <p:cNvGraphicFramePr>
                <a:graphicFrameLocks noGrp="1"/>
              </p:cNvGraphicFramePr>
              <p:nvPr>
                <p:extLst>
                  <p:ext uri="{D42A27DB-BD31-4B8C-83A1-F6EECF244321}">
                    <p14:modId xmlns:p14="http://schemas.microsoft.com/office/powerpoint/2010/main" val="1488986754"/>
                  </p:ext>
                </p:extLst>
              </p:nvPr>
            </p:nvGraphicFramePr>
            <p:xfrm>
              <a:off x="1827211" y="2146931"/>
              <a:ext cx="8534402" cy="3642039"/>
            </p:xfrm>
            <a:graphic>
              <a:graphicData uri="http://schemas.openxmlformats.org/drawingml/2006/table">
                <a:tbl>
                  <a:tblPr firstRow="1" bandRow="1">
                    <a:tableStyleId>{93296810-A885-4BE3-A3E7-6D5BEEA58F35}</a:tableStyleId>
                  </a:tblPr>
                  <a:tblGrid>
                    <a:gridCol w="1295401">
                      <a:extLst>
                        <a:ext uri="{9D8B030D-6E8A-4147-A177-3AD203B41FA5}">
                          <a16:colId xmlns:a16="http://schemas.microsoft.com/office/drawing/2014/main" val="3135984999"/>
                        </a:ext>
                      </a:extLst>
                    </a:gridCol>
                    <a:gridCol w="2743200">
                      <a:extLst>
                        <a:ext uri="{9D8B030D-6E8A-4147-A177-3AD203B41FA5}">
                          <a16:colId xmlns:a16="http://schemas.microsoft.com/office/drawing/2014/main" val="793158315"/>
                        </a:ext>
                      </a:extLst>
                    </a:gridCol>
                    <a:gridCol w="1828801">
                      <a:extLst>
                        <a:ext uri="{9D8B030D-6E8A-4147-A177-3AD203B41FA5}">
                          <a16:colId xmlns:a16="http://schemas.microsoft.com/office/drawing/2014/main" val="1028867024"/>
                        </a:ext>
                      </a:extLst>
                    </a:gridCol>
                    <a:gridCol w="2667000">
                      <a:extLst>
                        <a:ext uri="{9D8B030D-6E8A-4147-A177-3AD203B41FA5}">
                          <a16:colId xmlns:a16="http://schemas.microsoft.com/office/drawing/2014/main" val="2655288071"/>
                        </a:ext>
                      </a:extLst>
                    </a:gridCol>
                  </a:tblGrid>
                  <a:tr h="279019">
                    <a:tc>
                      <a:txBody>
                        <a:bodyPr/>
                        <a:lstStyle/>
                        <a:p>
                          <a:pPr marL="0" marR="0" algn="just">
                            <a:lnSpc>
                              <a:spcPct val="107000"/>
                            </a:lnSpc>
                            <a:spcBef>
                              <a:spcPts val="0"/>
                            </a:spcBef>
                            <a:spcAft>
                              <a:spcPts val="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Metrics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Formula</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Metrics</a:t>
                          </a:r>
                        </a:p>
                      </a:txBody>
                      <a:tcPr marL="68580" marR="68580" marT="0" marB="0"/>
                    </a:tc>
                    <a:tc>
                      <a:txBody>
                        <a:bodyPr/>
                        <a:lstStyle/>
                        <a:p>
                          <a:pPr marL="0" marR="0" algn="just">
                            <a:lnSpc>
                              <a:spcPct val="107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Formula</a:t>
                          </a:r>
                        </a:p>
                      </a:txBody>
                      <a:tcPr marL="68580" marR="68580" marT="0" marB="0"/>
                    </a:tc>
                    <a:extLst>
                      <a:ext uri="{0D108BD9-81ED-4DB2-BD59-A6C34878D82A}">
                        <a16:rowId xmlns:a16="http://schemas.microsoft.com/office/drawing/2014/main" val="722079220"/>
                      </a:ext>
                    </a:extLst>
                  </a:tr>
                  <a:tr h="560028">
                    <a:tc>
                      <a:txBody>
                        <a:bodyPr/>
                        <a:lstStyle/>
                        <a:p>
                          <a:pPr marL="0" marR="0" algn="just">
                            <a:lnSpc>
                              <a:spcPct val="107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Accuracy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2"/>
                          <a:stretch>
                            <a:fillRect l="-47556" t="-64130" r="-164889" b="-502174"/>
                          </a:stretch>
                        </a:blipFill>
                      </a:tcPr>
                    </a:tc>
                    <a:tc>
                      <a:txBody>
                        <a:bodyPr/>
                        <a:lstStyle/>
                        <a:p>
                          <a:pPr marL="0" marR="0" algn="just">
                            <a:lnSpc>
                              <a:spcPct val="107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Recall</a:t>
                          </a:r>
                        </a:p>
                      </a:txBody>
                      <a:tcPr marL="68580" marR="68580" marT="0" marB="0"/>
                    </a:tc>
                    <a:tc>
                      <a:txBody>
                        <a:bodyPr/>
                        <a:lstStyle/>
                        <a:p>
                          <a:endParaRPr lang="en-US"/>
                        </a:p>
                      </a:txBody>
                      <a:tcPr marL="68580" marR="68580" marT="0" marB="0">
                        <a:blipFill>
                          <a:blip r:embed="rId2"/>
                          <a:stretch>
                            <a:fillRect l="-220091" t="-64130" r="-913" b="-502174"/>
                          </a:stretch>
                        </a:blipFill>
                      </a:tcPr>
                    </a:tc>
                    <a:extLst>
                      <a:ext uri="{0D108BD9-81ED-4DB2-BD59-A6C34878D82A}">
                        <a16:rowId xmlns:a16="http://schemas.microsoft.com/office/drawing/2014/main" val="3999627062"/>
                      </a:ext>
                    </a:extLst>
                  </a:tr>
                  <a:tr h="847141">
                    <a:tc>
                      <a:txBody>
                        <a:bodyPr/>
                        <a:lstStyle/>
                        <a:p>
                          <a:pPr marL="0" marR="0" algn="just">
                            <a:lnSpc>
                              <a:spcPct val="107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Sensitivity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2"/>
                          <a:stretch>
                            <a:fillRect l="-47556" t="-108633" r="-164889" b="-232374"/>
                          </a:stretch>
                        </a:blipFill>
                      </a:tcPr>
                    </a:tc>
                    <a:tc>
                      <a:txBody>
                        <a:bodyPr/>
                        <a:lstStyle/>
                        <a:p>
                          <a:pPr marL="0" marR="0" algn="just">
                            <a:lnSpc>
                              <a:spcPct val="107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F-Measure</a:t>
                          </a:r>
                        </a:p>
                      </a:txBody>
                      <a:tcPr marL="68580" marR="68580" marT="0" marB="0"/>
                    </a:tc>
                    <a:tc>
                      <a:txBody>
                        <a:bodyPr/>
                        <a:lstStyle/>
                        <a:p>
                          <a:endParaRPr lang="en-US"/>
                        </a:p>
                      </a:txBody>
                      <a:tcPr marL="68580" marR="68580" marT="0" marB="0">
                        <a:blipFill>
                          <a:blip r:embed="rId2"/>
                          <a:stretch>
                            <a:fillRect l="-220091" t="-108633" r="-913" b="-232374"/>
                          </a:stretch>
                        </a:blipFill>
                      </a:tcPr>
                    </a:tc>
                    <a:extLst>
                      <a:ext uri="{0D108BD9-81ED-4DB2-BD59-A6C34878D82A}">
                        <a16:rowId xmlns:a16="http://schemas.microsoft.com/office/drawing/2014/main" val="1063383578"/>
                      </a:ext>
                    </a:extLst>
                  </a:tr>
                  <a:tr h="1108710">
                    <a:tc>
                      <a:txBody>
                        <a:bodyPr/>
                        <a:lstStyle/>
                        <a:p>
                          <a:pPr marL="0" marR="0" algn="just">
                            <a:lnSpc>
                              <a:spcPct val="107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Specificity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2"/>
                          <a:stretch>
                            <a:fillRect l="-47556" t="-159341" r="-164889" b="-77473"/>
                          </a:stretch>
                        </a:blipFill>
                      </a:tcPr>
                    </a:tc>
                    <a:tc>
                      <a:txBody>
                        <a:bodyPr/>
                        <a:lstStyle/>
                        <a:p>
                          <a:pPr marL="0" marR="0" algn="just">
                            <a:lnSpc>
                              <a:spcPct val="107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AUROC</a:t>
                          </a:r>
                        </a:p>
                      </a:txBody>
                      <a:tcPr marL="68580" marR="68580" marT="0" marB="0"/>
                    </a:tc>
                    <a:tc>
                      <a:txBody>
                        <a:bodyPr/>
                        <a:lstStyle/>
                        <a:p>
                          <a:endParaRPr lang="en-US"/>
                        </a:p>
                      </a:txBody>
                      <a:tcPr marL="68580" marR="68580" marT="0" marB="0">
                        <a:blipFill>
                          <a:blip r:embed="rId2"/>
                          <a:stretch>
                            <a:fillRect l="-220091" t="-159341" r="-913" b="-77473"/>
                          </a:stretch>
                        </a:blipFill>
                      </a:tcPr>
                    </a:tc>
                    <a:extLst>
                      <a:ext uri="{0D108BD9-81ED-4DB2-BD59-A6C34878D82A}">
                        <a16:rowId xmlns:a16="http://schemas.microsoft.com/office/drawing/2014/main" val="1657527283"/>
                      </a:ext>
                    </a:extLst>
                  </a:tr>
                  <a:tr h="847141">
                    <a:tc>
                      <a:txBody>
                        <a:bodyPr/>
                        <a:lstStyle/>
                        <a:p>
                          <a:pPr marL="0" marR="0" algn="just">
                            <a:lnSpc>
                              <a:spcPct val="107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Precision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2"/>
                          <a:stretch>
                            <a:fillRect l="-47556" t="-339568" r="-164889" b="-1439"/>
                          </a:stretch>
                        </a:blipFill>
                      </a:tcPr>
                    </a:tc>
                    <a:tc>
                      <a:txBody>
                        <a:bodyPr/>
                        <a:lstStyle/>
                        <a:p>
                          <a:pPr marL="0" marR="0" algn="just">
                            <a:lnSpc>
                              <a:spcPct val="107000"/>
                            </a:lnSpc>
                            <a:spcBef>
                              <a:spcPts val="0"/>
                            </a:spcBef>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Kappa Statistics</a:t>
                          </a:r>
                        </a:p>
                      </a:txBody>
                      <a:tcPr marL="68580" marR="68580" marT="0" marB="0"/>
                    </a:tc>
                    <a:tc>
                      <a:txBody>
                        <a:bodyPr/>
                        <a:lstStyle/>
                        <a:p>
                          <a:endParaRPr lang="en-US"/>
                        </a:p>
                      </a:txBody>
                      <a:tcPr marL="68580" marR="68580" marT="0" marB="0">
                        <a:blipFill>
                          <a:blip r:embed="rId2"/>
                          <a:stretch>
                            <a:fillRect l="-220091" t="-339568" r="-913" b="-1439"/>
                          </a:stretch>
                        </a:blipFill>
                      </a:tcPr>
                    </a:tc>
                    <a:extLst>
                      <a:ext uri="{0D108BD9-81ED-4DB2-BD59-A6C34878D82A}">
                        <a16:rowId xmlns:a16="http://schemas.microsoft.com/office/drawing/2014/main" val="1696599690"/>
                      </a:ext>
                    </a:extLst>
                  </a:tr>
                </a:tbl>
              </a:graphicData>
            </a:graphic>
          </p:graphicFrame>
        </mc:Fallback>
      </mc:AlternateContent>
    </p:spTree>
    <p:extLst>
      <p:ext uri="{BB962C8B-B14F-4D97-AF65-F5344CB8AC3E}">
        <p14:creationId xmlns:p14="http://schemas.microsoft.com/office/powerpoint/2010/main" val="4218386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2CF10-ACBE-419E-8C86-DA57C999C004}"/>
              </a:ext>
            </a:extLst>
          </p:cNvPr>
          <p:cNvSpPr>
            <a:spLocks noGrp="1"/>
          </p:cNvSpPr>
          <p:nvPr>
            <p:ph type="title"/>
          </p:nvPr>
        </p:nvSpPr>
        <p:spPr>
          <a:xfrm>
            <a:off x="1522876" y="609600"/>
            <a:ext cx="9143538" cy="645935"/>
          </a:xfrm>
        </p:spPr>
        <p:txBody>
          <a:bodyPr>
            <a:normAutofit/>
          </a:bodyPr>
          <a:lstStyle/>
          <a:p>
            <a:r>
              <a:rPr lang="en-US" dirty="0">
                <a:latin typeface="Times New Roman" panose="02020603050405020304" pitchFamily="18" charset="0"/>
                <a:cs typeface="Times New Roman" panose="02020603050405020304" pitchFamily="18" charset="0"/>
              </a:rPr>
              <a:t>Methodology Cont.</a:t>
            </a:r>
          </a:p>
        </p:txBody>
      </p:sp>
      <p:sp>
        <p:nvSpPr>
          <p:cNvPr id="3" name="Content Placeholder 2">
            <a:extLst>
              <a:ext uri="{FF2B5EF4-FFF2-40B4-BE49-F238E27FC236}">
                <a16:creationId xmlns:a16="http://schemas.microsoft.com/office/drawing/2014/main" id="{2BA3252A-E40C-4120-B315-A440B5E2BA05}"/>
              </a:ext>
            </a:extLst>
          </p:cNvPr>
          <p:cNvSpPr>
            <a:spLocks noGrp="1"/>
          </p:cNvSpPr>
          <p:nvPr>
            <p:ph idx="1"/>
          </p:nvPr>
        </p:nvSpPr>
        <p:spPr>
          <a:xfrm>
            <a:off x="1522876" y="1676400"/>
            <a:ext cx="9143538" cy="3697465"/>
          </a:xfrm>
        </p:spPr>
        <p:txBody>
          <a:bodyPr>
            <a:normAutofit/>
          </a:bodyPr>
          <a:lstStyle/>
          <a:p>
            <a:pPr algn="just">
              <a:spcBef>
                <a:spcPts val="600"/>
              </a:spcBef>
            </a:pPr>
            <a:r>
              <a:rPr lang="en-US" sz="2200" dirty="0">
                <a:latin typeface="Times New Roman" panose="02020603050405020304" pitchFamily="18" charset="0"/>
                <a:cs typeface="Times New Roman" panose="02020603050405020304" pitchFamily="18" charset="0"/>
              </a:rPr>
              <a:t>Performance Analysis</a:t>
            </a:r>
          </a:p>
          <a:p>
            <a:pPr lvl="1" algn="just">
              <a:spcBef>
                <a:spcPts val="600"/>
              </a:spcBef>
            </a:pPr>
            <a:r>
              <a:rPr lang="en-US" sz="1600" dirty="0">
                <a:latin typeface="Times New Roman" panose="02020603050405020304" pitchFamily="18" charset="0"/>
                <a:cs typeface="Times New Roman" panose="02020603050405020304" pitchFamily="18" charset="0"/>
              </a:rPr>
              <a:t>Mean</a:t>
            </a:r>
          </a:p>
          <a:p>
            <a:pPr lvl="1" algn="just">
              <a:spcBef>
                <a:spcPts val="600"/>
              </a:spcBef>
            </a:pPr>
            <a:r>
              <a:rPr lang="en-US" sz="1600" dirty="0">
                <a:latin typeface="Times New Roman" panose="02020603050405020304" pitchFamily="18" charset="0"/>
                <a:cs typeface="Times New Roman" panose="02020603050405020304" pitchFamily="18" charset="0"/>
              </a:rPr>
              <a:t>Median</a:t>
            </a:r>
          </a:p>
          <a:p>
            <a:pPr lvl="1" algn="just">
              <a:spcBef>
                <a:spcPts val="600"/>
              </a:spcBef>
            </a:pPr>
            <a:r>
              <a:rPr lang="en-US" sz="1600" dirty="0">
                <a:latin typeface="Times New Roman" panose="02020603050405020304" pitchFamily="18" charset="0"/>
                <a:cs typeface="Times New Roman" panose="02020603050405020304" pitchFamily="18" charset="0"/>
              </a:rPr>
              <a:t>Maximum</a:t>
            </a:r>
          </a:p>
          <a:p>
            <a:pPr algn="just">
              <a:spcBef>
                <a:spcPts val="600"/>
              </a:spcBef>
            </a:pPr>
            <a:r>
              <a:rPr lang="en-US" sz="2200" dirty="0">
                <a:latin typeface="Times New Roman" panose="02020603050405020304" pitchFamily="18" charset="0"/>
                <a:cs typeface="Times New Roman" panose="02020603050405020304" pitchFamily="18" charset="0"/>
              </a:rPr>
              <a:t>Performance Comparison</a:t>
            </a:r>
          </a:p>
          <a:p>
            <a:pPr lvl="1" algn="just">
              <a:spcBef>
                <a:spcPts val="600"/>
              </a:spcBef>
            </a:pPr>
            <a:r>
              <a:rPr lang="en-US" sz="1600" dirty="0">
                <a:latin typeface="Times New Roman" panose="02020603050405020304" pitchFamily="18" charset="0"/>
                <a:cs typeface="Times New Roman" panose="02020603050405020304" pitchFamily="18" charset="0"/>
              </a:rPr>
              <a:t>Among  Classifiers</a:t>
            </a:r>
          </a:p>
          <a:p>
            <a:pPr lvl="1" algn="just">
              <a:spcBef>
                <a:spcPts val="600"/>
              </a:spcBef>
            </a:pPr>
            <a:r>
              <a:rPr lang="en-US" sz="1600" dirty="0">
                <a:latin typeface="Times New Roman" panose="02020603050405020304" pitchFamily="18" charset="0"/>
                <a:cs typeface="Times New Roman" panose="02020603050405020304" pitchFamily="18" charset="0"/>
              </a:rPr>
              <a:t>Among FT methods for each sub dataset.</a:t>
            </a:r>
          </a:p>
          <a:p>
            <a:pPr algn="just">
              <a:spcBef>
                <a:spcPts val="600"/>
              </a:spcBef>
            </a:pPr>
            <a:r>
              <a:rPr lang="en-US" sz="2200" dirty="0">
                <a:latin typeface="Times New Roman" panose="02020603050405020304" pitchFamily="18" charset="0"/>
                <a:cs typeface="Times New Roman" panose="02020603050405020304" pitchFamily="18" charset="0"/>
              </a:rPr>
              <a:t>Exploring Best Performing Dataset</a:t>
            </a:r>
          </a:p>
          <a:p>
            <a:pPr lvl="1" algn="just">
              <a:spcBef>
                <a:spcPts val="600"/>
              </a:spcBef>
            </a:pPr>
            <a:r>
              <a:rPr lang="en-US" sz="1600" dirty="0">
                <a:latin typeface="Times New Roman" panose="02020603050405020304" pitchFamily="18" charset="0"/>
                <a:cs typeface="Times New Roman" panose="02020603050405020304" pitchFamily="18" charset="0"/>
              </a:rPr>
              <a:t>Among all the transformed dataset, the best FT dataset will be selected for all the sub dataset based on performance analysis.</a:t>
            </a:r>
          </a:p>
          <a:p>
            <a:pPr algn="just"/>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D164E87-A838-4423-AADC-8B3CC74A9FE4}"/>
              </a:ext>
            </a:extLst>
          </p:cNvPr>
          <p:cNvSpPr>
            <a:spLocks noGrp="1"/>
          </p:cNvSpPr>
          <p:nvPr>
            <p:ph type="dt" sz="half" idx="10"/>
          </p:nvPr>
        </p:nvSpPr>
        <p:spPr/>
        <p:txBody>
          <a:bodyPr/>
          <a:lstStyle/>
          <a:p>
            <a:fld id="{0B573522-4F0E-4552-B4A9-F39343BCD021}" type="datetime1">
              <a:rPr lang="en-US" smtClean="0"/>
              <a:t>1/20/2022</a:t>
            </a:fld>
            <a:endParaRPr lang="en-US" dirty="0"/>
          </a:p>
        </p:txBody>
      </p:sp>
      <p:sp>
        <p:nvSpPr>
          <p:cNvPr id="5" name="Slide Number Placeholder 4">
            <a:extLst>
              <a:ext uri="{FF2B5EF4-FFF2-40B4-BE49-F238E27FC236}">
                <a16:creationId xmlns:a16="http://schemas.microsoft.com/office/drawing/2014/main" id="{EF2496DF-5F7C-4AA6-BF50-38F8F40D71BE}"/>
              </a:ext>
            </a:extLst>
          </p:cNvPr>
          <p:cNvSpPr>
            <a:spLocks noGrp="1"/>
          </p:cNvSpPr>
          <p:nvPr>
            <p:ph type="sldNum" sz="quarter" idx="12"/>
          </p:nvPr>
        </p:nvSpPr>
        <p:spPr/>
        <p:txBody>
          <a:bodyPr/>
          <a:lstStyle/>
          <a:p>
            <a:fld id="{DF28FB93-0A08-4E7D-8E63-9EFA29F1E093}" type="slidenum">
              <a:rPr lang="en-US" smtClean="0"/>
              <a:pPr/>
              <a:t>16</a:t>
            </a:fld>
            <a:endParaRPr lang="en-US" dirty="0"/>
          </a:p>
        </p:txBody>
      </p:sp>
    </p:spTree>
    <p:extLst>
      <p:ext uri="{BB962C8B-B14F-4D97-AF65-F5344CB8AC3E}">
        <p14:creationId xmlns:p14="http://schemas.microsoft.com/office/powerpoint/2010/main" val="3772826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C95D8-80A0-404C-9E82-7972E6E42EA2}"/>
              </a:ext>
            </a:extLst>
          </p:cNvPr>
          <p:cNvSpPr>
            <a:spLocks noGrp="1"/>
          </p:cNvSpPr>
          <p:nvPr>
            <p:ph type="title"/>
          </p:nvPr>
        </p:nvSpPr>
        <p:spPr>
          <a:xfrm>
            <a:off x="1598612" y="609600"/>
            <a:ext cx="9067802" cy="573131"/>
          </a:xfrm>
        </p:spPr>
        <p:txBody>
          <a:bodyPr>
            <a:normAutofit/>
          </a:bodyPr>
          <a:lstStyle/>
          <a:p>
            <a:r>
              <a:rPr lang="en-US" dirty="0">
                <a:latin typeface="Times New Roman" panose="02020603050405020304" pitchFamily="18" charset="0"/>
                <a:cs typeface="Times New Roman" panose="02020603050405020304" pitchFamily="18" charset="0"/>
              </a:rPr>
              <a:t>Result Analysis</a:t>
            </a:r>
          </a:p>
        </p:txBody>
      </p:sp>
      <p:graphicFrame>
        <p:nvGraphicFramePr>
          <p:cNvPr id="7" name="Content Placeholder 6">
            <a:extLst>
              <a:ext uri="{FF2B5EF4-FFF2-40B4-BE49-F238E27FC236}">
                <a16:creationId xmlns:a16="http://schemas.microsoft.com/office/drawing/2014/main" id="{1F32E6A7-87B7-4F61-A1D4-80860EF3FD46}"/>
              </a:ext>
            </a:extLst>
          </p:cNvPr>
          <p:cNvGraphicFramePr>
            <a:graphicFrameLocks noGrp="1"/>
          </p:cNvGraphicFramePr>
          <p:nvPr>
            <p:ph idx="1"/>
            <p:extLst>
              <p:ext uri="{D42A27DB-BD31-4B8C-83A1-F6EECF244321}">
                <p14:modId xmlns:p14="http://schemas.microsoft.com/office/powerpoint/2010/main" val="1517657637"/>
              </p:ext>
            </p:extLst>
          </p:nvPr>
        </p:nvGraphicFramePr>
        <p:xfrm>
          <a:off x="2665412" y="1140957"/>
          <a:ext cx="6400800" cy="5142173"/>
        </p:xfrm>
        <a:graphic>
          <a:graphicData uri="http://schemas.openxmlformats.org/drawingml/2006/table">
            <a:tbl>
              <a:tblPr firstRow="1" firstCol="1" bandRow="1">
                <a:tableStyleId>{93296810-A885-4BE3-A3E7-6D5BEEA58F35}</a:tableStyleId>
              </a:tblPr>
              <a:tblGrid>
                <a:gridCol w="914400">
                  <a:extLst>
                    <a:ext uri="{9D8B030D-6E8A-4147-A177-3AD203B41FA5}">
                      <a16:colId xmlns:a16="http://schemas.microsoft.com/office/drawing/2014/main" val="1900246568"/>
                    </a:ext>
                  </a:extLst>
                </a:gridCol>
                <a:gridCol w="1066800">
                  <a:extLst>
                    <a:ext uri="{9D8B030D-6E8A-4147-A177-3AD203B41FA5}">
                      <a16:colId xmlns:a16="http://schemas.microsoft.com/office/drawing/2014/main" val="3394692748"/>
                    </a:ext>
                  </a:extLst>
                </a:gridCol>
                <a:gridCol w="943154">
                  <a:extLst>
                    <a:ext uri="{9D8B030D-6E8A-4147-A177-3AD203B41FA5}">
                      <a16:colId xmlns:a16="http://schemas.microsoft.com/office/drawing/2014/main" val="3570978084"/>
                    </a:ext>
                  </a:extLst>
                </a:gridCol>
                <a:gridCol w="665970">
                  <a:extLst>
                    <a:ext uri="{9D8B030D-6E8A-4147-A177-3AD203B41FA5}">
                      <a16:colId xmlns:a16="http://schemas.microsoft.com/office/drawing/2014/main" val="2723034234"/>
                    </a:ext>
                  </a:extLst>
                </a:gridCol>
                <a:gridCol w="745535">
                  <a:extLst>
                    <a:ext uri="{9D8B030D-6E8A-4147-A177-3AD203B41FA5}">
                      <a16:colId xmlns:a16="http://schemas.microsoft.com/office/drawing/2014/main" val="730771199"/>
                    </a:ext>
                  </a:extLst>
                </a:gridCol>
                <a:gridCol w="745535">
                  <a:extLst>
                    <a:ext uri="{9D8B030D-6E8A-4147-A177-3AD203B41FA5}">
                      <a16:colId xmlns:a16="http://schemas.microsoft.com/office/drawing/2014/main" val="1668275235"/>
                    </a:ext>
                  </a:extLst>
                </a:gridCol>
                <a:gridCol w="659703">
                  <a:extLst>
                    <a:ext uri="{9D8B030D-6E8A-4147-A177-3AD203B41FA5}">
                      <a16:colId xmlns:a16="http://schemas.microsoft.com/office/drawing/2014/main" val="776115988"/>
                    </a:ext>
                  </a:extLst>
                </a:gridCol>
                <a:gridCol w="659703">
                  <a:extLst>
                    <a:ext uri="{9D8B030D-6E8A-4147-A177-3AD203B41FA5}">
                      <a16:colId xmlns:a16="http://schemas.microsoft.com/office/drawing/2014/main" val="3155831408"/>
                    </a:ext>
                  </a:extLst>
                </a:gridCol>
              </a:tblGrid>
              <a:tr h="231191">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Dataset</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FT Methods</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1200" dirty="0" err="1">
                          <a:effectLst/>
                          <a:latin typeface="Times New Roman" panose="02020603050405020304" pitchFamily="18" charset="0"/>
                          <a:cs typeface="Times New Roman" panose="02020603050405020304" pitchFamily="18" charset="0"/>
                        </a:rPr>
                        <a:t>IBk</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1200" dirty="0" err="1">
                          <a:effectLst/>
                          <a:latin typeface="Times New Roman" panose="02020603050405020304" pitchFamily="18" charset="0"/>
                          <a:cs typeface="Times New Roman" panose="02020603050405020304" pitchFamily="18" charset="0"/>
                        </a:rPr>
                        <a:t>KStar</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SPAARC</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RT</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RF</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extLst>
                  <a:ext uri="{0D108BD9-81ED-4DB2-BD59-A6C34878D82A}">
                    <a16:rowId xmlns:a16="http://schemas.microsoft.com/office/drawing/2014/main" val="3729471878"/>
                  </a:ext>
                </a:extLst>
              </a:tr>
              <a:tr h="144436">
                <a:tc rowSpan="9">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Biopsy</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rowSpan="3">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FT1</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Median</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98.61</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900" b="1" dirty="0">
                          <a:solidFill>
                            <a:srgbClr val="00B050"/>
                          </a:solidFill>
                          <a:effectLst/>
                          <a:latin typeface="Times New Roman" panose="02020603050405020304" pitchFamily="18" charset="0"/>
                          <a:cs typeface="Times New Roman" panose="02020603050405020304" pitchFamily="18" charset="0"/>
                        </a:rPr>
                        <a:t>98.95</a:t>
                      </a:r>
                      <a:endParaRPr lang="en-US" sz="9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98.83</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98.61</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98.37</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188817538"/>
                  </a:ext>
                </a:extLst>
              </a:tr>
              <a:tr h="144436">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Mean</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97.85</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98.05</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97.95</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900" b="1" dirty="0">
                          <a:solidFill>
                            <a:srgbClr val="00B050"/>
                          </a:solidFill>
                          <a:effectLst/>
                          <a:latin typeface="Times New Roman" panose="02020603050405020304" pitchFamily="18" charset="0"/>
                          <a:cs typeface="Times New Roman" panose="02020603050405020304" pitchFamily="18" charset="0"/>
                        </a:rPr>
                        <a:t>98.33</a:t>
                      </a:r>
                      <a:endParaRPr lang="en-US" sz="9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97.81</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299730211"/>
                  </a:ext>
                </a:extLst>
              </a:tr>
              <a:tr h="128358">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Max</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b="1">
                          <a:solidFill>
                            <a:srgbClr val="00B050"/>
                          </a:solidFill>
                          <a:effectLst/>
                          <a:latin typeface="Times New Roman" panose="02020603050405020304" pitchFamily="18" charset="0"/>
                          <a:cs typeface="Times New Roman" panose="02020603050405020304" pitchFamily="18" charset="0"/>
                        </a:rPr>
                        <a:t>100</a:t>
                      </a:r>
                      <a:endParaRPr lang="en-US" sz="800" b="1">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a:solidFill>
                            <a:srgbClr val="00B050"/>
                          </a:solidFill>
                          <a:effectLst/>
                          <a:latin typeface="Times New Roman" panose="02020603050405020304" pitchFamily="18" charset="0"/>
                          <a:cs typeface="Times New Roman" panose="02020603050405020304" pitchFamily="18" charset="0"/>
                        </a:rPr>
                        <a:t>100</a:t>
                      </a:r>
                      <a:endParaRPr lang="en-US" sz="800" b="1">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a:solidFill>
                            <a:srgbClr val="00B050"/>
                          </a:solidFill>
                          <a:effectLst/>
                          <a:latin typeface="Times New Roman" panose="02020603050405020304" pitchFamily="18" charset="0"/>
                          <a:cs typeface="Times New Roman" panose="02020603050405020304" pitchFamily="18" charset="0"/>
                        </a:rPr>
                        <a:t>100</a:t>
                      </a:r>
                      <a:endParaRPr lang="en-US" sz="800" b="1">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a:solidFill>
                            <a:srgbClr val="00B050"/>
                          </a:solidFill>
                          <a:effectLst/>
                          <a:latin typeface="Times New Roman" panose="02020603050405020304" pitchFamily="18" charset="0"/>
                          <a:cs typeface="Times New Roman" panose="02020603050405020304" pitchFamily="18" charset="0"/>
                        </a:rPr>
                        <a:t>100</a:t>
                      </a:r>
                      <a:endParaRPr lang="en-US" sz="800" b="1">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100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3495710629"/>
                  </a:ext>
                </a:extLst>
              </a:tr>
              <a:tr h="144436">
                <a:tc vMerge="1">
                  <a:txBody>
                    <a:bodyPr/>
                    <a:lstStyle/>
                    <a:p>
                      <a:endParaRPr lang="en-US"/>
                    </a:p>
                  </a:txBody>
                  <a:tcPr/>
                </a:tc>
                <a:tc rowSpan="3">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FT2</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Median</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97.96</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98.14</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900" b="1" dirty="0">
                          <a:solidFill>
                            <a:srgbClr val="00B050"/>
                          </a:solidFill>
                          <a:effectLst/>
                          <a:latin typeface="Times New Roman" panose="02020603050405020304" pitchFamily="18" charset="0"/>
                          <a:cs typeface="Times New Roman" panose="02020603050405020304" pitchFamily="18" charset="0"/>
                        </a:rPr>
                        <a:t>99.07</a:t>
                      </a:r>
                      <a:endParaRPr lang="en-US" sz="9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98.31</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98.72</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1606264930"/>
                  </a:ext>
                </a:extLst>
              </a:tr>
              <a:tr h="144436">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Mean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97.38</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97.46</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98.02</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97.63</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900" b="1" dirty="0">
                          <a:solidFill>
                            <a:srgbClr val="00B050"/>
                          </a:solidFill>
                          <a:effectLst/>
                          <a:latin typeface="Times New Roman" panose="02020603050405020304" pitchFamily="18" charset="0"/>
                          <a:cs typeface="Times New Roman" panose="02020603050405020304" pitchFamily="18" charset="0"/>
                        </a:rPr>
                        <a:t>98.07</a:t>
                      </a:r>
                      <a:endParaRPr lang="en-US" sz="9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486779239"/>
                  </a:ext>
                </a:extLst>
              </a:tr>
              <a:tr h="135008">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Max</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100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100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100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100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100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3720096300"/>
                  </a:ext>
                </a:extLst>
              </a:tr>
              <a:tr h="128358">
                <a:tc vMerge="1">
                  <a:txBody>
                    <a:bodyPr/>
                    <a:lstStyle/>
                    <a:p>
                      <a:endParaRPr lang="en-US"/>
                    </a:p>
                  </a:txBody>
                  <a:tcPr/>
                </a:tc>
                <a:tc rowSpan="3">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FT3</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Median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98.84</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98.84</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99.01</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98.61</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98.02</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884010132"/>
                  </a:ext>
                </a:extLst>
              </a:tr>
              <a:tr h="135008">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Mean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97.74</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97.82</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98.21</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97.79</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97.74</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3752842001"/>
                  </a:ext>
                </a:extLst>
              </a:tr>
              <a:tr h="135008">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Max</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dirty="0">
                          <a:solidFill>
                            <a:srgbClr val="00B050"/>
                          </a:solidFill>
                          <a:effectLst/>
                          <a:latin typeface="Times New Roman" panose="02020603050405020304" pitchFamily="18" charset="0"/>
                          <a:cs typeface="Times New Roman" panose="02020603050405020304" pitchFamily="18" charset="0"/>
                        </a:rPr>
                        <a:t>100</a:t>
                      </a:r>
                      <a:endParaRPr lang="en-US" sz="800"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solidFill>
                            <a:srgbClr val="00B050"/>
                          </a:solidFill>
                          <a:effectLst/>
                          <a:latin typeface="Times New Roman" panose="02020603050405020304" pitchFamily="18" charset="0"/>
                          <a:cs typeface="Times New Roman" panose="02020603050405020304" pitchFamily="18" charset="0"/>
                        </a:rPr>
                        <a:t>100</a:t>
                      </a:r>
                      <a:endParaRPr lang="en-US" sz="80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solidFill>
                            <a:srgbClr val="00B050"/>
                          </a:solidFill>
                          <a:effectLst/>
                          <a:latin typeface="Times New Roman" panose="02020603050405020304" pitchFamily="18" charset="0"/>
                          <a:cs typeface="Times New Roman" panose="02020603050405020304" pitchFamily="18" charset="0"/>
                        </a:rPr>
                        <a:t>100</a:t>
                      </a:r>
                      <a:endParaRPr lang="en-US" sz="800"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solidFill>
                            <a:srgbClr val="00B050"/>
                          </a:solidFill>
                          <a:effectLst/>
                          <a:latin typeface="Times New Roman" panose="02020603050405020304" pitchFamily="18" charset="0"/>
                          <a:cs typeface="Times New Roman" panose="02020603050405020304" pitchFamily="18" charset="0"/>
                        </a:rPr>
                        <a:t>100</a:t>
                      </a:r>
                      <a:endParaRPr lang="en-US" sz="800"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solidFill>
                            <a:srgbClr val="00B050"/>
                          </a:solidFill>
                          <a:effectLst/>
                          <a:latin typeface="Times New Roman" panose="02020603050405020304" pitchFamily="18" charset="0"/>
                          <a:cs typeface="Times New Roman" panose="02020603050405020304" pitchFamily="18" charset="0"/>
                        </a:rPr>
                        <a:t>100</a:t>
                      </a:r>
                      <a:endParaRPr lang="en-US" sz="800"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266920552"/>
                  </a:ext>
                </a:extLst>
              </a:tr>
              <a:tr h="135008">
                <a:tc rowSpan="9">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Cytology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rowSpan="3">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FT1</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Median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99.18</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98.84</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97.67</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98.19</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98.84</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1150658245"/>
                  </a:ext>
                </a:extLst>
              </a:tr>
              <a:tr h="135008">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Mean</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98.24</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97.90</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97.46</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97.22</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98.19</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2147096772"/>
                  </a:ext>
                </a:extLst>
              </a:tr>
              <a:tr h="135008">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Max</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99.88</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99.65</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98.84</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99.65</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99.88</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487374893"/>
                  </a:ext>
                </a:extLst>
              </a:tr>
              <a:tr h="135008">
                <a:tc vMerge="1">
                  <a:txBody>
                    <a:bodyPr/>
                    <a:lstStyle/>
                    <a:p>
                      <a:endParaRPr lang="en-US"/>
                    </a:p>
                  </a:txBody>
                  <a:tcPr/>
                </a:tc>
                <a:tc rowSpan="3">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FT2</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Median</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98.72</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98.25</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98.61</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99.13</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98.25</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40113666"/>
                  </a:ext>
                </a:extLst>
              </a:tr>
              <a:tr h="135008">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Mean</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97.90</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97.55</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98.11</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98.04</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97.90</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2827899334"/>
                  </a:ext>
                </a:extLst>
              </a:tr>
              <a:tr h="135008">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Max</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100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99.65</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99.65</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100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99.88</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802358559"/>
                  </a:ext>
                </a:extLst>
              </a:tr>
              <a:tr h="135008">
                <a:tc vMerge="1">
                  <a:txBody>
                    <a:bodyPr/>
                    <a:lstStyle/>
                    <a:p>
                      <a:endParaRPr lang="en-US"/>
                    </a:p>
                  </a:txBody>
                  <a:tcPr/>
                </a:tc>
                <a:tc rowSpan="3">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FT3</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Median</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99.07</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98.26</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98.14</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99.07</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98.25</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1395804482"/>
                  </a:ext>
                </a:extLst>
              </a:tr>
              <a:tr h="135008">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Mean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97.99</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97.71</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98.04</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98.65</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97.95</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3666044895"/>
                  </a:ext>
                </a:extLst>
              </a:tr>
              <a:tr h="135008">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Max</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100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99.65</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100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100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100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2994718427"/>
                  </a:ext>
                </a:extLst>
              </a:tr>
              <a:tr h="135008">
                <a:tc rowSpan="9">
                  <a:txBody>
                    <a:bodyPr/>
                    <a:lstStyle/>
                    <a:p>
                      <a:pPr marL="0" marR="0">
                        <a:lnSpc>
                          <a:spcPct val="107000"/>
                        </a:lnSpc>
                        <a:spcBef>
                          <a:spcPts val="0"/>
                        </a:spcBef>
                        <a:spcAft>
                          <a:spcPts val="0"/>
                        </a:spcAft>
                      </a:pPr>
                      <a:r>
                        <a:rPr lang="en-US" sz="1200" dirty="0" err="1">
                          <a:effectLst/>
                          <a:latin typeface="Times New Roman" panose="02020603050405020304" pitchFamily="18" charset="0"/>
                          <a:cs typeface="Times New Roman" panose="02020603050405020304" pitchFamily="18" charset="0"/>
                        </a:rPr>
                        <a:t>Hinselmann</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rowSpan="3">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FT1</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Median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99.01</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99.18</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98.37</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98.37</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99.36</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3518736425"/>
                  </a:ext>
                </a:extLst>
              </a:tr>
              <a:tr h="135008">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Mean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98.40</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98.38</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98.37</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97.93</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99.16</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2873870813"/>
                  </a:ext>
                </a:extLst>
              </a:tr>
              <a:tr h="135008">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Max</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99.54</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99.54</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99.54</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99.54</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99.54</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2164352160"/>
                  </a:ext>
                </a:extLst>
              </a:tr>
              <a:tr h="135008">
                <a:tc vMerge="1">
                  <a:txBody>
                    <a:bodyPr/>
                    <a:lstStyle/>
                    <a:p>
                      <a:endParaRPr lang="en-US"/>
                    </a:p>
                  </a:txBody>
                  <a:tcPr/>
                </a:tc>
                <a:tc rowSpan="3">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FT2</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Median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98.72</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98.84</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97.961</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98.37</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99.30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412979618"/>
                  </a:ext>
                </a:extLst>
              </a:tr>
              <a:tr h="135008">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Mean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97.95</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98.02</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97.99</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97.86</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99.07</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2690807987"/>
                  </a:ext>
                </a:extLst>
              </a:tr>
              <a:tr h="135008">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Max</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99.54</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99.54</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99.30</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99.54</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99.54</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2978244235"/>
                  </a:ext>
                </a:extLst>
              </a:tr>
              <a:tr h="135008">
                <a:tc vMerge="1">
                  <a:txBody>
                    <a:bodyPr/>
                    <a:lstStyle/>
                    <a:p>
                      <a:endParaRPr lang="en-US"/>
                    </a:p>
                  </a:txBody>
                  <a:tcPr/>
                </a:tc>
                <a:tc rowSpan="3">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FT3</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Median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98.95</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99.18</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98.19</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98.78</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99.36</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1333951837"/>
                  </a:ext>
                </a:extLst>
              </a:tr>
              <a:tr h="181240">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Mean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98.15</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98.39</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98.08</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98.08</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99.16</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1547535842"/>
                  </a:ext>
                </a:extLst>
              </a:tr>
              <a:tr h="135008">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Max</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b="1">
                          <a:solidFill>
                            <a:srgbClr val="00B050"/>
                          </a:solidFill>
                          <a:effectLst/>
                          <a:latin typeface="Times New Roman" panose="02020603050405020304" pitchFamily="18" charset="0"/>
                          <a:cs typeface="Times New Roman" panose="02020603050405020304" pitchFamily="18" charset="0"/>
                        </a:rPr>
                        <a:t>99.54</a:t>
                      </a:r>
                      <a:endParaRPr lang="en-US" sz="800" b="1">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99.54</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99.30</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a:solidFill>
                            <a:srgbClr val="00B050"/>
                          </a:solidFill>
                          <a:effectLst/>
                          <a:latin typeface="Times New Roman" panose="02020603050405020304" pitchFamily="18" charset="0"/>
                          <a:cs typeface="Times New Roman" panose="02020603050405020304" pitchFamily="18" charset="0"/>
                        </a:rPr>
                        <a:t>99.54</a:t>
                      </a:r>
                      <a:endParaRPr lang="en-US" sz="800" b="1">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99.54</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2732402555"/>
                  </a:ext>
                </a:extLst>
              </a:tr>
              <a:tr h="135008">
                <a:tc rowSpan="9">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 </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Schiller</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rowSpan="3">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FT1</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Median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98.14</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98.02</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98.14</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97.90</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98.60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2003672559"/>
                  </a:ext>
                </a:extLst>
              </a:tr>
              <a:tr h="135008">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Mean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97.49</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96.66</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96.94</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97.69</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98.42</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3307406129"/>
                  </a:ext>
                </a:extLst>
              </a:tr>
              <a:tr h="135008">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Max</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99.77</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99.07</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100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100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100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3859113846"/>
                  </a:ext>
                </a:extLst>
              </a:tr>
              <a:tr h="128358">
                <a:tc vMerge="1">
                  <a:txBody>
                    <a:bodyPr/>
                    <a:lstStyle/>
                    <a:p>
                      <a:endParaRPr lang="en-US"/>
                    </a:p>
                  </a:txBody>
                  <a:tcPr/>
                </a:tc>
                <a:tc rowSpan="3">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FT2</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Median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99.07</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98.72</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98.83</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98.60</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98.60</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2069913369"/>
                  </a:ext>
                </a:extLst>
              </a:tr>
              <a:tr h="128358">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Mean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98.58</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98.35</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97.65</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97.72</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97.62</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3865951500"/>
                  </a:ext>
                </a:extLst>
              </a:tr>
              <a:tr h="135008">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Max</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100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100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100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a:solidFill>
                            <a:srgbClr val="00B050"/>
                          </a:solidFill>
                          <a:effectLst/>
                          <a:latin typeface="Times New Roman" panose="02020603050405020304" pitchFamily="18" charset="0"/>
                          <a:cs typeface="Times New Roman" panose="02020603050405020304" pitchFamily="18" charset="0"/>
                        </a:rPr>
                        <a:t>100</a:t>
                      </a:r>
                      <a:endParaRPr lang="en-US" sz="800" b="1">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100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884067020"/>
                  </a:ext>
                </a:extLst>
              </a:tr>
              <a:tr h="135008">
                <a:tc vMerge="1">
                  <a:txBody>
                    <a:bodyPr/>
                    <a:lstStyle/>
                    <a:p>
                      <a:endParaRPr lang="en-US"/>
                    </a:p>
                  </a:txBody>
                  <a:tcPr/>
                </a:tc>
                <a:tc rowSpan="3">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FT3</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a:effectLst/>
                          <a:latin typeface="Times New Roman" panose="02020603050405020304" pitchFamily="18" charset="0"/>
                          <a:cs typeface="Times New Roman" panose="02020603050405020304" pitchFamily="18" charset="0"/>
                        </a:rPr>
                        <a:t>Median</a:t>
                      </a:r>
                      <a:endParaRPr lang="en-US" sz="80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98.49</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98.25</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98.95</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98.31</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98.72</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3095234383"/>
                  </a:ext>
                </a:extLst>
              </a:tr>
              <a:tr h="128358">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Mean</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98.50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0" dirty="0">
                          <a:solidFill>
                            <a:schemeClr val="tx1"/>
                          </a:solidFill>
                          <a:effectLst/>
                          <a:latin typeface="Times New Roman" panose="02020603050405020304" pitchFamily="18" charset="0"/>
                          <a:cs typeface="Times New Roman" panose="02020603050405020304" pitchFamily="18" charset="0"/>
                        </a:rPr>
                        <a:t>97.09</a:t>
                      </a:r>
                      <a:endParaRPr lang="en-US" sz="800" b="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0" dirty="0">
                          <a:solidFill>
                            <a:schemeClr val="tx1"/>
                          </a:solidFill>
                          <a:effectLst/>
                          <a:latin typeface="Times New Roman" panose="02020603050405020304" pitchFamily="18" charset="0"/>
                          <a:cs typeface="Times New Roman" panose="02020603050405020304" pitchFamily="18" charset="0"/>
                        </a:rPr>
                        <a:t>97.88</a:t>
                      </a:r>
                      <a:endParaRPr lang="en-US" sz="800" b="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0" dirty="0">
                          <a:solidFill>
                            <a:schemeClr val="tx1"/>
                          </a:solidFill>
                          <a:effectLst/>
                          <a:latin typeface="Times New Roman" panose="02020603050405020304" pitchFamily="18" charset="0"/>
                          <a:cs typeface="Times New Roman" panose="02020603050405020304" pitchFamily="18" charset="0"/>
                        </a:rPr>
                        <a:t>97.77</a:t>
                      </a:r>
                      <a:endParaRPr lang="en-US" sz="800" b="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0" dirty="0">
                          <a:solidFill>
                            <a:schemeClr val="tx1"/>
                          </a:solidFill>
                          <a:effectLst/>
                          <a:latin typeface="Times New Roman" panose="02020603050405020304" pitchFamily="18" charset="0"/>
                          <a:cs typeface="Times New Roman" panose="02020603050405020304" pitchFamily="18" charset="0"/>
                        </a:rPr>
                        <a:t>97.90</a:t>
                      </a:r>
                      <a:endParaRPr lang="en-US" sz="800" b="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3840005870"/>
                  </a:ext>
                </a:extLst>
              </a:tr>
              <a:tr h="135008">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800" dirty="0">
                          <a:effectLst/>
                          <a:latin typeface="Times New Roman" panose="02020603050405020304" pitchFamily="18" charset="0"/>
                          <a:cs typeface="Times New Roman" panose="02020603050405020304" pitchFamily="18" charset="0"/>
                        </a:rPr>
                        <a:t>Max</a:t>
                      </a:r>
                      <a:endParaRPr lang="en-US"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100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100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100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100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tc>
                  <a:txBody>
                    <a:bodyPr/>
                    <a:lstStyle/>
                    <a:p>
                      <a:pPr marL="0" marR="0">
                        <a:lnSpc>
                          <a:spcPct val="107000"/>
                        </a:lnSpc>
                        <a:spcBef>
                          <a:spcPts val="0"/>
                        </a:spcBef>
                        <a:spcAft>
                          <a:spcPts val="0"/>
                        </a:spcAft>
                      </a:pPr>
                      <a:r>
                        <a:rPr lang="en-US" sz="800" b="1" dirty="0">
                          <a:solidFill>
                            <a:srgbClr val="00B050"/>
                          </a:solidFill>
                          <a:effectLst/>
                          <a:latin typeface="Times New Roman" panose="02020603050405020304" pitchFamily="18" charset="0"/>
                          <a:cs typeface="Times New Roman" panose="02020603050405020304" pitchFamily="18" charset="0"/>
                        </a:rPr>
                        <a:t>100</a:t>
                      </a:r>
                      <a:endParaRPr lang="en-US" sz="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83" marR="38783" marT="0" marB="0" anchor="b"/>
                </a:tc>
                <a:extLst>
                  <a:ext uri="{0D108BD9-81ED-4DB2-BD59-A6C34878D82A}">
                    <a16:rowId xmlns:a16="http://schemas.microsoft.com/office/drawing/2014/main" val="1166803510"/>
                  </a:ext>
                </a:extLst>
              </a:tr>
            </a:tbl>
          </a:graphicData>
        </a:graphic>
      </p:graphicFrame>
      <p:sp>
        <p:nvSpPr>
          <p:cNvPr id="4" name="Date Placeholder 3">
            <a:extLst>
              <a:ext uri="{FF2B5EF4-FFF2-40B4-BE49-F238E27FC236}">
                <a16:creationId xmlns:a16="http://schemas.microsoft.com/office/drawing/2014/main" id="{01823C9E-BB1A-43A4-8500-94F1EBFCA1F3}"/>
              </a:ext>
            </a:extLst>
          </p:cNvPr>
          <p:cNvSpPr>
            <a:spLocks noGrp="1"/>
          </p:cNvSpPr>
          <p:nvPr>
            <p:ph type="dt" sz="half" idx="10"/>
          </p:nvPr>
        </p:nvSpPr>
        <p:spPr/>
        <p:txBody>
          <a:bodyPr/>
          <a:lstStyle/>
          <a:p>
            <a:fld id="{0B573522-4F0E-4552-B4A9-F39343BCD021}" type="datetime1">
              <a:rPr lang="en-US" smtClean="0"/>
              <a:t>1/20/2022</a:t>
            </a:fld>
            <a:endParaRPr lang="en-US" dirty="0"/>
          </a:p>
        </p:txBody>
      </p:sp>
      <p:sp>
        <p:nvSpPr>
          <p:cNvPr id="5" name="Slide Number Placeholder 4">
            <a:extLst>
              <a:ext uri="{FF2B5EF4-FFF2-40B4-BE49-F238E27FC236}">
                <a16:creationId xmlns:a16="http://schemas.microsoft.com/office/drawing/2014/main" id="{8AC51202-E34A-4A6D-84DC-9BBF24844756}"/>
              </a:ext>
            </a:extLst>
          </p:cNvPr>
          <p:cNvSpPr>
            <a:spLocks noGrp="1"/>
          </p:cNvSpPr>
          <p:nvPr>
            <p:ph type="sldNum" sz="quarter" idx="12"/>
          </p:nvPr>
        </p:nvSpPr>
        <p:spPr/>
        <p:txBody>
          <a:bodyPr/>
          <a:lstStyle/>
          <a:p>
            <a:fld id="{DF28FB93-0A08-4E7D-8E63-9EFA29F1E093}" type="slidenum">
              <a:rPr lang="en-US" smtClean="0"/>
              <a:pPr/>
              <a:t>17</a:t>
            </a:fld>
            <a:endParaRPr lang="en-US" dirty="0"/>
          </a:p>
        </p:txBody>
      </p:sp>
    </p:spTree>
    <p:extLst>
      <p:ext uri="{BB962C8B-B14F-4D97-AF65-F5344CB8AC3E}">
        <p14:creationId xmlns:p14="http://schemas.microsoft.com/office/powerpoint/2010/main" val="3226382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D77F2-F86D-491B-B580-428F3BD376DB}"/>
              </a:ext>
            </a:extLst>
          </p:cNvPr>
          <p:cNvSpPr>
            <a:spLocks noGrp="1"/>
          </p:cNvSpPr>
          <p:nvPr>
            <p:ph type="title"/>
          </p:nvPr>
        </p:nvSpPr>
        <p:spPr>
          <a:xfrm>
            <a:off x="1522876" y="609600"/>
            <a:ext cx="9143538" cy="609600"/>
          </a:xfrm>
        </p:spPr>
        <p:txBody>
          <a:bodyPr>
            <a:normAutofit/>
          </a:bodyPr>
          <a:lstStyle/>
          <a:p>
            <a:r>
              <a:rPr lang="en-US" dirty="0">
                <a:latin typeface="Times New Roman" panose="02020603050405020304" pitchFamily="18" charset="0"/>
                <a:cs typeface="Times New Roman" panose="02020603050405020304" pitchFamily="18" charset="0"/>
              </a:rPr>
              <a:t>Result Analysis Cont.</a:t>
            </a:r>
          </a:p>
        </p:txBody>
      </p:sp>
      <p:sp>
        <p:nvSpPr>
          <p:cNvPr id="4" name="Date Placeholder 3">
            <a:extLst>
              <a:ext uri="{FF2B5EF4-FFF2-40B4-BE49-F238E27FC236}">
                <a16:creationId xmlns:a16="http://schemas.microsoft.com/office/drawing/2014/main" id="{EB7B5C2F-C6A6-4C89-8241-972856BFBFA2}"/>
              </a:ext>
            </a:extLst>
          </p:cNvPr>
          <p:cNvSpPr>
            <a:spLocks noGrp="1"/>
          </p:cNvSpPr>
          <p:nvPr>
            <p:ph type="dt" sz="half" idx="10"/>
          </p:nvPr>
        </p:nvSpPr>
        <p:spPr/>
        <p:txBody>
          <a:bodyPr/>
          <a:lstStyle/>
          <a:p>
            <a:fld id="{0B573522-4F0E-4552-B4A9-F39343BCD021}" type="datetime1">
              <a:rPr lang="en-US" smtClean="0"/>
              <a:t>1/20/2022</a:t>
            </a:fld>
            <a:endParaRPr lang="en-US" dirty="0"/>
          </a:p>
        </p:txBody>
      </p:sp>
      <p:sp>
        <p:nvSpPr>
          <p:cNvPr id="5" name="Slide Number Placeholder 4">
            <a:extLst>
              <a:ext uri="{FF2B5EF4-FFF2-40B4-BE49-F238E27FC236}">
                <a16:creationId xmlns:a16="http://schemas.microsoft.com/office/drawing/2014/main" id="{BFA1F46F-B9A6-4881-95FC-41D8AD380C45}"/>
              </a:ext>
            </a:extLst>
          </p:cNvPr>
          <p:cNvSpPr>
            <a:spLocks noGrp="1"/>
          </p:cNvSpPr>
          <p:nvPr>
            <p:ph type="sldNum" sz="quarter" idx="12"/>
          </p:nvPr>
        </p:nvSpPr>
        <p:spPr/>
        <p:txBody>
          <a:bodyPr/>
          <a:lstStyle/>
          <a:p>
            <a:fld id="{DF28FB93-0A08-4E7D-8E63-9EFA29F1E093}" type="slidenum">
              <a:rPr lang="en-US" smtClean="0"/>
              <a:pPr/>
              <a:t>18</a:t>
            </a:fld>
            <a:endParaRPr lang="en-US" dirty="0"/>
          </a:p>
        </p:txBody>
      </p:sp>
      <p:pic>
        <p:nvPicPr>
          <p:cNvPr id="11" name="Picture 10">
            <a:extLst>
              <a:ext uri="{FF2B5EF4-FFF2-40B4-BE49-F238E27FC236}">
                <a16:creationId xmlns:a16="http://schemas.microsoft.com/office/drawing/2014/main" id="{7671A2D7-B466-412E-8D5F-1989B1F57639}"/>
              </a:ext>
            </a:extLst>
          </p:cNvPr>
          <p:cNvPicPr>
            <a:picLocks noChangeAspect="1"/>
          </p:cNvPicPr>
          <p:nvPr/>
        </p:nvPicPr>
        <p:blipFill>
          <a:blip r:embed="rId2"/>
          <a:stretch>
            <a:fillRect/>
          </a:stretch>
        </p:blipFill>
        <p:spPr>
          <a:xfrm>
            <a:off x="247841" y="1697965"/>
            <a:ext cx="5852172" cy="4389129"/>
          </a:xfrm>
          <a:prstGeom prst="rect">
            <a:avLst/>
          </a:prstGeom>
        </p:spPr>
      </p:pic>
      <p:pic>
        <p:nvPicPr>
          <p:cNvPr id="7" name="Picture 6">
            <a:extLst>
              <a:ext uri="{FF2B5EF4-FFF2-40B4-BE49-F238E27FC236}">
                <a16:creationId xmlns:a16="http://schemas.microsoft.com/office/drawing/2014/main" id="{92329ABA-CEDD-4EC4-86E2-1C68206BDF83}"/>
              </a:ext>
            </a:extLst>
          </p:cNvPr>
          <p:cNvPicPr>
            <a:picLocks noChangeAspect="1"/>
          </p:cNvPicPr>
          <p:nvPr/>
        </p:nvPicPr>
        <p:blipFill>
          <a:blip r:embed="rId3"/>
          <a:stretch>
            <a:fillRect/>
          </a:stretch>
        </p:blipFill>
        <p:spPr>
          <a:xfrm>
            <a:off x="6088812" y="1697965"/>
            <a:ext cx="5852172" cy="4389129"/>
          </a:xfrm>
          <a:prstGeom prst="rect">
            <a:avLst/>
          </a:prstGeom>
        </p:spPr>
      </p:pic>
    </p:spTree>
    <p:extLst>
      <p:ext uri="{BB962C8B-B14F-4D97-AF65-F5344CB8AC3E}">
        <p14:creationId xmlns:p14="http://schemas.microsoft.com/office/powerpoint/2010/main" val="3812847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6360B-5770-4083-BFED-7FB034545051}"/>
              </a:ext>
            </a:extLst>
          </p:cNvPr>
          <p:cNvSpPr>
            <a:spLocks noGrp="1"/>
          </p:cNvSpPr>
          <p:nvPr>
            <p:ph type="title"/>
          </p:nvPr>
        </p:nvSpPr>
        <p:spPr>
          <a:xfrm>
            <a:off x="1522876" y="609600"/>
            <a:ext cx="9143538" cy="651403"/>
          </a:xfrm>
        </p:spPr>
        <p:txBody>
          <a:bodyPr>
            <a:normAutofit/>
          </a:bodyPr>
          <a:lstStyle/>
          <a:p>
            <a:r>
              <a:rPr lang="en-US" dirty="0">
                <a:latin typeface="Times New Roman" panose="02020603050405020304" pitchFamily="18" charset="0"/>
                <a:cs typeface="Times New Roman" panose="02020603050405020304" pitchFamily="18" charset="0"/>
              </a:rPr>
              <a:t>Result Analysis Cont.</a:t>
            </a:r>
            <a:endParaRPr lang="en-US" dirty="0"/>
          </a:p>
        </p:txBody>
      </p:sp>
      <p:sp>
        <p:nvSpPr>
          <p:cNvPr id="4" name="Date Placeholder 3">
            <a:extLst>
              <a:ext uri="{FF2B5EF4-FFF2-40B4-BE49-F238E27FC236}">
                <a16:creationId xmlns:a16="http://schemas.microsoft.com/office/drawing/2014/main" id="{922C7E99-0874-46F3-A05E-5B4F3803A59F}"/>
              </a:ext>
            </a:extLst>
          </p:cNvPr>
          <p:cNvSpPr>
            <a:spLocks noGrp="1"/>
          </p:cNvSpPr>
          <p:nvPr>
            <p:ph type="dt" sz="half" idx="10"/>
          </p:nvPr>
        </p:nvSpPr>
        <p:spPr/>
        <p:txBody>
          <a:bodyPr/>
          <a:lstStyle/>
          <a:p>
            <a:fld id="{0B573522-4F0E-4552-B4A9-F39343BCD021}" type="datetime1">
              <a:rPr lang="en-US" smtClean="0"/>
              <a:t>1/20/2022</a:t>
            </a:fld>
            <a:endParaRPr lang="en-US" dirty="0"/>
          </a:p>
        </p:txBody>
      </p:sp>
      <p:sp>
        <p:nvSpPr>
          <p:cNvPr id="5" name="Slide Number Placeholder 4">
            <a:extLst>
              <a:ext uri="{FF2B5EF4-FFF2-40B4-BE49-F238E27FC236}">
                <a16:creationId xmlns:a16="http://schemas.microsoft.com/office/drawing/2014/main" id="{EC155669-0284-49BC-8A0F-BCA9CDA4748B}"/>
              </a:ext>
            </a:extLst>
          </p:cNvPr>
          <p:cNvSpPr>
            <a:spLocks noGrp="1"/>
          </p:cNvSpPr>
          <p:nvPr>
            <p:ph type="sldNum" sz="quarter" idx="12"/>
          </p:nvPr>
        </p:nvSpPr>
        <p:spPr/>
        <p:txBody>
          <a:bodyPr/>
          <a:lstStyle/>
          <a:p>
            <a:fld id="{DF28FB93-0A08-4E7D-8E63-9EFA29F1E093}" type="slidenum">
              <a:rPr lang="en-US" smtClean="0"/>
              <a:pPr/>
              <a:t>19</a:t>
            </a:fld>
            <a:endParaRPr lang="en-US" dirty="0"/>
          </a:p>
        </p:txBody>
      </p:sp>
      <p:pic>
        <p:nvPicPr>
          <p:cNvPr id="9" name="Picture 8">
            <a:extLst>
              <a:ext uri="{FF2B5EF4-FFF2-40B4-BE49-F238E27FC236}">
                <a16:creationId xmlns:a16="http://schemas.microsoft.com/office/drawing/2014/main" id="{49AFA872-702E-4BCE-9C90-EE0440D04AF7}"/>
              </a:ext>
            </a:extLst>
          </p:cNvPr>
          <p:cNvPicPr>
            <a:picLocks noChangeAspect="1"/>
          </p:cNvPicPr>
          <p:nvPr/>
        </p:nvPicPr>
        <p:blipFill>
          <a:blip r:embed="rId2"/>
          <a:stretch>
            <a:fillRect/>
          </a:stretch>
        </p:blipFill>
        <p:spPr>
          <a:xfrm>
            <a:off x="239516" y="1692212"/>
            <a:ext cx="5852172" cy="4389129"/>
          </a:xfrm>
          <a:prstGeom prst="rect">
            <a:avLst/>
          </a:prstGeom>
        </p:spPr>
      </p:pic>
      <p:pic>
        <p:nvPicPr>
          <p:cNvPr id="6" name="Picture 5">
            <a:extLst>
              <a:ext uri="{FF2B5EF4-FFF2-40B4-BE49-F238E27FC236}">
                <a16:creationId xmlns:a16="http://schemas.microsoft.com/office/drawing/2014/main" id="{21D13A06-BA0B-45B5-B0B4-13627FE15D85}"/>
              </a:ext>
            </a:extLst>
          </p:cNvPr>
          <p:cNvPicPr>
            <a:picLocks noChangeAspect="1"/>
          </p:cNvPicPr>
          <p:nvPr/>
        </p:nvPicPr>
        <p:blipFill>
          <a:blip r:embed="rId3"/>
          <a:stretch>
            <a:fillRect/>
          </a:stretch>
        </p:blipFill>
        <p:spPr>
          <a:xfrm>
            <a:off x="6097137" y="1696527"/>
            <a:ext cx="5852172" cy="4389129"/>
          </a:xfrm>
          <a:prstGeom prst="rect">
            <a:avLst/>
          </a:prstGeom>
        </p:spPr>
      </p:pic>
    </p:spTree>
    <p:extLst>
      <p:ext uri="{BB962C8B-B14F-4D97-AF65-F5344CB8AC3E}">
        <p14:creationId xmlns:p14="http://schemas.microsoft.com/office/powerpoint/2010/main" val="2142252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161ED-0B7D-44E8-ABA4-5863D7A4D65A}"/>
              </a:ext>
            </a:extLst>
          </p:cNvPr>
          <p:cNvSpPr>
            <a:spLocks noGrp="1"/>
          </p:cNvSpPr>
          <p:nvPr>
            <p:ph type="title"/>
          </p:nvPr>
        </p:nvSpPr>
        <p:spPr>
          <a:xfrm>
            <a:off x="1522876" y="609600"/>
            <a:ext cx="9143538" cy="655718"/>
          </a:xfrm>
        </p:spPr>
        <p:txBody>
          <a:bodyPr>
            <a:normAutofit/>
          </a:bodyPr>
          <a:lstStyle/>
          <a:p>
            <a:r>
              <a:rPr lang="en-US" dirty="0">
                <a:latin typeface="Times New Roman" panose="02020603050405020304" pitchFamily="18" charset="0"/>
                <a:cs typeface="Times New Roman" panose="02020603050405020304" pitchFamily="18" charset="0"/>
              </a:rPr>
              <a:t>Result Analysis Cont.</a:t>
            </a:r>
          </a:p>
        </p:txBody>
      </p:sp>
      <p:sp>
        <p:nvSpPr>
          <p:cNvPr id="4" name="Date Placeholder 3">
            <a:extLst>
              <a:ext uri="{FF2B5EF4-FFF2-40B4-BE49-F238E27FC236}">
                <a16:creationId xmlns:a16="http://schemas.microsoft.com/office/drawing/2014/main" id="{D8B0AC41-FB7B-4C27-A631-C8569478BD43}"/>
              </a:ext>
            </a:extLst>
          </p:cNvPr>
          <p:cNvSpPr>
            <a:spLocks noGrp="1"/>
          </p:cNvSpPr>
          <p:nvPr>
            <p:ph type="dt" sz="half" idx="10"/>
          </p:nvPr>
        </p:nvSpPr>
        <p:spPr/>
        <p:txBody>
          <a:bodyPr/>
          <a:lstStyle/>
          <a:p>
            <a:fld id="{0B573522-4F0E-4552-B4A9-F39343BCD021}" type="datetime1">
              <a:rPr lang="en-US" smtClean="0"/>
              <a:t>1/20/2022</a:t>
            </a:fld>
            <a:endParaRPr lang="en-US" dirty="0"/>
          </a:p>
        </p:txBody>
      </p:sp>
      <p:sp>
        <p:nvSpPr>
          <p:cNvPr id="5" name="Slide Number Placeholder 4">
            <a:extLst>
              <a:ext uri="{FF2B5EF4-FFF2-40B4-BE49-F238E27FC236}">
                <a16:creationId xmlns:a16="http://schemas.microsoft.com/office/drawing/2014/main" id="{BF334B66-C6F1-43C5-B70A-52D9DB7EE78F}"/>
              </a:ext>
            </a:extLst>
          </p:cNvPr>
          <p:cNvSpPr>
            <a:spLocks noGrp="1"/>
          </p:cNvSpPr>
          <p:nvPr>
            <p:ph type="sldNum" sz="quarter" idx="12"/>
          </p:nvPr>
        </p:nvSpPr>
        <p:spPr/>
        <p:txBody>
          <a:bodyPr/>
          <a:lstStyle/>
          <a:p>
            <a:fld id="{DF28FB93-0A08-4E7D-8E63-9EFA29F1E093}" type="slidenum">
              <a:rPr lang="en-US" smtClean="0"/>
              <a:pPr/>
              <a:t>20</a:t>
            </a:fld>
            <a:endParaRPr lang="en-US" dirty="0"/>
          </a:p>
        </p:txBody>
      </p:sp>
      <p:pic>
        <p:nvPicPr>
          <p:cNvPr id="11" name="Picture 10">
            <a:extLst>
              <a:ext uri="{FF2B5EF4-FFF2-40B4-BE49-F238E27FC236}">
                <a16:creationId xmlns:a16="http://schemas.microsoft.com/office/drawing/2014/main" id="{93472978-689D-42F2-A0DE-FFBC5BB4D330}"/>
              </a:ext>
            </a:extLst>
          </p:cNvPr>
          <p:cNvPicPr>
            <a:picLocks noChangeAspect="1"/>
          </p:cNvPicPr>
          <p:nvPr/>
        </p:nvPicPr>
        <p:blipFill>
          <a:blip r:embed="rId2"/>
          <a:stretch>
            <a:fillRect/>
          </a:stretch>
        </p:blipFill>
        <p:spPr>
          <a:xfrm>
            <a:off x="239516" y="1696527"/>
            <a:ext cx="5852172" cy="4389129"/>
          </a:xfrm>
          <a:prstGeom prst="rect">
            <a:avLst/>
          </a:prstGeom>
        </p:spPr>
      </p:pic>
      <p:pic>
        <p:nvPicPr>
          <p:cNvPr id="7" name="Picture 6">
            <a:extLst>
              <a:ext uri="{FF2B5EF4-FFF2-40B4-BE49-F238E27FC236}">
                <a16:creationId xmlns:a16="http://schemas.microsoft.com/office/drawing/2014/main" id="{6D44A381-911D-44C6-AE72-DF827AD06FD3}"/>
              </a:ext>
            </a:extLst>
          </p:cNvPr>
          <p:cNvPicPr>
            <a:picLocks noChangeAspect="1"/>
          </p:cNvPicPr>
          <p:nvPr/>
        </p:nvPicPr>
        <p:blipFill>
          <a:blip r:embed="rId3"/>
          <a:stretch>
            <a:fillRect/>
          </a:stretch>
        </p:blipFill>
        <p:spPr>
          <a:xfrm>
            <a:off x="6097137" y="1696527"/>
            <a:ext cx="5852172" cy="4389129"/>
          </a:xfrm>
          <a:prstGeom prst="rect">
            <a:avLst/>
          </a:prstGeom>
        </p:spPr>
      </p:pic>
    </p:spTree>
    <p:extLst>
      <p:ext uri="{BB962C8B-B14F-4D97-AF65-F5344CB8AC3E}">
        <p14:creationId xmlns:p14="http://schemas.microsoft.com/office/powerpoint/2010/main" val="3096984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60BEF-79D8-4F38-9949-CAE412F5034F}"/>
              </a:ext>
            </a:extLst>
          </p:cNvPr>
          <p:cNvSpPr>
            <a:spLocks noGrp="1"/>
          </p:cNvSpPr>
          <p:nvPr>
            <p:ph type="title"/>
          </p:nvPr>
        </p:nvSpPr>
        <p:spPr>
          <a:xfrm>
            <a:off x="1522876" y="609600"/>
            <a:ext cx="9143538" cy="609600"/>
          </a:xfrm>
        </p:spPr>
        <p:txBody>
          <a:bodyPr>
            <a:normAutofit/>
          </a:bodyPr>
          <a:lstStyle/>
          <a:p>
            <a:r>
              <a:rPr lang="en-US" dirty="0">
                <a:latin typeface="Times New Roman" panose="02020603050405020304" pitchFamily="18" charset="0"/>
                <a:cs typeface="Times New Roman" panose="02020603050405020304" pitchFamily="18" charset="0"/>
              </a:rPr>
              <a:t>Result Analysis Cont.</a:t>
            </a:r>
          </a:p>
        </p:txBody>
      </p:sp>
      <p:sp>
        <p:nvSpPr>
          <p:cNvPr id="4" name="Date Placeholder 3">
            <a:extLst>
              <a:ext uri="{FF2B5EF4-FFF2-40B4-BE49-F238E27FC236}">
                <a16:creationId xmlns:a16="http://schemas.microsoft.com/office/drawing/2014/main" id="{70E4F5B1-D77A-416F-9C85-FCB2DBF5B3EF}"/>
              </a:ext>
            </a:extLst>
          </p:cNvPr>
          <p:cNvSpPr>
            <a:spLocks noGrp="1"/>
          </p:cNvSpPr>
          <p:nvPr>
            <p:ph type="dt" sz="half" idx="10"/>
          </p:nvPr>
        </p:nvSpPr>
        <p:spPr/>
        <p:txBody>
          <a:bodyPr/>
          <a:lstStyle/>
          <a:p>
            <a:fld id="{0B573522-4F0E-4552-B4A9-F39343BCD021}" type="datetime1">
              <a:rPr lang="en-US" smtClean="0"/>
              <a:t>1/20/2022</a:t>
            </a:fld>
            <a:endParaRPr lang="en-US" dirty="0"/>
          </a:p>
        </p:txBody>
      </p:sp>
      <p:sp>
        <p:nvSpPr>
          <p:cNvPr id="5" name="Slide Number Placeholder 4">
            <a:extLst>
              <a:ext uri="{FF2B5EF4-FFF2-40B4-BE49-F238E27FC236}">
                <a16:creationId xmlns:a16="http://schemas.microsoft.com/office/drawing/2014/main" id="{C1480E95-7F40-44E4-9D00-4EEB0169B1D5}"/>
              </a:ext>
            </a:extLst>
          </p:cNvPr>
          <p:cNvSpPr>
            <a:spLocks noGrp="1"/>
          </p:cNvSpPr>
          <p:nvPr>
            <p:ph type="sldNum" sz="quarter" idx="12"/>
          </p:nvPr>
        </p:nvSpPr>
        <p:spPr/>
        <p:txBody>
          <a:bodyPr/>
          <a:lstStyle/>
          <a:p>
            <a:fld id="{DF28FB93-0A08-4E7D-8E63-9EFA29F1E093}" type="slidenum">
              <a:rPr lang="en-US" smtClean="0"/>
              <a:pPr/>
              <a:t>21</a:t>
            </a:fld>
            <a:endParaRPr lang="en-US" dirty="0"/>
          </a:p>
        </p:txBody>
      </p:sp>
      <p:pic>
        <p:nvPicPr>
          <p:cNvPr id="11" name="Picture 10">
            <a:extLst>
              <a:ext uri="{FF2B5EF4-FFF2-40B4-BE49-F238E27FC236}">
                <a16:creationId xmlns:a16="http://schemas.microsoft.com/office/drawing/2014/main" id="{85B206E7-ACA3-478E-A350-927804ACF0BC}"/>
              </a:ext>
            </a:extLst>
          </p:cNvPr>
          <p:cNvPicPr>
            <a:picLocks noChangeAspect="1"/>
          </p:cNvPicPr>
          <p:nvPr/>
        </p:nvPicPr>
        <p:blipFill>
          <a:blip r:embed="rId2"/>
          <a:stretch>
            <a:fillRect/>
          </a:stretch>
        </p:blipFill>
        <p:spPr>
          <a:xfrm>
            <a:off x="242240" y="1842018"/>
            <a:ext cx="5852172" cy="4389129"/>
          </a:xfrm>
          <a:prstGeom prst="rect">
            <a:avLst/>
          </a:prstGeom>
        </p:spPr>
      </p:pic>
      <p:pic>
        <p:nvPicPr>
          <p:cNvPr id="6" name="Picture 5">
            <a:extLst>
              <a:ext uri="{FF2B5EF4-FFF2-40B4-BE49-F238E27FC236}">
                <a16:creationId xmlns:a16="http://schemas.microsoft.com/office/drawing/2014/main" id="{93B3C6D9-5676-4F5E-85C5-EB8559E1FDE7}"/>
              </a:ext>
            </a:extLst>
          </p:cNvPr>
          <p:cNvPicPr>
            <a:picLocks noChangeAspect="1"/>
          </p:cNvPicPr>
          <p:nvPr/>
        </p:nvPicPr>
        <p:blipFill>
          <a:blip r:embed="rId3"/>
          <a:stretch>
            <a:fillRect/>
          </a:stretch>
        </p:blipFill>
        <p:spPr>
          <a:xfrm>
            <a:off x="6100014" y="1842017"/>
            <a:ext cx="5852172" cy="4389129"/>
          </a:xfrm>
          <a:prstGeom prst="rect">
            <a:avLst/>
          </a:prstGeom>
        </p:spPr>
      </p:pic>
    </p:spTree>
    <p:extLst>
      <p:ext uri="{BB962C8B-B14F-4D97-AF65-F5344CB8AC3E}">
        <p14:creationId xmlns:p14="http://schemas.microsoft.com/office/powerpoint/2010/main" val="3736008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B4A87-06BC-4FF3-83E9-0F6F36BFC372}"/>
              </a:ext>
            </a:extLst>
          </p:cNvPr>
          <p:cNvSpPr>
            <a:spLocks noGrp="1"/>
          </p:cNvSpPr>
          <p:nvPr>
            <p:ph type="title"/>
          </p:nvPr>
        </p:nvSpPr>
        <p:spPr>
          <a:xfrm>
            <a:off x="1522876" y="609600"/>
            <a:ext cx="9143538" cy="645935"/>
          </a:xfrm>
        </p:spPr>
        <p:txBody>
          <a:bodyPr>
            <a:normAutofit/>
          </a:bodyPr>
          <a:lstStyle/>
          <a:p>
            <a:r>
              <a:rPr lang="en-US" dirty="0">
                <a:latin typeface="Times New Roman" panose="02020603050405020304" pitchFamily="18" charset="0"/>
                <a:cs typeface="Times New Roman" panose="02020603050405020304" pitchFamily="18" charset="0"/>
              </a:rPr>
              <a:t>Conclusion &amp; Future Work</a:t>
            </a:r>
          </a:p>
        </p:txBody>
      </p:sp>
      <p:sp>
        <p:nvSpPr>
          <p:cNvPr id="3" name="Content Placeholder 2">
            <a:extLst>
              <a:ext uri="{FF2B5EF4-FFF2-40B4-BE49-F238E27FC236}">
                <a16:creationId xmlns:a16="http://schemas.microsoft.com/office/drawing/2014/main" id="{19E336F9-AB7B-4C4B-BCD0-4976734CE86F}"/>
              </a:ext>
            </a:extLst>
          </p:cNvPr>
          <p:cNvSpPr>
            <a:spLocks noGrp="1"/>
          </p:cNvSpPr>
          <p:nvPr>
            <p:ph idx="1"/>
          </p:nvPr>
        </p:nvSpPr>
        <p:spPr/>
        <p:txBody>
          <a:bodyPr>
            <a:normAutofit/>
          </a:bodyPr>
          <a:lstStyle/>
          <a:p>
            <a:pPr algn="just">
              <a:spcBef>
                <a:spcPts val="600"/>
              </a:spcBef>
            </a:pPr>
            <a:r>
              <a:rPr lang="en-US" sz="2000" dirty="0">
                <a:latin typeface="Times New Roman" panose="02020603050405020304" pitchFamily="18" charset="0"/>
                <a:cs typeface="Times New Roman" panose="02020603050405020304" pitchFamily="18" charset="0"/>
              </a:rPr>
              <a:t>Overall, the findings and the proposed model’s characteristics are as follows:</a:t>
            </a:r>
          </a:p>
          <a:p>
            <a:pPr lvl="1" algn="just">
              <a:spcBef>
                <a:spcPts val="600"/>
              </a:spcBef>
            </a:pPr>
            <a:r>
              <a:rPr lang="en-US" sz="1600" dirty="0">
                <a:latin typeface="Times New Roman" panose="02020603050405020304" pitchFamily="18" charset="0"/>
                <a:cs typeface="Times New Roman" panose="02020603050405020304" pitchFamily="18" charset="0"/>
              </a:rPr>
              <a:t>Best Performing FT Methods for Biopsy FT1 (Logarithmic), for Cytology FT3 (Sine function), for </a:t>
            </a:r>
            <a:r>
              <a:rPr lang="en-US" sz="1600" dirty="0" err="1">
                <a:latin typeface="Times New Roman" panose="02020603050405020304" pitchFamily="18" charset="0"/>
                <a:cs typeface="Times New Roman" panose="02020603050405020304" pitchFamily="18" charset="0"/>
              </a:rPr>
              <a:t>Hinselmann</a:t>
            </a:r>
            <a:r>
              <a:rPr lang="en-US" sz="1600" dirty="0">
                <a:latin typeface="Times New Roman" panose="02020603050405020304" pitchFamily="18" charset="0"/>
                <a:cs typeface="Times New Roman" panose="02020603050405020304" pitchFamily="18" charset="0"/>
              </a:rPr>
              <a:t> FT1(Logarithmic) and FT3 (Sine function), for Schiller (</a:t>
            </a:r>
            <a:r>
              <a:rPr lang="en-US" sz="1600" dirty="0" err="1">
                <a:latin typeface="Times New Roman" panose="02020603050405020304" pitchFamily="18" charset="0"/>
                <a:cs typeface="Times New Roman" panose="02020603050405020304" pitchFamily="18" charset="0"/>
              </a:rPr>
              <a:t>IBk</a:t>
            </a:r>
            <a:r>
              <a:rPr lang="en-US" sz="1600" dirty="0">
                <a:latin typeface="Times New Roman" panose="02020603050405020304" pitchFamily="18" charset="0"/>
                <a:cs typeface="Times New Roman" panose="02020603050405020304" pitchFamily="18" charset="0"/>
              </a:rPr>
              <a:t>) </a:t>
            </a:r>
          </a:p>
          <a:p>
            <a:pPr lvl="1" algn="just">
              <a:spcBef>
                <a:spcPts val="600"/>
              </a:spcBef>
            </a:pPr>
            <a:r>
              <a:rPr lang="en-US" sz="1600" dirty="0">
                <a:latin typeface="Times New Roman" panose="02020603050405020304" pitchFamily="18" charset="0"/>
                <a:cs typeface="Times New Roman" panose="02020603050405020304" pitchFamily="18" charset="0"/>
              </a:rPr>
              <a:t>The best performing classifier for Biopsy and Cytology is RT, for </a:t>
            </a:r>
            <a:r>
              <a:rPr lang="en-US" sz="1600" dirty="0" err="1">
                <a:latin typeface="Times New Roman" panose="02020603050405020304" pitchFamily="18" charset="0"/>
                <a:cs typeface="Times New Roman" panose="02020603050405020304" pitchFamily="18" charset="0"/>
              </a:rPr>
              <a:t>Hinselmann</a:t>
            </a:r>
            <a:r>
              <a:rPr lang="en-US" sz="1600" dirty="0">
                <a:latin typeface="Times New Roman" panose="02020603050405020304" pitchFamily="18" charset="0"/>
                <a:cs typeface="Times New Roman" panose="02020603050405020304" pitchFamily="18" charset="0"/>
              </a:rPr>
              <a:t> and Schiller RF and </a:t>
            </a:r>
            <a:r>
              <a:rPr lang="en-US" sz="1600" dirty="0" err="1">
                <a:latin typeface="Times New Roman" panose="02020603050405020304" pitchFamily="18" charset="0"/>
                <a:cs typeface="Times New Roman" panose="02020603050405020304" pitchFamily="18" charset="0"/>
              </a:rPr>
              <a:t>IBk</a:t>
            </a:r>
            <a:r>
              <a:rPr lang="en-US" sz="1600" dirty="0">
                <a:latin typeface="Times New Roman" panose="02020603050405020304" pitchFamily="18" charset="0"/>
                <a:cs typeface="Times New Roman" panose="02020603050405020304" pitchFamily="18" charset="0"/>
              </a:rPr>
              <a:t> respectively.</a:t>
            </a:r>
          </a:p>
          <a:p>
            <a:pPr lvl="1" algn="just">
              <a:spcBef>
                <a:spcPts val="600"/>
              </a:spcBef>
            </a:pPr>
            <a:r>
              <a:rPr lang="en-US" sz="1600" dirty="0">
                <a:latin typeface="Times New Roman" panose="02020603050405020304" pitchFamily="18" charset="0"/>
                <a:cs typeface="Times New Roman" panose="02020603050405020304" pitchFamily="18" charset="0"/>
              </a:rPr>
              <a:t>Increasing awareness among women about CC.</a:t>
            </a:r>
          </a:p>
          <a:p>
            <a:pPr lvl="1" algn="just">
              <a:spcBef>
                <a:spcPts val="600"/>
              </a:spcBef>
            </a:pPr>
            <a:r>
              <a:rPr lang="en-US" sz="1600" dirty="0">
                <a:latin typeface="Times New Roman" panose="02020603050405020304" pitchFamily="18" charset="0"/>
                <a:cs typeface="Times New Roman" panose="02020603050405020304" pitchFamily="18" charset="0"/>
              </a:rPr>
              <a:t>Reducing screening test cost.</a:t>
            </a:r>
          </a:p>
          <a:p>
            <a:pPr lvl="1" algn="just">
              <a:spcBef>
                <a:spcPts val="600"/>
              </a:spcBef>
            </a:pPr>
            <a:r>
              <a:rPr lang="en-US" sz="1600" dirty="0">
                <a:latin typeface="Times New Roman" panose="02020603050405020304" pitchFamily="18" charset="0"/>
                <a:cs typeface="Times New Roman" panose="02020603050405020304" pitchFamily="18" charset="0"/>
              </a:rPr>
              <a:t>Reducing death toll due to CC.</a:t>
            </a:r>
          </a:p>
          <a:p>
            <a:pPr algn="just">
              <a:spcBef>
                <a:spcPts val="600"/>
              </a:spcBef>
            </a:pPr>
            <a:r>
              <a:rPr lang="en-US" sz="2000" dirty="0">
                <a:latin typeface="Times New Roman" panose="02020603050405020304" pitchFamily="18" charset="0"/>
                <a:cs typeface="Times New Roman" panose="02020603050405020304" pitchFamily="18" charset="0"/>
              </a:rPr>
              <a:t>Future Work</a:t>
            </a:r>
          </a:p>
          <a:p>
            <a:pPr lvl="1" algn="just">
              <a:spcBef>
                <a:spcPts val="600"/>
              </a:spcBef>
            </a:pPr>
            <a:r>
              <a:rPr lang="en-US" sz="1600" dirty="0">
                <a:latin typeface="Times New Roman" panose="02020603050405020304" pitchFamily="18" charset="0"/>
                <a:cs typeface="Times New Roman" panose="02020603050405020304" pitchFamily="18" charset="0"/>
              </a:rPr>
              <a:t>The accuracy of the proposed work can be upgraded by applying a large  Dataset.</a:t>
            </a:r>
          </a:p>
          <a:p>
            <a:pPr lvl="1" algn="just">
              <a:spcBef>
                <a:spcPts val="600"/>
              </a:spcBef>
            </a:pPr>
            <a:r>
              <a:rPr lang="en-US" sz="1600" dirty="0">
                <a:latin typeface="Times New Roman" panose="02020603050405020304" pitchFamily="18" charset="0"/>
                <a:cs typeface="Times New Roman" panose="02020603050405020304" pitchFamily="18" charset="0"/>
              </a:rPr>
              <a:t> Furthermore, others algorithms can be applied for a better understanding of the estimated model. </a:t>
            </a:r>
          </a:p>
          <a:p>
            <a:pPr algn="just">
              <a:spcBef>
                <a:spcPts val="600"/>
              </a:spcBef>
            </a:pPr>
            <a:endParaRPr lang="en-US"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B638D47-ABEF-4818-8BF7-C6B8AA11738D}"/>
              </a:ext>
            </a:extLst>
          </p:cNvPr>
          <p:cNvSpPr>
            <a:spLocks noGrp="1"/>
          </p:cNvSpPr>
          <p:nvPr>
            <p:ph type="dt" sz="half" idx="10"/>
          </p:nvPr>
        </p:nvSpPr>
        <p:spPr/>
        <p:txBody>
          <a:bodyPr/>
          <a:lstStyle/>
          <a:p>
            <a:fld id="{0B573522-4F0E-4552-B4A9-F39343BCD021}" type="datetime1">
              <a:rPr lang="en-US" smtClean="0"/>
              <a:t>1/20/2022</a:t>
            </a:fld>
            <a:endParaRPr lang="en-US" dirty="0"/>
          </a:p>
        </p:txBody>
      </p:sp>
      <p:sp>
        <p:nvSpPr>
          <p:cNvPr id="5" name="Slide Number Placeholder 4">
            <a:extLst>
              <a:ext uri="{FF2B5EF4-FFF2-40B4-BE49-F238E27FC236}">
                <a16:creationId xmlns:a16="http://schemas.microsoft.com/office/drawing/2014/main" id="{4FDF6CF8-CC53-44B1-B999-CC8FCE0616BD}"/>
              </a:ext>
            </a:extLst>
          </p:cNvPr>
          <p:cNvSpPr>
            <a:spLocks noGrp="1"/>
          </p:cNvSpPr>
          <p:nvPr>
            <p:ph type="sldNum" sz="quarter" idx="12"/>
          </p:nvPr>
        </p:nvSpPr>
        <p:spPr/>
        <p:txBody>
          <a:bodyPr/>
          <a:lstStyle/>
          <a:p>
            <a:fld id="{DF28FB93-0A08-4E7D-8E63-9EFA29F1E093}" type="slidenum">
              <a:rPr lang="en-US" smtClean="0"/>
              <a:pPr/>
              <a:t>22</a:t>
            </a:fld>
            <a:endParaRPr lang="en-US" dirty="0"/>
          </a:p>
        </p:txBody>
      </p:sp>
    </p:spTree>
    <p:extLst>
      <p:ext uri="{BB962C8B-B14F-4D97-AF65-F5344CB8AC3E}">
        <p14:creationId xmlns:p14="http://schemas.microsoft.com/office/powerpoint/2010/main" val="3452182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1C190-C023-4D52-9569-CBC19293947A}"/>
              </a:ext>
            </a:extLst>
          </p:cNvPr>
          <p:cNvSpPr>
            <a:spLocks noGrp="1"/>
          </p:cNvSpPr>
          <p:nvPr>
            <p:ph type="title"/>
          </p:nvPr>
        </p:nvSpPr>
        <p:spPr>
          <a:xfrm>
            <a:off x="1522876" y="609600"/>
            <a:ext cx="9143538" cy="645935"/>
          </a:xfrm>
        </p:spPr>
        <p:txBody>
          <a:bodyPr>
            <a:normAutofit/>
          </a:bodyPr>
          <a:lstStyle/>
          <a:p>
            <a:r>
              <a:rPr lang="en-US" dirty="0">
                <a:latin typeface="Times New Roman" panose="02020603050405020304" pitchFamily="18" charset="0"/>
                <a:cs typeface="Times New Roman" panose="02020603050405020304" pitchFamily="18" charset="0"/>
              </a:rPr>
              <a:t>Achievement</a:t>
            </a:r>
          </a:p>
        </p:txBody>
      </p:sp>
      <p:sp>
        <p:nvSpPr>
          <p:cNvPr id="3" name="Content Placeholder 2">
            <a:extLst>
              <a:ext uri="{FF2B5EF4-FFF2-40B4-BE49-F238E27FC236}">
                <a16:creationId xmlns:a16="http://schemas.microsoft.com/office/drawing/2014/main" id="{6042AA8E-9D0A-4D01-BD38-E7F6E9850762}"/>
              </a:ext>
            </a:extLst>
          </p:cNvPr>
          <p:cNvSpPr>
            <a:spLocks noGrp="1"/>
          </p:cNvSpPr>
          <p:nvPr>
            <p:ph idx="1"/>
          </p:nvPr>
        </p:nvSpPr>
        <p:spPr/>
        <p:txBody>
          <a:bodyPr>
            <a:normAutofit/>
          </a:bodyPr>
          <a:lstStyle/>
          <a:p>
            <a:r>
              <a:rPr lang="en-US" sz="2000" b="1" dirty="0">
                <a:latin typeface="Times New Roman" panose="02020603050405020304" pitchFamily="18" charset="0"/>
                <a:cs typeface="Times New Roman" panose="02020603050405020304" pitchFamily="18" charset="0"/>
              </a:rPr>
              <a:t>Manuscript Title: </a:t>
            </a:r>
            <a:r>
              <a:rPr lang="en-US" sz="2000" dirty="0">
                <a:latin typeface="Times New Roman" panose="02020603050405020304" pitchFamily="18" charset="0"/>
                <a:cs typeface="Times New Roman" panose="02020603050405020304" pitchFamily="18" charset="0"/>
              </a:rPr>
              <a:t>Machine Learning-Based Statistical Analysis for Early Stage Detection of Cervical Cancer.</a:t>
            </a:r>
          </a:p>
          <a:p>
            <a:r>
              <a:rPr lang="en-US" sz="2000" b="1" dirty="0">
                <a:latin typeface="Times New Roman" panose="02020603050405020304" pitchFamily="18" charset="0"/>
                <a:cs typeface="Times New Roman" panose="02020603050405020304" pitchFamily="18" charset="0"/>
              </a:rPr>
              <a:t>Journal Name: </a:t>
            </a:r>
            <a:r>
              <a:rPr lang="en-US" sz="2000" dirty="0">
                <a:latin typeface="Times New Roman" panose="02020603050405020304" pitchFamily="18" charset="0"/>
                <a:cs typeface="Times New Roman" panose="02020603050405020304" pitchFamily="18" charset="0"/>
              </a:rPr>
              <a:t>Computers in Biology &amp; Medicine</a:t>
            </a:r>
          </a:p>
          <a:p>
            <a:r>
              <a:rPr lang="en-US" sz="2000" b="1" dirty="0">
                <a:latin typeface="Times New Roman" panose="02020603050405020304" pitchFamily="18" charset="0"/>
                <a:cs typeface="Times New Roman" panose="02020603050405020304" pitchFamily="18" charset="0"/>
              </a:rPr>
              <a:t>Quartile: </a:t>
            </a:r>
            <a:r>
              <a:rPr lang="en-US" sz="2000" dirty="0">
                <a:latin typeface="Times New Roman" panose="02020603050405020304" pitchFamily="18" charset="0"/>
                <a:cs typeface="Times New Roman" panose="02020603050405020304" pitchFamily="18" charset="0"/>
              </a:rPr>
              <a:t>Q1</a:t>
            </a:r>
          </a:p>
          <a:p>
            <a:r>
              <a:rPr lang="en-US" sz="2000" b="1" dirty="0">
                <a:latin typeface="Times New Roman" panose="02020603050405020304" pitchFamily="18" charset="0"/>
                <a:cs typeface="Times New Roman" panose="02020603050405020304" pitchFamily="18" charset="0"/>
              </a:rPr>
              <a:t>Impact Factor: </a:t>
            </a:r>
            <a:r>
              <a:rPr lang="en-US" sz="2000" dirty="0">
                <a:latin typeface="Times New Roman" panose="02020603050405020304" pitchFamily="18" charset="0"/>
                <a:cs typeface="Times New Roman" panose="02020603050405020304" pitchFamily="18" charset="0"/>
              </a:rPr>
              <a:t>4.589</a:t>
            </a:r>
          </a:p>
          <a:p>
            <a:r>
              <a:rPr lang="en-US" sz="2000" b="1" dirty="0">
                <a:latin typeface="Times New Roman" panose="02020603050405020304" pitchFamily="18" charset="0"/>
                <a:cs typeface="Times New Roman" panose="02020603050405020304" pitchFamily="18" charset="0"/>
              </a:rPr>
              <a:t>DOI: </a:t>
            </a:r>
            <a:r>
              <a:rPr lang="en-US" sz="2000" b="0" i="0" u="none" strike="noStrike" dirty="0">
                <a:effectLst/>
                <a:latin typeface="Times New Roman" panose="02020603050405020304" pitchFamily="18" charset="0"/>
                <a:cs typeface="Times New Roman" panose="02020603050405020304" pitchFamily="18" charset="0"/>
                <a:hlinkClick r:id="rId2" tooltip="Persistent link using digital object identifier">
                  <a:extLst>
                    <a:ext uri="{A12FA001-AC4F-418D-AE19-62706E023703}">
                      <ahyp:hlinkClr xmlns:ahyp="http://schemas.microsoft.com/office/drawing/2018/hyperlinkcolor" val="tx"/>
                    </a:ext>
                  </a:extLst>
                </a:hlinkClick>
              </a:rPr>
              <a:t>https://doi.org/10.1016/j.compbiomed.2021.104985</a:t>
            </a:r>
            <a:endParaRPr lang="en-US"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725250A-A409-44D0-AE11-EF95AC17FBB6}"/>
              </a:ext>
            </a:extLst>
          </p:cNvPr>
          <p:cNvSpPr>
            <a:spLocks noGrp="1"/>
          </p:cNvSpPr>
          <p:nvPr>
            <p:ph type="dt" sz="half" idx="10"/>
          </p:nvPr>
        </p:nvSpPr>
        <p:spPr/>
        <p:txBody>
          <a:bodyPr/>
          <a:lstStyle/>
          <a:p>
            <a:fld id="{0B573522-4F0E-4552-B4A9-F39343BCD021}" type="datetime1">
              <a:rPr lang="en-US" smtClean="0"/>
              <a:t>1/20/2022</a:t>
            </a:fld>
            <a:endParaRPr lang="en-US" dirty="0"/>
          </a:p>
        </p:txBody>
      </p:sp>
      <p:sp>
        <p:nvSpPr>
          <p:cNvPr id="5" name="Slide Number Placeholder 4">
            <a:extLst>
              <a:ext uri="{FF2B5EF4-FFF2-40B4-BE49-F238E27FC236}">
                <a16:creationId xmlns:a16="http://schemas.microsoft.com/office/drawing/2014/main" id="{731839D5-173C-4716-B99B-D05F548DC7E0}"/>
              </a:ext>
            </a:extLst>
          </p:cNvPr>
          <p:cNvSpPr>
            <a:spLocks noGrp="1"/>
          </p:cNvSpPr>
          <p:nvPr>
            <p:ph type="sldNum" sz="quarter" idx="12"/>
          </p:nvPr>
        </p:nvSpPr>
        <p:spPr/>
        <p:txBody>
          <a:bodyPr/>
          <a:lstStyle/>
          <a:p>
            <a:fld id="{DF28FB93-0A08-4E7D-8E63-9EFA29F1E093}" type="slidenum">
              <a:rPr lang="en-US" smtClean="0"/>
              <a:pPr/>
              <a:t>23</a:t>
            </a:fld>
            <a:endParaRPr lang="en-US" dirty="0"/>
          </a:p>
        </p:txBody>
      </p:sp>
    </p:spTree>
    <p:extLst>
      <p:ext uri="{BB962C8B-B14F-4D97-AF65-F5344CB8AC3E}">
        <p14:creationId xmlns:p14="http://schemas.microsoft.com/office/powerpoint/2010/main" val="2883504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A0BE4-9515-4562-B7E0-E3F6DB1D0E7D}"/>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Reference</a:t>
            </a:r>
          </a:p>
        </p:txBody>
      </p:sp>
      <p:sp>
        <p:nvSpPr>
          <p:cNvPr id="3" name="Content Placeholder 2">
            <a:extLst>
              <a:ext uri="{FF2B5EF4-FFF2-40B4-BE49-F238E27FC236}">
                <a16:creationId xmlns:a16="http://schemas.microsoft.com/office/drawing/2014/main" id="{5BFE163A-5005-4150-BBB4-E0F24DC1F09A}"/>
              </a:ext>
            </a:extLst>
          </p:cNvPr>
          <p:cNvSpPr>
            <a:spLocks noGrp="1"/>
          </p:cNvSpPr>
          <p:nvPr>
            <p:ph idx="1"/>
          </p:nvPr>
        </p:nvSpPr>
        <p:spPr>
          <a:xfrm>
            <a:off x="1522876" y="1905000"/>
            <a:ext cx="9143538" cy="4343400"/>
          </a:xfrm>
        </p:spPr>
        <p:txBody>
          <a:bodyPr>
            <a:noAutofit/>
          </a:bodyPr>
          <a:lstStyle/>
          <a:p>
            <a:pPr marL="342900" indent="-342900" algn="just">
              <a:spcBef>
                <a:spcPts val="0"/>
              </a:spcBef>
              <a:buFont typeface="+mj-lt"/>
              <a:buAutoNum type="arabicPeriod"/>
            </a:pPr>
            <a:r>
              <a:rPr lang="en-US" sz="1400" dirty="0">
                <a:latin typeface="Times New Roman" panose="02020603050405020304" pitchFamily="18" charset="0"/>
                <a:cs typeface="Times New Roman" panose="02020603050405020304" pitchFamily="18" charset="0"/>
              </a:rPr>
              <a:t>Olusola, P., Banerjee, H.N., </a:t>
            </a:r>
            <a:r>
              <a:rPr lang="en-US" sz="1400" dirty="0" err="1">
                <a:latin typeface="Times New Roman" panose="02020603050405020304" pitchFamily="18" charset="0"/>
                <a:cs typeface="Times New Roman" panose="02020603050405020304" pitchFamily="18" charset="0"/>
              </a:rPr>
              <a:t>Philley</a:t>
            </a:r>
            <a:r>
              <a:rPr lang="en-US" sz="1400" dirty="0">
                <a:latin typeface="Times New Roman" panose="02020603050405020304" pitchFamily="18" charset="0"/>
                <a:cs typeface="Times New Roman" panose="02020603050405020304" pitchFamily="18" charset="0"/>
              </a:rPr>
              <a:t>, J.V. and Dasgupta, S., 2019. Human papilloma virus-associated cervical cancer and health disparities. Cells, 8(6), p.622.</a:t>
            </a:r>
          </a:p>
          <a:p>
            <a:pPr marL="342900" indent="-342900" algn="just">
              <a:spcBef>
                <a:spcPts val="0"/>
              </a:spcBef>
              <a:buFont typeface="+mj-lt"/>
              <a:buAutoNum type="arabicPeriod"/>
            </a:pPr>
            <a:r>
              <a:rPr lang="en-US" sz="1400" dirty="0">
                <a:latin typeface="Times New Roman" panose="02020603050405020304" pitchFamily="18" charset="0"/>
                <a:cs typeface="Times New Roman" panose="02020603050405020304" pitchFamily="18" charset="0"/>
              </a:rPr>
              <a:t>https://www.cancer.org/cancer/cervical-cancer/about/key-statistics.html  [Accessed on 28 February, 2021] </a:t>
            </a:r>
          </a:p>
          <a:p>
            <a:pPr marL="342900" indent="-342900" algn="just">
              <a:spcBef>
                <a:spcPts val="0"/>
              </a:spcBef>
              <a:buFont typeface="+mj-lt"/>
              <a:buAutoNum type="arabicPeriod"/>
            </a:pPr>
            <a:r>
              <a:rPr lang="en-US" sz="1400" dirty="0">
                <a:latin typeface="Times New Roman" panose="02020603050405020304" pitchFamily="18" charset="0"/>
                <a:cs typeface="Times New Roman" panose="02020603050405020304" pitchFamily="18" charset="0"/>
              </a:rPr>
              <a:t>Burchell, A.N., Winer, R.L., de </a:t>
            </a:r>
            <a:r>
              <a:rPr lang="en-US" sz="1400" dirty="0" err="1">
                <a:latin typeface="Times New Roman" panose="02020603050405020304" pitchFamily="18" charset="0"/>
                <a:cs typeface="Times New Roman" panose="02020603050405020304" pitchFamily="18" charset="0"/>
              </a:rPr>
              <a:t>Sanjosé</a:t>
            </a:r>
            <a:r>
              <a:rPr lang="en-US" sz="1400" dirty="0">
                <a:latin typeface="Times New Roman" panose="02020603050405020304" pitchFamily="18" charset="0"/>
                <a:cs typeface="Times New Roman" panose="02020603050405020304" pitchFamily="18" charset="0"/>
              </a:rPr>
              <a:t>, S. and Franco, E.L., 2006. Epidemiology and transmission dynamics of genital HPV infection. Vaccine, 24, pp.S52-S61.</a:t>
            </a:r>
          </a:p>
          <a:p>
            <a:pPr marL="342900" indent="-342900" algn="just">
              <a:spcBef>
                <a:spcPts val="0"/>
              </a:spcBef>
              <a:buFont typeface="+mj-lt"/>
              <a:buAutoNum type="arabicPeriod"/>
            </a:pPr>
            <a:r>
              <a:rPr lang="en-US" sz="1400" dirty="0" err="1">
                <a:latin typeface="Times New Roman" panose="02020603050405020304" pitchFamily="18" charset="0"/>
                <a:cs typeface="Times New Roman" panose="02020603050405020304" pitchFamily="18" charset="0"/>
              </a:rPr>
              <a:t>Mohaghegh</a:t>
            </a:r>
            <a:r>
              <a:rPr lang="en-US" sz="1400" dirty="0">
                <a:latin typeface="Times New Roman" panose="02020603050405020304" pitchFamily="18" charset="0"/>
                <a:cs typeface="Times New Roman" panose="02020603050405020304" pitchFamily="18" charset="0"/>
              </a:rPr>
              <a:t>, F. and </a:t>
            </a:r>
            <a:r>
              <a:rPr lang="en-US" sz="1400" dirty="0" err="1">
                <a:latin typeface="Times New Roman" panose="02020603050405020304" pitchFamily="18" charset="0"/>
                <a:cs typeface="Times New Roman" panose="02020603050405020304" pitchFamily="18" charset="0"/>
              </a:rPr>
              <a:t>Ahmadlou</a:t>
            </a:r>
            <a:r>
              <a:rPr lang="en-US" sz="1400" dirty="0">
                <a:latin typeface="Times New Roman" panose="02020603050405020304" pitchFamily="18" charset="0"/>
                <a:cs typeface="Times New Roman" panose="02020603050405020304" pitchFamily="18" charset="0"/>
              </a:rPr>
              <a:t>, M., 2015. A Study of the Prevalence of Cervical Cancer among Married </a:t>
            </a:r>
            <a:r>
              <a:rPr lang="en-US" sz="1400" dirty="0" err="1">
                <a:latin typeface="Times New Roman" panose="02020603050405020304" pitchFamily="18" charset="0"/>
                <a:cs typeface="Times New Roman" panose="02020603050405020304" pitchFamily="18" charset="0"/>
              </a:rPr>
              <a:t>Wemon</a:t>
            </a:r>
            <a:r>
              <a:rPr lang="en-US" sz="1400" dirty="0">
                <a:latin typeface="Times New Roman" panose="02020603050405020304" pitchFamily="18" charset="0"/>
                <a:cs typeface="Times New Roman" panose="02020603050405020304" pitchFamily="18" charset="0"/>
              </a:rPr>
              <a:t> in Arak, 2013. Journal of Arak university of Medical Sciences, 18(4), pp.65-70.</a:t>
            </a:r>
          </a:p>
          <a:p>
            <a:pPr marL="342900" indent="-342900" algn="just">
              <a:spcBef>
                <a:spcPts val="0"/>
              </a:spcBef>
              <a:buFont typeface="+mj-lt"/>
              <a:buAutoNum type="arabicPeriod"/>
            </a:pPr>
            <a:r>
              <a:rPr lang="en-US" sz="1400" dirty="0" err="1">
                <a:latin typeface="Times New Roman" panose="02020603050405020304" pitchFamily="18" charset="0"/>
                <a:cs typeface="Times New Roman" panose="02020603050405020304" pitchFamily="18" charset="0"/>
              </a:rPr>
              <a:t>Asadi</a:t>
            </a:r>
            <a:r>
              <a:rPr lang="en-US" sz="1400" dirty="0">
                <a:latin typeface="Times New Roman" panose="02020603050405020304" pitchFamily="18" charset="0"/>
                <a:cs typeface="Times New Roman" panose="02020603050405020304" pitchFamily="18" charset="0"/>
              </a:rPr>
              <a:t>, F., </a:t>
            </a:r>
            <a:r>
              <a:rPr lang="en-US" sz="1400" dirty="0" err="1">
                <a:latin typeface="Times New Roman" panose="02020603050405020304" pitchFamily="18" charset="0"/>
                <a:cs typeface="Times New Roman" panose="02020603050405020304" pitchFamily="18" charset="0"/>
              </a:rPr>
              <a:t>Salehnasab</a:t>
            </a:r>
            <a:r>
              <a:rPr lang="en-US" sz="1400" dirty="0">
                <a:latin typeface="Times New Roman" panose="02020603050405020304" pitchFamily="18" charset="0"/>
                <a:cs typeface="Times New Roman" panose="02020603050405020304" pitchFamily="18" charset="0"/>
              </a:rPr>
              <a:t>, C. and </a:t>
            </a:r>
            <a:r>
              <a:rPr lang="en-US" sz="1400" dirty="0" err="1">
                <a:latin typeface="Times New Roman" panose="02020603050405020304" pitchFamily="18" charset="0"/>
                <a:cs typeface="Times New Roman" panose="02020603050405020304" pitchFamily="18" charset="0"/>
              </a:rPr>
              <a:t>Ajori</a:t>
            </a:r>
            <a:r>
              <a:rPr lang="en-US" sz="1400" dirty="0">
                <a:latin typeface="Times New Roman" panose="02020603050405020304" pitchFamily="18" charset="0"/>
                <a:cs typeface="Times New Roman" panose="02020603050405020304" pitchFamily="18" charset="0"/>
              </a:rPr>
              <a:t>, L., 2020. Supervised Algorithms of Machine Learning for the Prediction of Cervical Cancer. Journal of Biomedical Physics and Engineering.</a:t>
            </a:r>
          </a:p>
          <a:p>
            <a:pPr marL="342900" indent="-342900" algn="just">
              <a:spcBef>
                <a:spcPts val="0"/>
              </a:spcBef>
              <a:buFont typeface="+mj-lt"/>
              <a:buAutoNum type="arabicPeriod"/>
            </a:pPr>
            <a:r>
              <a:rPr lang="en-US" sz="1400" dirty="0">
                <a:latin typeface="Times New Roman" panose="02020603050405020304" pitchFamily="18" charset="0"/>
                <a:cs typeface="Times New Roman" panose="02020603050405020304" pitchFamily="18" charset="0"/>
              </a:rPr>
              <a:t>Ijaz, M.F., </a:t>
            </a:r>
            <a:r>
              <a:rPr lang="en-US" sz="1400" dirty="0" err="1">
                <a:latin typeface="Times New Roman" panose="02020603050405020304" pitchFamily="18" charset="0"/>
                <a:cs typeface="Times New Roman" panose="02020603050405020304" pitchFamily="18" charset="0"/>
              </a:rPr>
              <a:t>Attique</a:t>
            </a:r>
            <a:r>
              <a:rPr lang="en-US" sz="1400" dirty="0">
                <a:latin typeface="Times New Roman" panose="02020603050405020304" pitchFamily="18" charset="0"/>
                <a:cs typeface="Times New Roman" panose="02020603050405020304" pitchFamily="18" charset="0"/>
              </a:rPr>
              <a:t>, M. and Son, Y., 2020. Data-driven cervical cancer prediction model with outlier detection and over-sampling methods. Sensors, 20(10), p.2809.</a:t>
            </a:r>
          </a:p>
          <a:p>
            <a:pPr marL="342900" indent="-342900" algn="just">
              <a:spcBef>
                <a:spcPts val="0"/>
              </a:spcBef>
              <a:buFont typeface="+mj-lt"/>
              <a:buAutoNum type="arabicPeriod"/>
            </a:pPr>
            <a:r>
              <a:rPr lang="en-US" sz="1400" dirty="0">
                <a:latin typeface="Times New Roman" panose="02020603050405020304" pitchFamily="18" charset="0"/>
                <a:cs typeface="Times New Roman" panose="02020603050405020304" pitchFamily="18" charset="0"/>
              </a:rPr>
              <a:t>Islam, A.-. U.-., Ripon, S. H. and Bhuiyan, N. Q. (2020) “Cervical Cancer Risk Factors: Classification and Mining Associations”, APTIKOM Journal on Computer Science and Information Technologies, 4(1), pp. 8-18.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10.34306/csit.v4i1.85.</a:t>
            </a:r>
          </a:p>
          <a:p>
            <a:pPr marL="342900" indent="-342900" algn="just">
              <a:spcBef>
                <a:spcPts val="0"/>
              </a:spcBef>
              <a:buFont typeface="+mj-lt"/>
              <a:buAutoNum type="arabicPeriod"/>
            </a:pPr>
            <a:r>
              <a:rPr lang="en-US" sz="1400" dirty="0" err="1">
                <a:latin typeface="Times New Roman" panose="02020603050405020304" pitchFamily="18" charset="0"/>
                <a:cs typeface="Times New Roman" panose="02020603050405020304" pitchFamily="18" charset="0"/>
              </a:rPr>
              <a:t>Elayaraja</a:t>
            </a:r>
            <a:r>
              <a:rPr lang="en-US" sz="1400" dirty="0">
                <a:latin typeface="Times New Roman" panose="02020603050405020304" pitchFamily="18" charset="0"/>
                <a:cs typeface="Times New Roman" panose="02020603050405020304" pitchFamily="18" charset="0"/>
              </a:rPr>
              <a:t>, P. and </a:t>
            </a:r>
            <a:r>
              <a:rPr lang="en-US" sz="1400" dirty="0" err="1">
                <a:latin typeface="Times New Roman" panose="02020603050405020304" pitchFamily="18" charset="0"/>
                <a:cs typeface="Times New Roman" panose="02020603050405020304" pitchFamily="18" charset="0"/>
              </a:rPr>
              <a:t>Suganthi</a:t>
            </a:r>
            <a:r>
              <a:rPr lang="en-US" sz="1400" dirty="0">
                <a:latin typeface="Times New Roman" panose="02020603050405020304" pitchFamily="18" charset="0"/>
                <a:cs typeface="Times New Roman" panose="02020603050405020304" pitchFamily="18" charset="0"/>
              </a:rPr>
              <a:t>, M., 2018. Automatic approach for cervical cancer detection and segmentation using neural network classifier. Asian Pacific Journal of Cancer Prevention, 19(12), p.3571.</a:t>
            </a:r>
          </a:p>
          <a:p>
            <a:pPr marL="342900" indent="-342900" algn="just">
              <a:spcBef>
                <a:spcPts val="0"/>
              </a:spcBef>
              <a:buFont typeface="+mj-lt"/>
              <a:buAutoNum type="arabicPeriod"/>
            </a:pPr>
            <a:r>
              <a:rPr lang="en-US" sz="1400" dirty="0" err="1">
                <a:latin typeface="Times New Roman" panose="02020603050405020304" pitchFamily="18" charset="0"/>
                <a:cs typeface="Times New Roman" panose="02020603050405020304" pitchFamily="18" charset="0"/>
              </a:rPr>
              <a:t>Qiu</a:t>
            </a:r>
            <a:r>
              <a:rPr lang="en-US" sz="1400" dirty="0">
                <a:latin typeface="Times New Roman" panose="02020603050405020304" pitchFamily="18" charset="0"/>
                <a:cs typeface="Times New Roman" panose="02020603050405020304" pitchFamily="18" charset="0"/>
              </a:rPr>
              <a:t>, X., Tao, N., Tan, Y. and Wu, X., 2007. Constructing of the risk classification model of cervical cancer by artificial neural network. Expert Systems with Applications, 32(4), pp.1094-1099. </a:t>
            </a:r>
          </a:p>
          <a:p>
            <a:pPr marL="342900" indent="-342900" algn="just">
              <a:spcBef>
                <a:spcPts val="0"/>
              </a:spcBef>
              <a:buFont typeface="+mj-lt"/>
              <a:buAutoNum type="arabicPeriod"/>
            </a:pPr>
            <a:r>
              <a:rPr lang="en-US" sz="1400" dirty="0">
                <a:latin typeface="Times New Roman" panose="02020603050405020304" pitchFamily="18" charset="0"/>
                <a:cs typeface="Times New Roman" panose="02020603050405020304" pitchFamily="18" charset="0"/>
              </a:rPr>
              <a:t>Wu, W. and Zhou, H., 2017. Data-driven diagnosis of cervical cancer with support vector machine-based approaches. IEEE Access, 5, pp.25189-25195.</a:t>
            </a:r>
          </a:p>
          <a:p>
            <a:pPr marL="342900" indent="-342900" algn="just">
              <a:spcBef>
                <a:spcPts val="0"/>
              </a:spcBef>
              <a:buFont typeface="+mj-lt"/>
              <a:buAutoNum type="arabicPeriod"/>
            </a:pPr>
            <a:r>
              <a:rPr lang="en-US" sz="1400" dirty="0" err="1">
                <a:latin typeface="Times New Roman" panose="02020603050405020304" pitchFamily="18" charset="0"/>
                <a:cs typeface="Times New Roman" panose="02020603050405020304" pitchFamily="18" charset="0"/>
              </a:rPr>
              <a:t>Machmud</a:t>
            </a:r>
            <a:r>
              <a:rPr lang="en-US" sz="1400" dirty="0">
                <a:latin typeface="Times New Roman" panose="02020603050405020304" pitchFamily="18" charset="0"/>
                <a:cs typeface="Times New Roman" panose="02020603050405020304" pitchFamily="18" charset="0"/>
              </a:rPr>
              <a:t>, R. and Wijaya, A., 2016. Behavior determinant based cervical cancer early detection with machine learning algorithm. Advanced Science Letters, 22(10), pp.3120-3123.</a:t>
            </a:r>
          </a:p>
        </p:txBody>
      </p:sp>
      <p:sp>
        <p:nvSpPr>
          <p:cNvPr id="4" name="Date Placeholder 3">
            <a:extLst>
              <a:ext uri="{FF2B5EF4-FFF2-40B4-BE49-F238E27FC236}">
                <a16:creationId xmlns:a16="http://schemas.microsoft.com/office/drawing/2014/main" id="{853987E9-D527-4DDC-88EC-B15F82E9C459}"/>
              </a:ext>
            </a:extLst>
          </p:cNvPr>
          <p:cNvSpPr>
            <a:spLocks noGrp="1"/>
          </p:cNvSpPr>
          <p:nvPr>
            <p:ph type="dt" sz="half" idx="10"/>
          </p:nvPr>
        </p:nvSpPr>
        <p:spPr/>
        <p:txBody>
          <a:bodyPr/>
          <a:lstStyle/>
          <a:p>
            <a:fld id="{0B573522-4F0E-4552-B4A9-F39343BCD021}" type="datetime1">
              <a:rPr lang="en-US" smtClean="0"/>
              <a:t>1/20/2022</a:t>
            </a:fld>
            <a:endParaRPr lang="en-US" dirty="0"/>
          </a:p>
        </p:txBody>
      </p:sp>
      <p:sp>
        <p:nvSpPr>
          <p:cNvPr id="5" name="Slide Number Placeholder 4">
            <a:extLst>
              <a:ext uri="{FF2B5EF4-FFF2-40B4-BE49-F238E27FC236}">
                <a16:creationId xmlns:a16="http://schemas.microsoft.com/office/drawing/2014/main" id="{F010820C-D27D-4BB1-A3F1-56185A10A833}"/>
              </a:ext>
            </a:extLst>
          </p:cNvPr>
          <p:cNvSpPr>
            <a:spLocks noGrp="1"/>
          </p:cNvSpPr>
          <p:nvPr>
            <p:ph type="sldNum" sz="quarter" idx="12"/>
          </p:nvPr>
        </p:nvSpPr>
        <p:spPr/>
        <p:txBody>
          <a:bodyPr/>
          <a:lstStyle/>
          <a:p>
            <a:fld id="{DF28FB93-0A08-4E7D-8E63-9EFA29F1E093}" type="slidenum">
              <a:rPr lang="en-US" smtClean="0"/>
              <a:pPr/>
              <a:t>24</a:t>
            </a:fld>
            <a:endParaRPr lang="en-US" dirty="0"/>
          </a:p>
        </p:txBody>
      </p:sp>
    </p:spTree>
    <p:extLst>
      <p:ext uri="{BB962C8B-B14F-4D97-AF65-F5344CB8AC3E}">
        <p14:creationId xmlns:p14="http://schemas.microsoft.com/office/powerpoint/2010/main" val="3319373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86622-460D-4AB5-AA71-0E2BBDE7A759}"/>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D751B48D-6DCB-48AF-B21B-EEC7D1D7014D}"/>
              </a:ext>
            </a:extLst>
          </p:cNvPr>
          <p:cNvSpPr>
            <a:spLocks noGrp="1"/>
          </p:cNvSpPr>
          <p:nvPr>
            <p:ph idx="1"/>
          </p:nvPr>
        </p:nvSpPr>
        <p:spPr>
          <a:xfrm>
            <a:off x="1522876" y="1676400"/>
            <a:ext cx="9143538" cy="4572000"/>
          </a:xfrm>
        </p:spPr>
        <p:txBody>
          <a:bodyPr>
            <a:noAutofit/>
          </a:bodyPr>
          <a:lstStyle/>
          <a:p>
            <a:pPr marL="342900" marR="0" lvl="0" indent="-342900" algn="just">
              <a:lnSpc>
                <a:spcPct val="107000"/>
              </a:lnSpc>
              <a:spcBef>
                <a:spcPts val="0"/>
              </a:spcBef>
              <a:spcAft>
                <a:spcPts val="0"/>
              </a:spcAft>
              <a:buSzPts val="1200"/>
              <a:buFont typeface="+mj-lt"/>
              <a:buAutoNum type="arabicPeriod" startAt="12"/>
            </a:pPr>
            <a:r>
              <a:rPr lang="en-US" sz="1400" dirty="0" err="1">
                <a:effectLst/>
                <a:latin typeface="Times New Roman" panose="02020603050405020304" pitchFamily="18" charset="0"/>
                <a:ea typeface="Calibri" panose="020F0502020204030204" pitchFamily="34" charset="0"/>
                <a:cs typeface="Times New Roman" panose="02020603050405020304" pitchFamily="18" charset="0"/>
              </a:rPr>
              <a:t>Tareef</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 Song, Y., Cai, W., Feng, D.D. and Chen, M., 2014. Automated three-stage nucleus and cytoplasm segmentation of overlapping cells. 13th International Conference on Control, Automation, Robotics &amp; Vision, Marina Bay Sands, Singapore (ICARCV 2014, IEEE, pp. 865-870).</a:t>
            </a:r>
          </a:p>
          <a:p>
            <a:pPr marL="342900" marR="0" lvl="0" indent="-342900" algn="just">
              <a:lnSpc>
                <a:spcPct val="107000"/>
              </a:lnSpc>
              <a:spcBef>
                <a:spcPts val="0"/>
              </a:spcBef>
              <a:spcAft>
                <a:spcPts val="0"/>
              </a:spcAft>
              <a:buSzPts val="1200"/>
              <a:buFont typeface="+mj-lt"/>
              <a:buAutoNum type="arabicPeriod" startAt="12"/>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Zhang, Y., Wang, J. and Luo, X., 2015. Probabilistic wind power forecasting based on logarithmic transformation and boundary kernel. Energy conversion and management, 96, pp.440-451.</a:t>
            </a:r>
          </a:p>
          <a:p>
            <a:pPr marL="342900" marR="0" lvl="0" indent="-342900" algn="just">
              <a:lnSpc>
                <a:spcPct val="107000"/>
              </a:lnSpc>
              <a:spcBef>
                <a:spcPts val="0"/>
              </a:spcBef>
              <a:spcAft>
                <a:spcPts val="0"/>
              </a:spcAft>
              <a:buSzPts val="1200"/>
              <a:buFont typeface="+mj-lt"/>
              <a:buAutoNum type="arabicPeriod" startAt="12"/>
            </a:pPr>
            <a:r>
              <a:rPr lang="en-US" sz="1400" dirty="0" err="1">
                <a:effectLst/>
                <a:latin typeface="Times New Roman" panose="02020603050405020304" pitchFamily="18" charset="0"/>
                <a:ea typeface="Calibri" panose="020F0502020204030204" pitchFamily="34" charset="0"/>
                <a:cs typeface="Times New Roman" panose="02020603050405020304" pitchFamily="18" charset="0"/>
              </a:rPr>
              <a:t>Akter</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T., Satu, M.S., Khan, M.I., Ali, M.H., Uddin, S., </a:t>
            </a:r>
            <a:r>
              <a:rPr lang="en-US" sz="1400" dirty="0" err="1">
                <a:effectLst/>
                <a:latin typeface="Times New Roman" panose="02020603050405020304" pitchFamily="18" charset="0"/>
                <a:ea typeface="Calibri" panose="020F0502020204030204" pitchFamily="34" charset="0"/>
                <a:cs typeface="Times New Roman" panose="02020603050405020304" pitchFamily="18" charset="0"/>
              </a:rPr>
              <a:t>Lio</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P., Quinn, J.M. and Moni, M.A., 2019. Machine learning-based models for early stage detection of autism spectrum disorders. IEEE Access, 7, pp.166509-166527.</a:t>
            </a:r>
          </a:p>
          <a:p>
            <a:pPr marL="342900" marR="0" lvl="0" indent="-342900" algn="just">
              <a:lnSpc>
                <a:spcPct val="107000"/>
              </a:lnSpc>
              <a:spcBef>
                <a:spcPts val="0"/>
              </a:spcBef>
              <a:spcAft>
                <a:spcPts val="0"/>
              </a:spcAft>
              <a:buSzPts val="1200"/>
              <a:buFont typeface="+mj-lt"/>
              <a:buAutoNum type="arabicPeriod" startAt="12"/>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Singh, P., Singh, S. and </a:t>
            </a:r>
            <a:r>
              <a:rPr lang="en-US" sz="1400" dirty="0" err="1">
                <a:effectLst/>
                <a:latin typeface="Times New Roman" panose="02020603050405020304" pitchFamily="18" charset="0"/>
                <a:ea typeface="Calibri" panose="020F0502020204030204" pitchFamily="34" charset="0"/>
                <a:cs typeface="Times New Roman" panose="02020603050405020304" pitchFamily="18" charset="0"/>
              </a:rPr>
              <a:t>Pandi</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-Jain, G.S., 2018. Effective heart disease prediction system using data mining techniques. International journal of nanomedicine, 13(T-NANO 2014 Abstracts), p.121.</a:t>
            </a:r>
          </a:p>
          <a:p>
            <a:pPr marL="342900" marR="0" lvl="0" indent="-342900" algn="just">
              <a:lnSpc>
                <a:spcPct val="107000"/>
              </a:lnSpc>
              <a:spcBef>
                <a:spcPts val="0"/>
              </a:spcBef>
              <a:spcAft>
                <a:spcPts val="0"/>
              </a:spcAft>
              <a:buSzPts val="1200"/>
              <a:buFont typeface="+mj-lt"/>
              <a:buAutoNum type="arabicPeriod" startAt="12"/>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Chang, C.C., Cheng, S.L., Lu, C.J. and Liao, K.H., 2013. Prediction of recurrence in patients with cervical cancer using MARS and classification. International Journal of Machine Learning and Computing, 3(1), p.75.</a:t>
            </a:r>
          </a:p>
          <a:p>
            <a:pPr marL="342900" marR="0" lvl="0" indent="-342900" algn="just">
              <a:lnSpc>
                <a:spcPct val="107000"/>
              </a:lnSpc>
              <a:spcBef>
                <a:spcPts val="0"/>
              </a:spcBef>
              <a:spcAft>
                <a:spcPts val="0"/>
              </a:spcAft>
              <a:buSzPts val="1200"/>
              <a:buFont typeface="+mj-lt"/>
              <a:buAutoNum type="arabicPeriod" startAt="12"/>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Kim E., Huang X., 2013. A Data Driven Approach to </a:t>
            </a:r>
            <a:r>
              <a:rPr lang="en-US" sz="1400" dirty="0" err="1">
                <a:effectLst/>
                <a:latin typeface="Times New Roman" panose="02020603050405020304" pitchFamily="18" charset="0"/>
                <a:ea typeface="Calibri" panose="020F0502020204030204" pitchFamily="34" charset="0"/>
                <a:cs typeface="Times New Roman" panose="02020603050405020304" pitchFamily="18" charset="0"/>
              </a:rPr>
              <a:t>Cervigram</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Image Analysis and Classification. In: </a:t>
            </a:r>
            <a:r>
              <a:rPr lang="en-US" sz="1400" dirty="0" err="1">
                <a:effectLst/>
                <a:latin typeface="Times New Roman" panose="02020603050405020304" pitchFamily="18" charset="0"/>
                <a:ea typeface="Calibri" panose="020F0502020204030204" pitchFamily="34" charset="0"/>
                <a:cs typeface="Times New Roman" panose="02020603050405020304" pitchFamily="18" charset="0"/>
              </a:rPr>
              <a:t>Celebi</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M., Schaefer G. (Eds) Color Medical Image Analysis. Lecture Notes in Computational Vision and Biomechanics, Springer, Dordrecht.</a:t>
            </a:r>
          </a:p>
          <a:p>
            <a:pPr marL="342900" marR="0" lvl="0" indent="-342900" algn="just">
              <a:lnSpc>
                <a:spcPct val="107000"/>
              </a:lnSpc>
              <a:spcBef>
                <a:spcPts val="0"/>
              </a:spcBef>
              <a:spcAft>
                <a:spcPts val="0"/>
              </a:spcAft>
              <a:buSzPts val="1200"/>
              <a:buFont typeface="+mj-lt"/>
              <a:buAutoNum type="arabicPeriod" startAt="12"/>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Mohan, S., </a:t>
            </a:r>
            <a:r>
              <a:rPr lang="en-US" sz="1400" dirty="0" err="1">
                <a:effectLst/>
                <a:latin typeface="Times New Roman" panose="02020603050405020304" pitchFamily="18" charset="0"/>
                <a:ea typeface="Calibri" panose="020F0502020204030204" pitchFamily="34" charset="0"/>
                <a:cs typeface="Times New Roman" panose="02020603050405020304" pitchFamily="18" charset="0"/>
              </a:rPr>
              <a:t>Thirumalai</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C. and Srivastava, G., 2019. Effective heart disease prediction using hybrid machine learning techniques. IEEE Access, 7, pp.81542-81554.</a:t>
            </a:r>
          </a:p>
          <a:p>
            <a:pPr marL="342900" marR="0" lvl="0" indent="-342900" algn="just">
              <a:lnSpc>
                <a:spcPct val="107000"/>
              </a:lnSpc>
              <a:spcBef>
                <a:spcPts val="0"/>
              </a:spcBef>
              <a:spcAft>
                <a:spcPts val="0"/>
              </a:spcAft>
              <a:buSzPts val="1200"/>
              <a:buFont typeface="+mj-lt"/>
              <a:buAutoNum type="arabicPeriod" startAt="12"/>
            </a:pPr>
            <a:r>
              <a:rPr lang="en-US" sz="1400" dirty="0" err="1">
                <a:effectLst/>
                <a:latin typeface="Times New Roman" panose="02020603050405020304" pitchFamily="18" charset="0"/>
                <a:ea typeface="Calibri" panose="020F0502020204030204" pitchFamily="34" charset="0"/>
                <a:cs typeface="Times New Roman" panose="02020603050405020304" pitchFamily="18" charset="0"/>
              </a:rPr>
              <a:t>Thabtah</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F. and Peebles, D., 2020. A new machine learning model based on induction of rules for autism detection. Health informatics journal, 26(1), pp.264-286.</a:t>
            </a:r>
          </a:p>
          <a:p>
            <a:pPr marL="342900" marR="0" lvl="0" indent="-342900" algn="just">
              <a:lnSpc>
                <a:spcPct val="107000"/>
              </a:lnSpc>
              <a:spcBef>
                <a:spcPts val="0"/>
              </a:spcBef>
              <a:spcAft>
                <a:spcPts val="0"/>
              </a:spcAft>
              <a:buSzPts val="1200"/>
              <a:buFont typeface="+mj-lt"/>
              <a:buAutoNum type="arabicPeriod" startAt="12"/>
            </a:pP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E63EC49-06DC-4DA0-B6B4-5C808FB507DE}"/>
              </a:ext>
            </a:extLst>
          </p:cNvPr>
          <p:cNvSpPr>
            <a:spLocks noGrp="1"/>
          </p:cNvSpPr>
          <p:nvPr>
            <p:ph type="dt" sz="half" idx="10"/>
          </p:nvPr>
        </p:nvSpPr>
        <p:spPr/>
        <p:txBody>
          <a:bodyPr/>
          <a:lstStyle/>
          <a:p>
            <a:fld id="{0B573522-4F0E-4552-B4A9-F39343BCD021}" type="datetime1">
              <a:rPr lang="en-US" smtClean="0"/>
              <a:t>1/20/2022</a:t>
            </a:fld>
            <a:endParaRPr lang="en-US" dirty="0"/>
          </a:p>
        </p:txBody>
      </p:sp>
      <p:sp>
        <p:nvSpPr>
          <p:cNvPr id="5" name="Slide Number Placeholder 4">
            <a:extLst>
              <a:ext uri="{FF2B5EF4-FFF2-40B4-BE49-F238E27FC236}">
                <a16:creationId xmlns:a16="http://schemas.microsoft.com/office/drawing/2014/main" id="{7328D1DB-DEAB-4ADC-9E3F-EBDB93FF8BF7}"/>
              </a:ext>
            </a:extLst>
          </p:cNvPr>
          <p:cNvSpPr>
            <a:spLocks noGrp="1"/>
          </p:cNvSpPr>
          <p:nvPr>
            <p:ph type="sldNum" sz="quarter" idx="12"/>
          </p:nvPr>
        </p:nvSpPr>
        <p:spPr/>
        <p:txBody>
          <a:bodyPr/>
          <a:lstStyle/>
          <a:p>
            <a:fld id="{DF28FB93-0A08-4E7D-8E63-9EFA29F1E093}" type="slidenum">
              <a:rPr lang="en-US" smtClean="0"/>
              <a:pPr/>
              <a:t>25</a:t>
            </a:fld>
            <a:endParaRPr lang="en-US" dirty="0"/>
          </a:p>
        </p:txBody>
      </p:sp>
    </p:spTree>
    <p:extLst>
      <p:ext uri="{BB962C8B-B14F-4D97-AF65-F5344CB8AC3E}">
        <p14:creationId xmlns:p14="http://schemas.microsoft.com/office/powerpoint/2010/main" val="120248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C998332-683D-48CB-AD48-9C62FF3870EF}"/>
              </a:ext>
            </a:extLst>
          </p:cNvPr>
          <p:cNvSpPr>
            <a:spLocks noGrp="1"/>
          </p:cNvSpPr>
          <p:nvPr>
            <p:ph type="dt" sz="half" idx="10"/>
          </p:nvPr>
        </p:nvSpPr>
        <p:spPr/>
        <p:txBody>
          <a:bodyPr/>
          <a:lstStyle/>
          <a:p>
            <a:fld id="{0B573522-4F0E-4552-B4A9-F39343BCD021}" type="datetime1">
              <a:rPr lang="en-US" smtClean="0"/>
              <a:t>1/20/2022</a:t>
            </a:fld>
            <a:endParaRPr lang="en-US" dirty="0"/>
          </a:p>
        </p:txBody>
      </p:sp>
      <p:sp>
        <p:nvSpPr>
          <p:cNvPr id="5" name="Slide Number Placeholder 4">
            <a:extLst>
              <a:ext uri="{FF2B5EF4-FFF2-40B4-BE49-F238E27FC236}">
                <a16:creationId xmlns:a16="http://schemas.microsoft.com/office/drawing/2014/main" id="{3B4C24EF-C3DA-4A1F-BC73-A7E993D58BE9}"/>
              </a:ext>
            </a:extLst>
          </p:cNvPr>
          <p:cNvSpPr>
            <a:spLocks noGrp="1"/>
          </p:cNvSpPr>
          <p:nvPr>
            <p:ph type="sldNum" sz="quarter" idx="12"/>
          </p:nvPr>
        </p:nvSpPr>
        <p:spPr/>
        <p:txBody>
          <a:bodyPr/>
          <a:lstStyle/>
          <a:p>
            <a:fld id="{DF28FB93-0A08-4E7D-8E63-9EFA29F1E093}" type="slidenum">
              <a:rPr lang="en-US" smtClean="0"/>
              <a:pPr/>
              <a:t>26</a:t>
            </a:fld>
            <a:endParaRPr lang="en-US" dirty="0"/>
          </a:p>
        </p:txBody>
      </p:sp>
      <p:sp>
        <p:nvSpPr>
          <p:cNvPr id="6" name="Speech Bubble: Rectangle with Corners Rounded 5">
            <a:extLst>
              <a:ext uri="{FF2B5EF4-FFF2-40B4-BE49-F238E27FC236}">
                <a16:creationId xmlns:a16="http://schemas.microsoft.com/office/drawing/2014/main" id="{33E1A2D8-5E82-45A2-8463-F2933120F36C}"/>
              </a:ext>
            </a:extLst>
          </p:cNvPr>
          <p:cNvSpPr/>
          <p:nvPr/>
        </p:nvSpPr>
        <p:spPr>
          <a:xfrm>
            <a:off x="4113444" y="1981200"/>
            <a:ext cx="3961936" cy="2895600"/>
          </a:xfrm>
          <a:prstGeom prst="wedgeRoundRectCallout">
            <a:avLst/>
          </a:prstGeom>
        </p:spPr>
        <p:style>
          <a:lnRef idx="1">
            <a:schemeClr val="dk1"/>
          </a:lnRef>
          <a:fillRef idx="1002">
            <a:schemeClr val="dk2"/>
          </a:fillRef>
          <a:effectRef idx="1">
            <a:schemeClr val="dk1"/>
          </a:effectRef>
          <a:fontRef idx="minor">
            <a:schemeClr val="dk1"/>
          </a:fontRef>
        </p:style>
        <p:txBody>
          <a:bodyPr rtlCol="0" anchor="ctr"/>
          <a:lstStyle/>
          <a:p>
            <a:pPr marL="0" indent="0" algn="ctr">
              <a:buNone/>
            </a:pPr>
            <a:r>
              <a:rPr lang="en-US" sz="4800" dirty="0">
                <a:solidFill>
                  <a:schemeClr val="bg1"/>
                </a:solidFill>
                <a:latin typeface="Times New Roman" panose="02020603050405020304" pitchFamily="18" charset="0"/>
                <a:cs typeface="Times New Roman" panose="02020603050405020304" pitchFamily="18" charset="0"/>
              </a:rPr>
              <a:t>Do you have</a:t>
            </a:r>
          </a:p>
          <a:p>
            <a:pPr marL="0" indent="0" algn="ctr">
              <a:buNone/>
            </a:pPr>
            <a:r>
              <a:rPr lang="en-US" sz="4800" dirty="0">
                <a:solidFill>
                  <a:schemeClr val="bg1"/>
                </a:solidFill>
                <a:latin typeface="Times New Roman" panose="02020603050405020304" pitchFamily="18" charset="0"/>
                <a:cs typeface="Times New Roman" panose="02020603050405020304" pitchFamily="18" charset="0"/>
              </a:rPr>
              <a:t>any question?</a:t>
            </a:r>
          </a:p>
        </p:txBody>
      </p:sp>
    </p:spTree>
    <p:extLst>
      <p:ext uri="{BB962C8B-B14F-4D97-AF65-F5344CB8AC3E}">
        <p14:creationId xmlns:p14="http://schemas.microsoft.com/office/powerpoint/2010/main" val="4011058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C998332-683D-48CB-AD48-9C62FF3870EF}"/>
              </a:ext>
            </a:extLst>
          </p:cNvPr>
          <p:cNvSpPr>
            <a:spLocks noGrp="1"/>
          </p:cNvSpPr>
          <p:nvPr>
            <p:ph type="dt" sz="half" idx="10"/>
          </p:nvPr>
        </p:nvSpPr>
        <p:spPr/>
        <p:txBody>
          <a:bodyPr/>
          <a:lstStyle/>
          <a:p>
            <a:fld id="{0B573522-4F0E-4552-B4A9-F39343BCD021}" type="datetime1">
              <a:rPr lang="en-US" smtClean="0"/>
              <a:t>1/20/2022</a:t>
            </a:fld>
            <a:endParaRPr lang="en-US" dirty="0"/>
          </a:p>
        </p:txBody>
      </p:sp>
      <p:sp>
        <p:nvSpPr>
          <p:cNvPr id="5" name="Slide Number Placeholder 4">
            <a:extLst>
              <a:ext uri="{FF2B5EF4-FFF2-40B4-BE49-F238E27FC236}">
                <a16:creationId xmlns:a16="http://schemas.microsoft.com/office/drawing/2014/main" id="{3B4C24EF-C3DA-4A1F-BC73-A7E993D58BE9}"/>
              </a:ext>
            </a:extLst>
          </p:cNvPr>
          <p:cNvSpPr>
            <a:spLocks noGrp="1"/>
          </p:cNvSpPr>
          <p:nvPr>
            <p:ph type="sldNum" sz="quarter" idx="12"/>
          </p:nvPr>
        </p:nvSpPr>
        <p:spPr/>
        <p:txBody>
          <a:bodyPr/>
          <a:lstStyle/>
          <a:p>
            <a:fld id="{DF28FB93-0A08-4E7D-8E63-9EFA29F1E093}" type="slidenum">
              <a:rPr lang="en-US" smtClean="0"/>
              <a:pPr/>
              <a:t>27</a:t>
            </a:fld>
            <a:endParaRPr lang="en-US" dirty="0"/>
          </a:p>
        </p:txBody>
      </p:sp>
      <p:sp>
        <p:nvSpPr>
          <p:cNvPr id="6" name="Speech Bubble: Rectangle with Corners Rounded 5">
            <a:extLst>
              <a:ext uri="{FF2B5EF4-FFF2-40B4-BE49-F238E27FC236}">
                <a16:creationId xmlns:a16="http://schemas.microsoft.com/office/drawing/2014/main" id="{33E1A2D8-5E82-45A2-8463-F2933120F36C}"/>
              </a:ext>
            </a:extLst>
          </p:cNvPr>
          <p:cNvSpPr/>
          <p:nvPr/>
        </p:nvSpPr>
        <p:spPr>
          <a:xfrm>
            <a:off x="4113444" y="1981200"/>
            <a:ext cx="3961936" cy="2895600"/>
          </a:xfrm>
          <a:prstGeom prst="wedgeRoundRectCallout">
            <a:avLst/>
          </a:prstGeom>
        </p:spPr>
        <p:style>
          <a:lnRef idx="1">
            <a:schemeClr val="dk1"/>
          </a:lnRef>
          <a:fillRef idx="1002">
            <a:schemeClr val="dk2"/>
          </a:fillRef>
          <a:effectRef idx="1">
            <a:schemeClr val="dk1"/>
          </a:effectRef>
          <a:fontRef idx="minor">
            <a:schemeClr val="dk1"/>
          </a:fontRef>
        </p:style>
        <p:txBody>
          <a:bodyPr rtlCol="0" anchor="ctr"/>
          <a:lstStyle/>
          <a:p>
            <a:pPr marL="0" indent="0" algn="ctr">
              <a:buNone/>
            </a:pPr>
            <a:r>
              <a:rPr lang="en-US" sz="4800" dirty="0">
                <a:solidFill>
                  <a:schemeClr val="bg1"/>
                </a:solidFill>
                <a:latin typeface="Times New Roman" panose="02020603050405020304" pitchFamily="18" charset="0"/>
                <a:cs typeface="Times New Roman" panose="02020603050405020304" pitchFamily="18" charset="0"/>
              </a:rPr>
              <a:t>Thank You So Much</a:t>
            </a:r>
          </a:p>
        </p:txBody>
      </p:sp>
    </p:spTree>
    <p:extLst>
      <p:ext uri="{BB962C8B-B14F-4D97-AF65-F5344CB8AC3E}">
        <p14:creationId xmlns:p14="http://schemas.microsoft.com/office/powerpoint/2010/main" val="1523375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roject planning overview presentatio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12000"/>
                <a:satMod val="240000"/>
              </a:schemeClr>
              <a:schemeClr val="phClr">
                <a:tint val="98000"/>
              </a:schemeClr>
            </a:duotone>
          </a:blip>
          <a:tile tx="0" ty="0" sx="100000" sy="100000" flip="none" algn="ctr"/>
        </a:blipFill>
      </a:bgFillStyleLst>
    </a:fmtScheme>
  </a:themeElements>
  <a:objectDefaults>
    <a:spDef>
      <a:spPr>
        <a:solidFill>
          <a:schemeClr val="accent1">
            <a:lumMod val="50000"/>
          </a:schemeClr>
        </a:solidFill>
      </a:spPr>
      <a:bodyPr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pPr>
      <a:bodyPr/>
      <a:lstStyle/>
      <a:style>
        <a:lnRef idx="1">
          <a:schemeClr val="accent1"/>
        </a:lnRef>
        <a:fillRef idx="0">
          <a:schemeClr val="accent1"/>
        </a:fillRef>
        <a:effectRef idx="0">
          <a:schemeClr val="accent1"/>
        </a:effectRef>
        <a:fontRef idx="minor">
          <a:schemeClr val="tx1"/>
        </a:fontRef>
      </a:style>
    </a:lnDef>
    <a:txDef>
      <a:spPr>
        <a:noFill/>
        <a:ln>
          <a:solidFill>
            <a:schemeClr val="accent1">
              <a:lumMod val="20000"/>
              <a:lumOff val="80000"/>
            </a:schemeClr>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Business project planning overview presentation.potx" id="{0D6D6775-FC9F-484B-A889-C0FCD86449E3}" vid="{CBE6795F-D548-4056-89FC-5BC618C494F3}"/>
    </a:ext>
  </a:extLst>
</a:theme>
</file>

<file path=ppt/theme/theme2.xml><?xml version="1.0" encoding="utf-8"?>
<a:theme xmlns:a="http://schemas.openxmlformats.org/drawingml/2006/main" name="Office Them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project planning overview presentation</Template>
  <TotalTime>2702</TotalTime>
  <Words>2965</Words>
  <Application>Microsoft Office PowerPoint</Application>
  <PresentationFormat>Custom</PresentationFormat>
  <Paragraphs>480</Paragraphs>
  <Slides>27</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Cambria Math</vt:lpstr>
      <vt:lpstr>Times New Roman</vt:lpstr>
      <vt:lpstr>Wingdings</vt:lpstr>
      <vt:lpstr>Project planning overview presentation</vt:lpstr>
      <vt:lpstr>Presented by,  Md. Mamun Ali, ID: 181-35-274, Department of Software Engineering, Daffodil International University.</vt:lpstr>
      <vt:lpstr>Content Outlines</vt:lpstr>
      <vt:lpstr>Background</vt:lpstr>
      <vt:lpstr>Motivation</vt:lpstr>
      <vt:lpstr>Objective</vt:lpstr>
      <vt:lpstr>Literature Review</vt:lpstr>
      <vt:lpstr>Literature Review Cont.</vt:lpstr>
      <vt:lpstr>Literature Review Cont.</vt:lpstr>
      <vt:lpstr>Methodology</vt:lpstr>
      <vt:lpstr>Methodology Cont.</vt:lpstr>
      <vt:lpstr>Methodology Cont.</vt:lpstr>
      <vt:lpstr>Methodology Cont.</vt:lpstr>
      <vt:lpstr>Methodology Cont.</vt:lpstr>
      <vt:lpstr>Methodology Cont.</vt:lpstr>
      <vt:lpstr>Methodology Cont.</vt:lpstr>
      <vt:lpstr>Methodology Cont.</vt:lpstr>
      <vt:lpstr>Result Analysis</vt:lpstr>
      <vt:lpstr>Result Analysis Cont.</vt:lpstr>
      <vt:lpstr>Result Analysis Cont.</vt:lpstr>
      <vt:lpstr>Result Analysis Cont.</vt:lpstr>
      <vt:lpstr>Result Analysis Cont.</vt:lpstr>
      <vt:lpstr>Conclusion &amp; Future Work</vt:lpstr>
      <vt:lpstr>Achievement</vt:lpstr>
      <vt:lpstr>Reference</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Overview</dc:title>
  <dc:creator>User</dc:creator>
  <cp:lastModifiedBy>User</cp:lastModifiedBy>
  <cp:revision>377</cp:revision>
  <dcterms:created xsi:type="dcterms:W3CDTF">2021-09-28T17:21:07Z</dcterms:created>
  <dcterms:modified xsi:type="dcterms:W3CDTF">2022-01-19T22:35:12Z</dcterms:modified>
</cp:coreProperties>
</file>