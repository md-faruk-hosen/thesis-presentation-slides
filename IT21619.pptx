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8" r:id="rId3"/>
    <p:sldId id="275" r:id="rId4"/>
    <p:sldId id="293" r:id="rId5"/>
    <p:sldId id="269" r:id="rId6"/>
    <p:sldId id="270" r:id="rId7"/>
    <p:sldId id="271" r:id="rId8"/>
    <p:sldId id="276" r:id="rId9"/>
    <p:sldId id="263" r:id="rId10"/>
    <p:sldId id="308" r:id="rId11"/>
    <p:sldId id="274" r:id="rId12"/>
    <p:sldId id="294" r:id="rId13"/>
    <p:sldId id="295" r:id="rId14"/>
    <p:sldId id="310" r:id="rId15"/>
    <p:sldId id="287" r:id="rId16"/>
    <p:sldId id="272" r:id="rId17"/>
    <p:sldId id="279" r:id="rId18"/>
    <p:sldId id="311" r:id="rId19"/>
    <p:sldId id="280" r:id="rId20"/>
    <p:sldId id="281" r:id="rId21"/>
    <p:sldId id="282" r:id="rId22"/>
    <p:sldId id="297" r:id="rId23"/>
    <p:sldId id="283" r:id="rId24"/>
    <p:sldId id="284" r:id="rId25"/>
    <p:sldId id="299" r:id="rId26"/>
    <p:sldId id="300" r:id="rId27"/>
    <p:sldId id="298" r:id="rId28"/>
    <p:sldId id="303" r:id="rId29"/>
    <p:sldId id="304" r:id="rId30"/>
    <p:sldId id="302" r:id="rId31"/>
    <p:sldId id="305" r:id="rId32"/>
    <p:sldId id="306" r:id="rId33"/>
    <p:sldId id="307" r:id="rId34"/>
    <p:sldId id="292" r:id="rId35"/>
    <p:sldId id="262" r:id="rId36"/>
    <p:sldId id="260" r:id="rId37"/>
    <p:sldId id="309"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957" autoAdjust="0"/>
  </p:normalViewPr>
  <p:slideViewPr>
    <p:cSldViewPr snapToGrid="0">
      <p:cViewPr varScale="1">
        <p:scale>
          <a:sx n="64" d="100"/>
          <a:sy n="64" d="100"/>
        </p:scale>
        <p:origin x="978"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CD314A-C9E4-44C9-9463-F8464923042D}" type="datetimeFigureOut">
              <a:rPr lang="en-US" smtClean="0"/>
              <a:pPr/>
              <a:t>9/13/2025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233E45-E880-4F8E-B42A-15B5AF124789}" type="slidenum">
              <a:rPr lang="en-US" smtClean="0"/>
              <a:pPr/>
              <a:t>‹#›</a:t>
            </a:fld>
            <a:endParaRPr lang="en-US"/>
          </a:p>
        </p:txBody>
      </p:sp>
    </p:spTree>
    <p:extLst>
      <p:ext uri="{BB962C8B-B14F-4D97-AF65-F5344CB8AC3E}">
        <p14:creationId xmlns:p14="http://schemas.microsoft.com/office/powerpoint/2010/main" val="4194655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233E45-E880-4F8E-B42A-15B5AF124789}" type="slidenum">
              <a:rPr lang="en-US" smtClean="0"/>
              <a:pPr/>
              <a:t>1</a:t>
            </a:fld>
            <a:endParaRPr lang="en-US"/>
          </a:p>
        </p:txBody>
      </p:sp>
    </p:spTree>
    <p:extLst>
      <p:ext uri="{BB962C8B-B14F-4D97-AF65-F5344CB8AC3E}">
        <p14:creationId xmlns:p14="http://schemas.microsoft.com/office/powerpoint/2010/main" val="2634532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233E45-E880-4F8E-B42A-15B5AF124789}" type="slidenum">
              <a:rPr lang="en-US" smtClean="0"/>
              <a:pPr/>
              <a:t>2</a:t>
            </a:fld>
            <a:endParaRPr lang="en-US"/>
          </a:p>
        </p:txBody>
      </p:sp>
    </p:spTree>
    <p:extLst>
      <p:ext uri="{BB962C8B-B14F-4D97-AF65-F5344CB8AC3E}">
        <p14:creationId xmlns:p14="http://schemas.microsoft.com/office/powerpoint/2010/main" val="1906584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233E45-E880-4F8E-B42A-15B5AF124789}" type="slidenum">
              <a:rPr lang="en-US" smtClean="0"/>
              <a:pPr/>
              <a:t>3</a:t>
            </a:fld>
            <a:endParaRPr lang="en-US"/>
          </a:p>
        </p:txBody>
      </p:sp>
    </p:spTree>
    <p:extLst>
      <p:ext uri="{BB962C8B-B14F-4D97-AF65-F5344CB8AC3E}">
        <p14:creationId xmlns:p14="http://schemas.microsoft.com/office/powerpoint/2010/main" val="1906584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0DCD8-0C1F-9542-AAD5-8E88103FF0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0184C-C856-161E-7E77-67AB66A416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F47B04-1D95-74CB-875D-832A02FB4C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ABB6C0-958F-68BF-AC18-B1C94DABAB5F}"/>
              </a:ext>
            </a:extLst>
          </p:cNvPr>
          <p:cNvSpPr>
            <a:spLocks noGrp="1"/>
          </p:cNvSpPr>
          <p:nvPr>
            <p:ph type="sldNum" sz="quarter" idx="10"/>
          </p:nvPr>
        </p:nvSpPr>
        <p:spPr/>
        <p:txBody>
          <a:bodyPr/>
          <a:lstStyle/>
          <a:p>
            <a:fld id="{63233E45-E880-4F8E-B42A-15B5AF124789}" type="slidenum">
              <a:rPr lang="en-US" smtClean="0"/>
              <a:pPr/>
              <a:t>4</a:t>
            </a:fld>
            <a:endParaRPr lang="en-US"/>
          </a:p>
        </p:txBody>
      </p:sp>
    </p:spTree>
    <p:extLst>
      <p:ext uri="{BB962C8B-B14F-4D97-AF65-F5344CB8AC3E}">
        <p14:creationId xmlns:p14="http://schemas.microsoft.com/office/powerpoint/2010/main" val="1973850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233E45-E880-4F8E-B42A-15B5AF124789}" type="slidenum">
              <a:rPr lang="en-US" smtClean="0"/>
              <a:pPr/>
              <a:t>5</a:t>
            </a:fld>
            <a:endParaRPr lang="en-US"/>
          </a:p>
        </p:txBody>
      </p:sp>
    </p:spTree>
    <p:extLst>
      <p:ext uri="{BB962C8B-B14F-4D97-AF65-F5344CB8AC3E}">
        <p14:creationId xmlns:p14="http://schemas.microsoft.com/office/powerpoint/2010/main" val="1825085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233E45-E880-4F8E-B42A-15B5AF124789}" type="slidenum">
              <a:rPr lang="en-US" smtClean="0"/>
              <a:pPr/>
              <a:t>9</a:t>
            </a:fld>
            <a:endParaRPr lang="en-US"/>
          </a:p>
        </p:txBody>
      </p:sp>
    </p:spTree>
    <p:extLst>
      <p:ext uri="{BB962C8B-B14F-4D97-AF65-F5344CB8AC3E}">
        <p14:creationId xmlns:p14="http://schemas.microsoft.com/office/powerpoint/2010/main" val="2134335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96C27-C158-6CE9-DC19-377E8A8F8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53AA87-B100-0F3E-0485-0404389AD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3BA00-510F-AB64-3E60-26890E4899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0595FB-EB8E-3232-6E4A-F2318FC617DD}"/>
              </a:ext>
            </a:extLst>
          </p:cNvPr>
          <p:cNvSpPr>
            <a:spLocks noGrp="1"/>
          </p:cNvSpPr>
          <p:nvPr>
            <p:ph type="sldNum" sz="quarter" idx="10"/>
          </p:nvPr>
        </p:nvSpPr>
        <p:spPr/>
        <p:txBody>
          <a:bodyPr/>
          <a:lstStyle/>
          <a:p>
            <a:fld id="{63233E45-E880-4F8E-B42A-15B5AF124789}" type="slidenum">
              <a:rPr lang="en-US" smtClean="0"/>
              <a:pPr/>
              <a:t>10</a:t>
            </a:fld>
            <a:endParaRPr lang="en-US"/>
          </a:p>
        </p:txBody>
      </p:sp>
    </p:spTree>
    <p:extLst>
      <p:ext uri="{BB962C8B-B14F-4D97-AF65-F5344CB8AC3E}">
        <p14:creationId xmlns:p14="http://schemas.microsoft.com/office/powerpoint/2010/main" val="1687907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233E45-E880-4F8E-B42A-15B5AF124789}" type="slidenum">
              <a:rPr lang="en-US" smtClean="0"/>
              <a:pPr/>
              <a:t>14</a:t>
            </a:fld>
            <a:endParaRPr lang="en-US"/>
          </a:p>
        </p:txBody>
      </p:sp>
    </p:spTree>
    <p:extLst>
      <p:ext uri="{BB962C8B-B14F-4D97-AF65-F5344CB8AC3E}">
        <p14:creationId xmlns:p14="http://schemas.microsoft.com/office/powerpoint/2010/main" val="930983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4781AD2-B043-4F34-B441-52AA4975589A}"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1825179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63FABB-964F-4964-89A6-E2A5CB771F9D}"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86075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A19363-8281-4C56-91A8-96F06C0407AA}"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3680165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1A1E4AA-F1AA-47C0-9F70-79E6FB3A2ADB}" type="datetime1">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2515257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301B4D6-BBFC-475E-BE1A-9CF882F2576A}" type="datetime1">
              <a:rPr lang="en-US" smtClean="0"/>
              <a:t>9/13/2025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1871612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E4E9AB6-B689-4A40-BEF6-678BE66704B4}" type="datetime1">
              <a:rPr lang="en-US" smtClean="0"/>
              <a:t>9/13/2025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771600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5B40BD-3D4C-4D46-9D36-1DBDE50B3B5F}" type="datetime1">
              <a:rPr lang="en-US" smtClean="0"/>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3992378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B3CC79-F80A-40B8-B256-436CA2F7C8D8}" type="datetime1">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2440132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D49F23-7FD4-4BB3-9074-041DF0A4FD40}" type="datetime1">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3999730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7CC232-6A4E-4A54-9FAF-0EC33785719F}"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637020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77878F-0DF7-4F09-ABB3-1A2FF940C31D}"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A134DA-8B36-4DB8-97B0-7B54A225CBAB}" type="slidenum">
              <a:rPr lang="en-US" smtClean="0"/>
              <a:pPr/>
              <a:t>‹#›</a:t>
            </a:fld>
            <a:endParaRPr lang="en-US"/>
          </a:p>
        </p:txBody>
      </p:sp>
    </p:spTree>
    <p:extLst>
      <p:ext uri="{BB962C8B-B14F-4D97-AF65-F5344CB8AC3E}">
        <p14:creationId xmlns:p14="http://schemas.microsoft.com/office/powerpoint/2010/main" val="4225750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F887FB-217C-43E1-BEAD-3FBBA575ED46}" type="datetime1">
              <a:rPr lang="en-US" smtClean="0"/>
              <a:t>9/13/2025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A134DA-8B36-4DB8-97B0-7B54A225CBAB}" type="slidenum">
              <a:rPr lang="en-US" smtClean="0"/>
              <a:pPr/>
              <a:t>‹#›</a:t>
            </a:fld>
            <a:endParaRPr lang="en-US"/>
          </a:p>
        </p:txBody>
      </p:sp>
    </p:spTree>
    <p:extLst>
      <p:ext uri="{BB962C8B-B14F-4D97-AF65-F5344CB8AC3E}">
        <p14:creationId xmlns:p14="http://schemas.microsoft.com/office/powerpoint/2010/main" val="4094573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4.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microsoft.com/office/2007/relationships/hdphoto" Target="../media/hdphoto1.wdp"/><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4.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4.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24.png"/></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28.png"/><Relationship Id="rId5" Type="http://schemas.microsoft.com/office/2007/relationships/hdphoto" Target="../media/hdphoto1.wdp"/><Relationship Id="rId10" Type="http://schemas.openxmlformats.org/officeDocument/2006/relationships/image" Target="../media/image27.png"/><Relationship Id="rId4" Type="http://schemas.openxmlformats.org/officeDocument/2006/relationships/image" Target="../media/image2.png"/><Relationship Id="rId9" Type="http://schemas.openxmlformats.org/officeDocument/2006/relationships/image" Target="../media/image26.png"/></Relationships>
</file>

<file path=ppt/slides/_rels/slide2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10" Type="http://schemas.openxmlformats.org/officeDocument/2006/relationships/image" Target="../media/image31.png"/><Relationship Id="rId4" Type="http://schemas.openxmlformats.org/officeDocument/2006/relationships/image" Target="../media/image2.png"/><Relationship Id="rId9" Type="http://schemas.openxmlformats.org/officeDocument/2006/relationships/image" Target="../media/image30.png"/></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35.png"/><Relationship Id="rId5" Type="http://schemas.microsoft.com/office/2007/relationships/hdphoto" Target="../media/hdphoto1.wdp"/><Relationship Id="rId10" Type="http://schemas.openxmlformats.org/officeDocument/2006/relationships/image" Target="../media/image34.png"/><Relationship Id="rId4" Type="http://schemas.openxmlformats.org/officeDocument/2006/relationships/image" Target="../media/image2.png"/><Relationship Id="rId9" Type="http://schemas.openxmlformats.org/officeDocument/2006/relationships/image" Target="../media/image33.png"/></Relationships>
</file>

<file path=ppt/slides/_rels/slide2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10" Type="http://schemas.openxmlformats.org/officeDocument/2006/relationships/image" Target="../media/image38.png"/><Relationship Id="rId4" Type="http://schemas.openxmlformats.org/officeDocument/2006/relationships/image" Target="../media/image2.png"/><Relationship Id="rId9" Type="http://schemas.openxmlformats.org/officeDocument/2006/relationships/image" Target="../media/image37.png"/></Relationships>
</file>

<file path=ppt/slides/_rels/slide2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40.png"/></Relationships>
</file>

<file path=ppt/slides/_rels/slide2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44.png"/><Relationship Id="rId5" Type="http://schemas.microsoft.com/office/2007/relationships/hdphoto" Target="../media/hdphoto1.wdp"/><Relationship Id="rId10" Type="http://schemas.openxmlformats.org/officeDocument/2006/relationships/image" Target="../media/image43.png"/><Relationship Id="rId4" Type="http://schemas.openxmlformats.org/officeDocument/2006/relationships/image" Target="../media/image2.png"/><Relationship Id="rId9" Type="http://schemas.openxmlformats.org/officeDocument/2006/relationships/image" Target="../media/image42.png"/></Relationships>
</file>

<file path=ppt/slides/_rels/slide2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10" Type="http://schemas.openxmlformats.org/officeDocument/2006/relationships/image" Target="../media/image47.png"/><Relationship Id="rId4" Type="http://schemas.openxmlformats.org/officeDocument/2006/relationships/image" Target="../media/image2.png"/><Relationship Id="rId9" Type="http://schemas.openxmlformats.org/officeDocument/2006/relationships/image" Target="../media/image46.png"/></Relationships>
</file>

<file path=ppt/slides/_rels/slide3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51.png"/></Relationships>
</file>

<file path=ppt/slides/_rels/slide3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53.pn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png"/><Relationship Id="rId10" Type="http://schemas.openxmlformats.org/officeDocument/2006/relationships/image" Target="../media/image54.png"/><Relationship Id="rId4" Type="http://schemas.microsoft.com/office/2007/relationships/hdphoto" Target="../media/hdphoto3.wdp"/><Relationship Id="rId9" Type="http://schemas.openxmlformats.org/officeDocument/2006/relationships/image" Target="../media/image10.png"/></Relationships>
</file>

<file path=ppt/slides/_rels/slide37.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4" name="Picture 53"/>
          <p:cNvPicPr>
            <a:picLocks noChangeAspect="1"/>
          </p:cNvPicPr>
          <p:nvPr/>
        </p:nvPicPr>
        <p:blipFill rotWithShape="1">
          <a:blip r:embed="rId3">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20" name="Picture 19"/>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0928737" y="142726"/>
            <a:ext cx="1120255" cy="798540"/>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7" name="TextBox 6"/>
          <p:cNvSpPr txBox="1"/>
          <p:nvPr/>
        </p:nvSpPr>
        <p:spPr>
          <a:xfrm>
            <a:off x="1196985" y="3294952"/>
            <a:ext cx="5357612" cy="1938992"/>
          </a:xfrm>
          <a:prstGeom prst="rect">
            <a:avLst/>
          </a:prstGeom>
          <a:noFill/>
        </p:spPr>
        <p:txBody>
          <a:bodyPr wrap="square" rtlCol="0">
            <a:spAutoFit/>
          </a:bodyPr>
          <a:lstStyle/>
          <a:p>
            <a:pPr algn="just"/>
            <a:r>
              <a:rPr lang="en-US" sz="2400" dirty="0">
                <a:latin typeface="Times New Roman" panose="02020603050405020304" pitchFamily="18" charset="0"/>
                <a:ea typeface="Verdana" panose="020B0604030504040204" pitchFamily="34" charset="0"/>
                <a:cs typeface="Times New Roman" panose="02020603050405020304" pitchFamily="18" charset="0"/>
              </a:rPr>
              <a:t>Md. Abul Basar</a:t>
            </a:r>
          </a:p>
          <a:p>
            <a:pPr algn="just"/>
            <a:r>
              <a:rPr lang="en-US" sz="2400" dirty="0">
                <a:latin typeface="Times New Roman" panose="02020603050405020304" pitchFamily="18" charset="0"/>
                <a:ea typeface="Verdana" panose="020B0604030504040204" pitchFamily="34" charset="0"/>
                <a:cs typeface="Times New Roman" panose="02020603050405020304" pitchFamily="18" charset="0"/>
              </a:rPr>
              <a:t>ID: IT-21619</a:t>
            </a:r>
          </a:p>
          <a:p>
            <a:pPr algn="just"/>
            <a:r>
              <a:rPr lang="en-US" sz="2400" dirty="0">
                <a:latin typeface="Times New Roman" panose="02020603050405020304" pitchFamily="18" charset="0"/>
                <a:ea typeface="Verdana" panose="020B0604030504040204" pitchFamily="34" charset="0"/>
                <a:cs typeface="Times New Roman" panose="02020603050405020304" pitchFamily="18" charset="0"/>
              </a:rPr>
              <a:t>Session: 2020-21</a:t>
            </a:r>
          </a:p>
          <a:p>
            <a:pPr algn="just"/>
            <a:r>
              <a:rPr lang="en-US" sz="2400" dirty="0" err="1">
                <a:latin typeface="Times New Roman" panose="02020603050405020304" pitchFamily="18" charset="0"/>
                <a:cs typeface="Times New Roman" panose="02020603050405020304" pitchFamily="18" charset="0"/>
              </a:rPr>
              <a:t>M.Sc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Engg</a:t>
            </a:r>
            <a:r>
              <a:rPr lang="en-US" sz="2400" dirty="0">
                <a:latin typeface="Times New Roman" panose="02020603050405020304" pitchFamily="18" charset="0"/>
                <a:cs typeface="Times New Roman" panose="02020603050405020304" pitchFamily="18" charset="0"/>
              </a:rPr>
              <a:t>.) in ICT</a:t>
            </a:r>
          </a:p>
          <a:p>
            <a:pPr algn="just"/>
            <a:r>
              <a:rPr lang="en-US" sz="2400" dirty="0">
                <a:latin typeface="Times New Roman" panose="02020603050405020304" pitchFamily="18" charset="0"/>
                <a:ea typeface="Verdana" panose="020B0604030504040204" pitchFamily="34" charset="0"/>
                <a:cs typeface="Times New Roman" panose="02020603050405020304" pitchFamily="18" charset="0"/>
              </a:rPr>
              <a:t>Department of ICT, MBSTU.</a:t>
            </a:r>
          </a:p>
        </p:txBody>
      </p:sp>
      <p:sp>
        <p:nvSpPr>
          <p:cNvPr id="8" name="TextBox 7"/>
          <p:cNvSpPr txBox="1"/>
          <p:nvPr/>
        </p:nvSpPr>
        <p:spPr>
          <a:xfrm>
            <a:off x="7169695" y="3270825"/>
            <a:ext cx="3790988" cy="1200329"/>
          </a:xfrm>
          <a:prstGeom prst="rect">
            <a:avLst/>
          </a:prstGeom>
          <a:noFill/>
        </p:spPr>
        <p:txBody>
          <a:bodyPr wrap="square" rtlCol="0">
            <a:spAutoFit/>
          </a:bodyPr>
          <a:lstStyle/>
          <a:p>
            <a:r>
              <a:rPr lang="en-US" sz="2400" dirty="0">
                <a:latin typeface="Times New Roman" panose="02020603050405020304" pitchFamily="18" charset="0"/>
                <a:ea typeface="Verdana" panose="020B0604030504040204" pitchFamily="34" charset="0"/>
                <a:cs typeface="Times New Roman" panose="02020603050405020304" pitchFamily="18" charset="0"/>
              </a:rPr>
              <a:t>Dr. Monir Morshed</a:t>
            </a:r>
          </a:p>
          <a:p>
            <a:r>
              <a:rPr lang="en-US" sz="2400" dirty="0">
                <a:latin typeface="Times New Roman" panose="02020603050405020304" pitchFamily="18" charset="0"/>
                <a:ea typeface="Verdana" panose="020B0604030504040204" pitchFamily="34" charset="0"/>
                <a:cs typeface="Times New Roman" panose="02020603050405020304" pitchFamily="18" charset="0"/>
              </a:rPr>
              <a:t>Professor &amp; Chairman</a:t>
            </a:r>
          </a:p>
          <a:p>
            <a:r>
              <a:rPr lang="en-US" sz="2400" dirty="0">
                <a:latin typeface="Times New Roman" panose="02020603050405020304" pitchFamily="18" charset="0"/>
                <a:ea typeface="Verdana" panose="020B0604030504040204" pitchFamily="34" charset="0"/>
                <a:cs typeface="Times New Roman" panose="02020603050405020304" pitchFamily="18" charset="0"/>
              </a:rPr>
              <a:t>Department of ICT, MBSTU.</a:t>
            </a:r>
          </a:p>
        </p:txBody>
      </p:sp>
      <p:sp>
        <p:nvSpPr>
          <p:cNvPr id="10" name="Rounded Rectangle 9"/>
          <p:cNvSpPr/>
          <p:nvPr/>
        </p:nvSpPr>
        <p:spPr>
          <a:xfrm>
            <a:off x="1196986" y="2773470"/>
            <a:ext cx="3361386" cy="453988"/>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Presented by</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1" name="Rounded Rectangle 10"/>
          <p:cNvSpPr/>
          <p:nvPr/>
        </p:nvSpPr>
        <p:spPr>
          <a:xfrm>
            <a:off x="7084867" y="2773470"/>
            <a:ext cx="3361386" cy="453988"/>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Supervised by</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1903737" y="5430702"/>
            <a:ext cx="8384524" cy="1107996"/>
          </a:xfrm>
          <a:prstGeom prst="rect">
            <a:avLst/>
          </a:prstGeom>
          <a:solidFill>
            <a:schemeClr val="accent6">
              <a:lumMod val="60000"/>
              <a:lumOff val="40000"/>
            </a:schemeClr>
          </a:solidFill>
          <a:ln>
            <a:solidFill>
              <a:schemeClr val="accent6">
                <a:lumMod val="75000"/>
              </a:schemeClr>
            </a:solidFill>
          </a:ln>
          <a:effectLst>
            <a:outerShdw blurRad="50800" dist="38100" dir="5400000" algn="t" rotWithShape="0">
              <a:prstClr val="black">
                <a:alpha val="40000"/>
              </a:prstClr>
            </a:outerShdw>
          </a:effectLst>
        </p:spPr>
        <p:txBody>
          <a:bodyPr wrap="square" rtlCol="0">
            <a:spAutoFit/>
          </a:bodyPr>
          <a:lstStyle/>
          <a:p>
            <a:pPr algn="ctr"/>
            <a:r>
              <a:rPr lang="en-US" sz="2400" dirty="0">
                <a:latin typeface="Times New Roman" panose="02020603050405020304" pitchFamily="18" charset="0"/>
                <a:ea typeface="Verdana" panose="020B0604030504040204" pitchFamily="34" charset="0"/>
                <a:cs typeface="Times New Roman" panose="02020603050405020304" pitchFamily="18" charset="0"/>
              </a:rPr>
              <a:t>Department of Information and Communication Technology (ICT)</a:t>
            </a:r>
          </a:p>
          <a:p>
            <a:pPr algn="ctr">
              <a:defRPr/>
            </a:pPr>
            <a:r>
              <a:rPr lang="en-US" sz="2400" dirty="0">
                <a:latin typeface="Times New Roman" panose="02020603050405020304" pitchFamily="18" charset="0"/>
                <a:ea typeface="Verdana" panose="020B0604030504040204" pitchFamily="34" charset="0"/>
                <a:cs typeface="Times New Roman" panose="02020603050405020304" pitchFamily="18" charset="0"/>
              </a:rPr>
              <a:t>Mawlana Bhashani Science and Technology University</a:t>
            </a:r>
          </a:p>
          <a:p>
            <a:pPr algn="ctr">
              <a:defRPr/>
            </a:pPr>
            <a:r>
              <a:rPr lang="en-US" dirty="0">
                <a:latin typeface="Times New Roman" panose="02020603050405020304" pitchFamily="18" charset="0"/>
                <a:ea typeface="Verdana" panose="020B0604030504040204" pitchFamily="34" charset="0"/>
                <a:cs typeface="Times New Roman" panose="02020603050405020304" pitchFamily="18" charset="0"/>
              </a:rPr>
              <a:t>Santosh, Tangail-1902, Bangladesh</a:t>
            </a:r>
          </a:p>
        </p:txBody>
      </p:sp>
      <p:pic>
        <p:nvPicPr>
          <p:cNvPr id="18" name="Picture 17">
            <a:extLst>
              <a:ext uri="{FF2B5EF4-FFF2-40B4-BE49-F238E27FC236}">
                <a16:creationId xmlns:a16="http://schemas.microsoft.com/office/drawing/2014/main" id="{C52EA260-4911-424A-87C2-3D62E196E9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46107" y="116936"/>
            <a:ext cx="885514" cy="765399"/>
          </a:xfrm>
          <a:prstGeom prst="rect">
            <a:avLst/>
          </a:prstGeom>
        </p:spPr>
      </p:pic>
      <p:sp>
        <p:nvSpPr>
          <p:cNvPr id="25" name="TextBox 24"/>
          <p:cNvSpPr txBox="1"/>
          <p:nvPr/>
        </p:nvSpPr>
        <p:spPr>
          <a:xfrm>
            <a:off x="596719" y="997372"/>
            <a:ext cx="10998560" cy="1077218"/>
          </a:xfrm>
          <a:prstGeom prst="rect">
            <a:avLst/>
          </a:prstGeom>
          <a:solidFill>
            <a:schemeClr val="accent6">
              <a:lumMod val="75000"/>
            </a:schemeClr>
          </a:solidFill>
          <a:ln>
            <a:solidFill>
              <a:schemeClr val="accent6">
                <a:lumMod val="75000"/>
              </a:schemeClr>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Machine Learning and Bioinformatics Approaches for Lung Cancer Diagnosis and Staging: Using TCGA Dataset</a:t>
            </a:r>
          </a:p>
        </p:txBody>
      </p:sp>
      <p:cxnSp>
        <p:nvCxnSpPr>
          <p:cNvPr id="27" name="Straight Connector 26"/>
          <p:cNvCxnSpPr/>
          <p:nvPr/>
        </p:nvCxnSpPr>
        <p:spPr>
          <a:xfrm rot="5400000">
            <a:off x="5315158" y="3833628"/>
            <a:ext cx="1409346" cy="1156"/>
          </a:xfrm>
          <a:prstGeom prst="line">
            <a:avLst/>
          </a:prstGeom>
          <a:ln w="349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5418338" y="3456355"/>
            <a:ext cx="937933" cy="1156"/>
          </a:xfrm>
          <a:prstGeom prst="line">
            <a:avLst/>
          </a:prstGeom>
          <a:ln w="349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5677796" y="4183210"/>
            <a:ext cx="937933" cy="1156"/>
          </a:xfrm>
          <a:prstGeom prst="line">
            <a:avLst/>
          </a:prstGeom>
          <a:ln w="349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5935686" y="4429724"/>
            <a:ext cx="676016" cy="1156"/>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5417926" y="3207630"/>
            <a:ext cx="676016" cy="1156"/>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891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01042 -0.06365 L 3.33333E-6 -3.7037E-6 " pathEditMode="relative" rAng="0" ptsTypes="AA">
                                      <p:cBhvr>
                                        <p:cTn id="6" dur="2000" fill="hold"/>
                                        <p:tgtEl>
                                          <p:spTgt spid="29"/>
                                        </p:tgtEl>
                                        <p:attrNameLst>
                                          <p:attrName>ppt_x</p:attrName>
                                          <p:attrName>ppt_y</p:attrName>
                                        </p:attrNameLst>
                                      </p:cBhvr>
                                      <p:rCtr x="521" y="3171"/>
                                    </p:animMotion>
                                  </p:childTnLst>
                                </p:cTn>
                              </p:par>
                              <p:par>
                                <p:cTn id="7" presetID="42" presetClass="path" presetSubtype="0" accel="50000" decel="50000" fill="hold" nodeType="withEffect">
                                  <p:stCondLst>
                                    <p:cond delay="0"/>
                                  </p:stCondLst>
                                  <p:childTnLst>
                                    <p:animMotion origin="layout" path="M -0.02083 -0.09953 L -3.33333E-6 -2.22222E-6 " pathEditMode="relative" rAng="0" ptsTypes="AA">
                                      <p:cBhvr>
                                        <p:cTn id="8" dur="2000" fill="hold"/>
                                        <p:tgtEl>
                                          <p:spTgt spid="30"/>
                                        </p:tgtEl>
                                        <p:attrNameLst>
                                          <p:attrName>ppt_x</p:attrName>
                                          <p:attrName>ppt_y</p:attrName>
                                        </p:attrNameLst>
                                      </p:cBhvr>
                                      <p:rCtr x="1042" y="5046"/>
                                    </p:animMotion>
                                  </p:childTnLst>
                                </p:cTn>
                              </p:par>
                              <p:par>
                                <p:cTn id="9" presetID="42" presetClass="path" presetSubtype="0" accel="50000" decel="50000" fill="hold" nodeType="withEffect">
                                  <p:stCondLst>
                                    <p:cond delay="0"/>
                                  </p:stCondLst>
                                  <p:childTnLst>
                                    <p:animMotion origin="layout" path="M 0.01068 0.04236 L -0.00039 -0.00672 " pathEditMode="relative" rAng="0" ptsTypes="AA">
                                      <p:cBhvr>
                                        <p:cTn id="10" dur="2000" fill="hold"/>
                                        <p:tgtEl>
                                          <p:spTgt spid="28"/>
                                        </p:tgtEl>
                                        <p:attrNameLst>
                                          <p:attrName>ppt_x</p:attrName>
                                          <p:attrName>ppt_y</p:attrName>
                                        </p:attrNameLst>
                                      </p:cBhvr>
                                      <p:rCtr x="-560" y="-2454"/>
                                    </p:animMotion>
                                  </p:childTnLst>
                                </p:cTn>
                              </p:par>
                              <p:par>
                                <p:cTn id="11" presetID="42" presetClass="path" presetSubtype="0" accel="50000" decel="50000" fill="hold" nodeType="withEffect">
                                  <p:stCondLst>
                                    <p:cond delay="0"/>
                                  </p:stCondLst>
                                  <p:childTnLst>
                                    <p:animMotion origin="layout" path="M 0.02135 0.07848 L -0.00013 -0.00277 " pathEditMode="relative" rAng="0" ptsTypes="AA">
                                      <p:cBhvr>
                                        <p:cTn id="12" dur="2000" fill="hold"/>
                                        <p:tgtEl>
                                          <p:spTgt spid="31"/>
                                        </p:tgtEl>
                                        <p:attrNameLst>
                                          <p:attrName>ppt_x</p:attrName>
                                          <p:attrName>ppt_y</p:attrName>
                                        </p:attrNameLst>
                                      </p:cBhvr>
                                      <p:rCtr x="-1081" y="-407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9927" y="0"/>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634155" y="6264396"/>
            <a:ext cx="390601" cy="461665"/>
          </a:xfrm>
          <a:prstGeom prst="rect">
            <a:avLst/>
          </a:prstGeom>
        </p:spPr>
        <p:txBody>
          <a:bodyPr wrap="square">
            <a:spAutoFit/>
          </a:bodyPr>
          <a:lstStyle/>
          <a:p>
            <a:r>
              <a:rPr lang="en-US" sz="2400" b="1" dirty="0">
                <a:solidFill>
                  <a:schemeClr val="tx1">
                    <a:lumMod val="50000"/>
                    <a:lumOff val="50000"/>
                  </a:schemeClr>
                </a:solidFill>
              </a:rPr>
              <a:t>2</a:t>
            </a:r>
          </a:p>
        </p:txBody>
      </p:sp>
      <p:pic>
        <p:nvPicPr>
          <p:cNvPr id="8" name="Picture 7"/>
          <p:cNvPicPr>
            <a:picLocks noChangeAspect="1"/>
          </p:cNvPicPr>
          <p:nvPr/>
        </p:nvPicPr>
        <p:blipFill>
          <a:blip r:embed="rId6" cstate="print">
            <a:lum bright="70000" contrast="-70000"/>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sp>
        <p:nvSpPr>
          <p:cNvPr id="12" name="Rounded Rectangle 11"/>
          <p:cNvSpPr/>
          <p:nvPr/>
        </p:nvSpPr>
        <p:spPr>
          <a:xfrm>
            <a:off x="4240334" y="305492"/>
            <a:ext cx="3711333"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Outlines</a:t>
            </a:r>
            <a:endParaRPr lang="en-US" sz="4000" dirty="0">
              <a:solidFill>
                <a:schemeClr val="bg1"/>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501790" y="1706820"/>
            <a:ext cx="3711333" cy="4832092"/>
          </a:xfrm>
          <a:prstGeom prst="rect">
            <a:avLst/>
          </a:prstGeom>
        </p:spPr>
        <p:txBody>
          <a:bodyPr wrap="square">
            <a:spAutoFit/>
          </a:bodyPr>
          <a:lstStyle/>
          <a:p>
            <a:pPr marR="0" lvl="0">
              <a:spcBef>
                <a:spcPts val="0"/>
              </a:spcBef>
              <a:spcAft>
                <a:spcPts val="0"/>
              </a:spcAft>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Introduction</a:t>
            </a:r>
          </a:p>
          <a:p>
            <a:pPr marR="0" lvl="0">
              <a:spcBef>
                <a:spcPts val="0"/>
              </a:spcBef>
              <a:spcAft>
                <a:spcPts val="0"/>
              </a:spcAft>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Problem Statement</a:t>
            </a:r>
          </a:p>
          <a:p>
            <a:pPr marR="0" lvl="0">
              <a:spcBef>
                <a:spcPts val="0"/>
              </a:spcBef>
              <a:spcAft>
                <a:spcPts val="0"/>
              </a:spcAft>
              <a:buFont typeface="Wingdings" pitchFamily="2" charset="2"/>
              <a:buChar char="v"/>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Motivation</a:t>
            </a:r>
          </a:p>
          <a:p>
            <a:pPr marR="0" lvl="0">
              <a:spcBef>
                <a:spcPts val="0"/>
              </a:spcBef>
              <a:spcAft>
                <a:spcPts val="0"/>
              </a:spcAft>
              <a:buFont typeface="Wingdings" pitchFamily="2" charset="2"/>
              <a:buChar char="v"/>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Research Question</a:t>
            </a:r>
          </a:p>
          <a:p>
            <a:pPr marR="0" lvl="0">
              <a:spcBef>
                <a:spcPts val="0"/>
              </a:spcBef>
              <a:spcAft>
                <a:spcPts val="0"/>
              </a:spcAft>
              <a:buFont typeface="Wingdings" pitchFamily="2" charset="2"/>
              <a:buChar char="v"/>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Objectives</a:t>
            </a:r>
          </a:p>
          <a:p>
            <a:pPr marR="0" lvl="0">
              <a:spcBef>
                <a:spcPts val="0"/>
              </a:spcBef>
              <a:spcAft>
                <a:spcPts val="0"/>
              </a:spcAft>
              <a:buFont typeface="Wingdings" pitchFamily="2" charset="2"/>
              <a:buChar char="v"/>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BB6B911A-1377-425F-6167-BBCD0FDD4555}"/>
              </a:ext>
            </a:extLst>
          </p:cNvPr>
          <p:cNvSpPr>
            <a:spLocks noGrp="1"/>
          </p:cNvSpPr>
          <p:nvPr>
            <p:ph type="dt" sz="half" idx="10"/>
          </p:nvPr>
        </p:nvSpPr>
        <p:spPr/>
        <p:txBody>
          <a:bodyPr/>
          <a:lstStyle/>
          <a:p>
            <a:fld id="{F4493541-7436-435E-A7DA-F7FB52E4EAB0}" type="datetime1">
              <a:rPr lang="en-US" sz="1600" smtClean="0"/>
              <a:t>9/13/2025</a:t>
            </a:fld>
            <a:endParaRPr lang="en-US" sz="1600" dirty="0"/>
          </a:p>
        </p:txBody>
      </p:sp>
      <p:sp>
        <p:nvSpPr>
          <p:cNvPr id="3" name="Footer Placeholder 2">
            <a:extLst>
              <a:ext uri="{FF2B5EF4-FFF2-40B4-BE49-F238E27FC236}">
                <a16:creationId xmlns:a16="http://schemas.microsoft.com/office/drawing/2014/main" id="{32C86B9F-F7AA-EAD8-1B28-D04018A6177A}"/>
              </a:ext>
            </a:extLst>
          </p:cNvPr>
          <p:cNvSpPr>
            <a:spLocks noGrp="1"/>
          </p:cNvSpPr>
          <p:nvPr>
            <p:ph type="ftr" sz="quarter" idx="11"/>
          </p:nvPr>
        </p:nvSpPr>
        <p:spPr/>
        <p:txBody>
          <a:bodyPr/>
          <a:lstStyle/>
          <a:p>
            <a:r>
              <a:rPr lang="en-US" sz="1600" dirty="0">
                <a:latin typeface="Times New Roman" panose="02020603050405020304" pitchFamily="18" charset="0"/>
                <a:cs typeface="Times New Roman" panose="02020603050405020304" pitchFamily="18" charset="0"/>
              </a:rPr>
              <a:t>Md. Abul Basar, </a:t>
            </a:r>
            <a:r>
              <a:rPr lang="en-US" sz="1600" dirty="0"/>
              <a:t>IT-21619</a:t>
            </a:r>
          </a:p>
        </p:txBody>
      </p:sp>
      <p:sp>
        <p:nvSpPr>
          <p:cNvPr id="7" name="TextBox 6">
            <a:extLst>
              <a:ext uri="{FF2B5EF4-FFF2-40B4-BE49-F238E27FC236}">
                <a16:creationId xmlns:a16="http://schemas.microsoft.com/office/drawing/2014/main" id="{AB9C60DF-1C3E-7751-DD65-EC61F9166982}"/>
              </a:ext>
            </a:extLst>
          </p:cNvPr>
          <p:cNvSpPr txBox="1"/>
          <p:nvPr/>
        </p:nvSpPr>
        <p:spPr>
          <a:xfrm>
            <a:off x="4161692" y="1764124"/>
            <a:ext cx="3868616" cy="3416320"/>
          </a:xfrm>
          <a:prstGeom prst="rect">
            <a:avLst/>
          </a:prstGeom>
          <a:noFill/>
        </p:spPr>
        <p:txBody>
          <a:bodyPr wrap="square" rtlCol="0">
            <a:spAutoFit/>
          </a:bodyPr>
          <a:lstStyle/>
          <a:p>
            <a:pPr>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Rationale of the Research</a:t>
            </a:r>
          </a:p>
          <a:p>
            <a:pPr marR="0" lvl="0">
              <a:spcBef>
                <a:spcPts val="0"/>
              </a:spcBef>
              <a:spcAft>
                <a:spcPts val="0"/>
              </a:spcAft>
              <a:buFont typeface="Wingdings" pitchFamily="2" charset="2"/>
              <a:buChar char="v"/>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Literature Review</a:t>
            </a:r>
          </a:p>
          <a:p>
            <a:pPr marR="0" lvl="0">
              <a:spcBef>
                <a:spcPts val="0"/>
              </a:spcBef>
              <a:spcAft>
                <a:spcPts val="0"/>
              </a:spcAft>
              <a:buFont typeface="Wingdings" pitchFamily="2" charset="2"/>
              <a:buChar char="v"/>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Proposed Methodology</a:t>
            </a:r>
          </a:p>
          <a:p>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Result Analysis</a:t>
            </a:r>
          </a:p>
          <a:p>
            <a:pPr marR="0" lvl="0">
              <a:spcBef>
                <a:spcPts val="0"/>
              </a:spcBef>
              <a:spcAft>
                <a:spcPts val="0"/>
              </a:spcAft>
              <a:buFont typeface="Wingdings" pitchFamily="2" charset="2"/>
              <a:buChar char="v"/>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buFont typeface="Wingdings" pitchFamily="2" charset="2"/>
              <a:buChar char="v"/>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References</a:t>
            </a:r>
          </a:p>
        </p:txBody>
      </p:sp>
      <p:pic>
        <p:nvPicPr>
          <p:cNvPr id="6" name="Picture 4" descr="Gui, content Free Icon - Icon-Icons.com">
            <a:extLst>
              <a:ext uri="{FF2B5EF4-FFF2-40B4-BE49-F238E27FC236}">
                <a16:creationId xmlns:a16="http://schemas.microsoft.com/office/drawing/2014/main" id="{F89E5A92-E254-6AAC-33D7-F45E6100AED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95730" y="1627362"/>
            <a:ext cx="3024405" cy="3024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442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 y="-1103"/>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634155" y="6264396"/>
            <a:ext cx="390601" cy="461665"/>
          </a:xfrm>
          <a:prstGeom prst="rect">
            <a:avLst/>
          </a:prstGeom>
        </p:spPr>
        <p:txBody>
          <a:bodyPr wrap="square">
            <a:spAutoFit/>
          </a:bodyPr>
          <a:lstStyle/>
          <a:p>
            <a:r>
              <a:rPr lang="en-US" sz="2400" b="1" dirty="0">
                <a:solidFill>
                  <a:schemeClr val="tx1">
                    <a:lumMod val="50000"/>
                    <a:lumOff val="50000"/>
                  </a:schemeClr>
                </a:solidFill>
              </a:rPr>
              <a:t>3</a:t>
            </a:r>
          </a:p>
        </p:txBody>
      </p:sp>
      <p:pic>
        <p:nvPicPr>
          <p:cNvPr id="8" name="Picture 7"/>
          <p:cNvPicPr>
            <a:picLocks noChangeAspect="1"/>
          </p:cNvPicPr>
          <p:nvPr/>
        </p:nvPicPr>
        <p:blipFill>
          <a:blip r:embed="rId6" cstate="print">
            <a:lum bright="70000" contrast="-70000"/>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sp>
        <p:nvSpPr>
          <p:cNvPr id="12" name="Rounded Rectangle 11"/>
          <p:cNvSpPr/>
          <p:nvPr/>
        </p:nvSpPr>
        <p:spPr>
          <a:xfrm>
            <a:off x="4240334" y="305492"/>
            <a:ext cx="3711333"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Introduction</a:t>
            </a:r>
            <a:endParaRPr lang="en-US" sz="4000" dirty="0">
              <a:solidFill>
                <a:schemeClr val="bg1"/>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475799" y="1696543"/>
            <a:ext cx="11111641" cy="3477875"/>
          </a:xfrm>
          <a:prstGeom prst="rect">
            <a:avLst/>
          </a:prstGeom>
        </p:spPr>
        <p:txBody>
          <a:bodyPr wrap="square">
            <a:spAutoFit/>
          </a:bodyPr>
          <a:lstStyle/>
          <a:p>
            <a:pPr marL="342900" marR="0" lvl="0" indent="-342900" algn="just">
              <a:spcBef>
                <a:spcPts val="0"/>
              </a:spcBef>
              <a:spcAft>
                <a:spcPts val="0"/>
              </a:spcAf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Lung cancer is one of the most prevalent and deadly cancer globally, representing a significant public health challenge.</a:t>
            </a:r>
          </a:p>
          <a:p>
            <a:pPr marL="342900" marR="0" lvl="0" indent="-342900" algn="just">
              <a:spcBef>
                <a:spcPts val="0"/>
              </a:spcBef>
              <a:spcAft>
                <a:spcPts val="0"/>
              </a:spcAft>
              <a:buFont typeface="Wingdings" panose="05000000000000000000" pitchFamily="2" charset="2"/>
              <a:buChar char="q"/>
            </a:pPr>
            <a:endParaRPr lang="en-US" sz="2000" dirty="0">
              <a:solidFill>
                <a:schemeClr val="accent5">
                  <a:lumMod val="7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According to the Global Cancer Observatory, there were an estimated 2.1 million new cases and 1.8 million deaths due to lung cancer in 2020, making it the leading cause of cancer-related mortality [1].</a:t>
            </a:r>
          </a:p>
          <a:p>
            <a:pPr marR="0" lvl="0" algn="just">
              <a:spcBef>
                <a:spcPts val="0"/>
              </a:spcBef>
              <a:spcAft>
                <a:spcPts val="0"/>
              </a:spcAft>
            </a:pPr>
            <a:endParaRPr lang="en-US" sz="2000" dirty="0">
              <a:solidFill>
                <a:schemeClr val="accent5">
                  <a:lumMod val="7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Wingdings" panose="05000000000000000000" pitchFamily="2" charset="2"/>
              <a:buChar char="q"/>
            </a:pPr>
            <a:r>
              <a:rPr lang="en-US" sz="2000" dirty="0">
                <a:solidFill>
                  <a:schemeClr val="dk1"/>
                </a:solidFill>
                <a:latin typeface="Times New Roman"/>
                <a:ea typeface="Times New Roman"/>
                <a:cs typeface="Times New Roman"/>
                <a:sym typeface="Times New Roman"/>
              </a:rPr>
              <a:t>Biomarkers aid in early detection, prognosis, and targeted therapies, as well as accurate staging is essential for treatment planning and patient management.</a:t>
            </a:r>
          </a:p>
          <a:p>
            <a:pPr marR="0" lvl="0" algn="just">
              <a:spcBef>
                <a:spcPts val="0"/>
              </a:spcBef>
              <a:spcAft>
                <a:spcPts val="0"/>
              </a:spcAft>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advancement of machine learning and bioinformatics techniques are integrated for identifying robust biomarkers and improving staging accuracy in lung cancer using GEO and TCGA data.</a:t>
            </a:r>
          </a:p>
        </p:txBody>
      </p:sp>
      <p:sp>
        <p:nvSpPr>
          <p:cNvPr id="2" name="Date Placeholder 1">
            <a:extLst>
              <a:ext uri="{FF2B5EF4-FFF2-40B4-BE49-F238E27FC236}">
                <a16:creationId xmlns:a16="http://schemas.microsoft.com/office/drawing/2014/main" id="{19F91EF9-849F-86D9-D14C-601369B41349}"/>
              </a:ext>
            </a:extLst>
          </p:cNvPr>
          <p:cNvSpPr>
            <a:spLocks noGrp="1"/>
          </p:cNvSpPr>
          <p:nvPr>
            <p:ph type="dt" sz="half" idx="10"/>
          </p:nvPr>
        </p:nvSpPr>
        <p:spPr/>
        <p:txBody>
          <a:bodyPr/>
          <a:lstStyle/>
          <a:p>
            <a:fld id="{0162DAFB-0CB9-45E7-868F-C45CABDD19A4}"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2CC499A-26C4-79FB-C98B-5B18664AA66B}"/>
              </a:ext>
            </a:extLst>
          </p:cNvPr>
          <p:cNvSpPr>
            <a:spLocks noGrp="1"/>
          </p:cNvSpPr>
          <p:nvPr>
            <p:ph type="ftr" sz="quarter" idx="11"/>
          </p:nvPr>
        </p:nvSpPr>
        <p:spPr>
          <a:xfrm>
            <a:off x="4038600" y="6444579"/>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Tree>
    <p:extLst>
      <p:ext uri="{BB962C8B-B14F-4D97-AF65-F5344CB8AC3E}">
        <p14:creationId xmlns:p14="http://schemas.microsoft.com/office/powerpoint/2010/main" val="2834442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FABF4DDB-BF11-9E78-7409-7C5BCF660AB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897BD9D4-C97E-76E5-044A-D0C3FD0944A4}"/>
              </a:ext>
            </a:extLst>
          </p:cNvPr>
          <p:cNvPicPr>
            <a:picLocks noChangeAspect="1"/>
          </p:cNvPicPr>
          <p:nvPr/>
        </p:nvPicPr>
        <p:blipFill rotWithShape="1">
          <a:blip r:embed="rId3">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 y="-1103"/>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D63E0E47-9599-0ABD-1B7E-804D27E04B7E}"/>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80319AA1-FAB9-2B87-C892-176F07D65698}"/>
              </a:ext>
            </a:extLst>
          </p:cNvPr>
          <p:cNvSpPr/>
          <p:nvPr/>
        </p:nvSpPr>
        <p:spPr>
          <a:xfrm>
            <a:off x="11634155" y="6264396"/>
            <a:ext cx="390601" cy="461665"/>
          </a:xfrm>
          <a:prstGeom prst="rect">
            <a:avLst/>
          </a:prstGeom>
        </p:spPr>
        <p:txBody>
          <a:bodyPr wrap="square">
            <a:spAutoFit/>
          </a:bodyPr>
          <a:lstStyle/>
          <a:p>
            <a:r>
              <a:rPr lang="en-US" sz="2400" b="1" dirty="0">
                <a:solidFill>
                  <a:schemeClr val="tx1">
                    <a:lumMod val="50000"/>
                    <a:lumOff val="50000"/>
                  </a:schemeClr>
                </a:solidFill>
              </a:rPr>
              <a:t>4</a:t>
            </a:r>
          </a:p>
        </p:txBody>
      </p:sp>
      <p:pic>
        <p:nvPicPr>
          <p:cNvPr id="8" name="Picture 7">
            <a:extLst>
              <a:ext uri="{FF2B5EF4-FFF2-40B4-BE49-F238E27FC236}">
                <a16:creationId xmlns:a16="http://schemas.microsoft.com/office/drawing/2014/main" id="{A7ABC643-F96F-E0D5-A4D7-437AF047BE99}"/>
              </a:ext>
            </a:extLst>
          </p:cNvPr>
          <p:cNvPicPr>
            <a:picLocks noChangeAspect="1"/>
          </p:cNvPicPr>
          <p:nvPr/>
        </p:nvPicPr>
        <p:blipFill>
          <a:blip r:embed="rId6" cstate="print">
            <a:lum bright="70000" contrast="-70000"/>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40D9C7F-5D08-A367-10B0-975AC611A0C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sp>
        <p:nvSpPr>
          <p:cNvPr id="12" name="Rounded Rectangle 11">
            <a:extLst>
              <a:ext uri="{FF2B5EF4-FFF2-40B4-BE49-F238E27FC236}">
                <a16:creationId xmlns:a16="http://schemas.microsoft.com/office/drawing/2014/main" id="{4D5B6832-65EB-E23C-BE98-FEF0C90C9137}"/>
              </a:ext>
            </a:extLst>
          </p:cNvPr>
          <p:cNvSpPr/>
          <p:nvPr/>
        </p:nvSpPr>
        <p:spPr>
          <a:xfrm>
            <a:off x="3581400" y="305492"/>
            <a:ext cx="4886739"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Problem</a:t>
            </a:r>
            <a:r>
              <a:rPr lang="en-US" sz="4000" b="1" dirty="0">
                <a:solidFill>
                  <a:schemeClr val="bg1"/>
                </a:solidFill>
                <a:latin typeface="Times New Roman" panose="02020603050405020304" pitchFamily="18" charset="0"/>
                <a:cs typeface="Times New Roman" panose="02020603050405020304" pitchFamily="18" charset="0"/>
              </a:rPr>
              <a:t> Statement</a:t>
            </a:r>
            <a:endParaRPr lang="en-US" sz="4000" dirty="0">
              <a:solidFill>
                <a:schemeClr val="bg1"/>
              </a:solidFill>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59C989D2-E5FF-913B-2C8B-21244B8AA8CC}"/>
              </a:ext>
            </a:extLst>
          </p:cNvPr>
          <p:cNvSpPr/>
          <p:nvPr/>
        </p:nvSpPr>
        <p:spPr>
          <a:xfrm>
            <a:off x="838200" y="1609882"/>
            <a:ext cx="7927959" cy="4093428"/>
          </a:xfrm>
          <a:prstGeom prst="rect">
            <a:avLst/>
          </a:prstGeom>
        </p:spPr>
        <p:txBody>
          <a:bodyPr wrap="square">
            <a:spAutoFit/>
          </a:bodyPr>
          <a:lstStyle/>
          <a:p>
            <a:pPr marL="342900" indent="-342900" algn="jus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Lung cancer remains high mortality due to late-stage detection and limited biomarkers.</a:t>
            </a:r>
          </a:p>
          <a:p>
            <a:pPr marL="342900" marR="0" lvl="0" indent="-342900" algn="just">
              <a:spcBef>
                <a:spcPts val="0"/>
              </a:spcBef>
              <a:spcAft>
                <a:spcPts val="0"/>
              </a:spcAft>
              <a:buFont typeface="Wingdings" panose="05000000000000000000" pitchFamily="2" charset="2"/>
              <a:buChar char="q"/>
            </a:pPr>
            <a:endParaRPr lang="en-US" sz="2000" dirty="0">
              <a:solidFill>
                <a:schemeClr val="accent5">
                  <a:lumMod val="7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Conventional techniques are invasive, costly, and time-consuming.</a:t>
            </a:r>
          </a:p>
          <a:p>
            <a:pPr marL="342900" marR="0" lvl="0" indent="-342900" algn="just">
              <a:spcBef>
                <a:spcPts val="0"/>
              </a:spcBef>
              <a:spcAft>
                <a:spcPts val="0"/>
              </a:spcAft>
              <a:buFont typeface="Wingdings" panose="05000000000000000000" pitchFamily="2" charset="2"/>
              <a:buChar char="q"/>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Lack of robust and reliable biomarkers for early detection and prognosis.</a:t>
            </a:r>
          </a:p>
          <a:p>
            <a:pPr marL="342900" marR="0" lvl="0" indent="-342900" algn="just">
              <a:spcBef>
                <a:spcPts val="0"/>
              </a:spcBef>
              <a:spcAft>
                <a:spcPts val="0"/>
              </a:spcAft>
              <a:buFont typeface="Wingdings" panose="05000000000000000000" pitchFamily="2" charset="2"/>
              <a:buChar char="q"/>
            </a:pPr>
            <a:endParaRPr lang="en-US" sz="2000" dirty="0">
              <a:solidFill>
                <a:schemeClr val="accent5">
                  <a:lumMod val="7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Wingdings" panose="05000000000000000000" pitchFamily="2" charset="2"/>
              <a:buChar char="q"/>
            </a:pPr>
            <a:r>
              <a:rPr lang="en-US" sz="2000" dirty="0">
                <a:solidFill>
                  <a:schemeClr val="dk1"/>
                </a:solidFill>
                <a:latin typeface="Times New Roman"/>
                <a:ea typeface="Times New Roman"/>
                <a:cs typeface="Times New Roman"/>
                <a:sym typeface="Times New Roman"/>
              </a:rPr>
              <a:t>Existing staging systems often fail to capture molecular heterogeneity. Misclassification leads to inaccurate treatment decisions.</a:t>
            </a:r>
          </a:p>
          <a:p>
            <a:pPr algn="just"/>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Advanced machine learning and bioinformatics techniques are required to identify novel biomarkers, improve diagnosis and staging accuracy, and support personalized treatment strategies.</a:t>
            </a:r>
          </a:p>
        </p:txBody>
      </p:sp>
      <p:sp>
        <p:nvSpPr>
          <p:cNvPr id="2" name="Date Placeholder 1">
            <a:extLst>
              <a:ext uri="{FF2B5EF4-FFF2-40B4-BE49-F238E27FC236}">
                <a16:creationId xmlns:a16="http://schemas.microsoft.com/office/drawing/2014/main" id="{2EA5ECE3-4852-CA5C-9309-43F65BEA2224}"/>
              </a:ext>
            </a:extLst>
          </p:cNvPr>
          <p:cNvSpPr>
            <a:spLocks noGrp="1"/>
          </p:cNvSpPr>
          <p:nvPr>
            <p:ph type="dt" sz="half" idx="10"/>
          </p:nvPr>
        </p:nvSpPr>
        <p:spPr/>
        <p:txBody>
          <a:bodyPr/>
          <a:lstStyle/>
          <a:p>
            <a:fld id="{0162DAFB-0CB9-45E7-868F-C45CABDD19A4}"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CBDE767-30D7-D70D-28BC-52ED33DD38C1}"/>
              </a:ext>
            </a:extLst>
          </p:cNvPr>
          <p:cNvSpPr>
            <a:spLocks noGrp="1"/>
          </p:cNvSpPr>
          <p:nvPr>
            <p:ph type="ftr" sz="quarter" idx="11"/>
          </p:nvPr>
        </p:nvSpPr>
        <p:spPr>
          <a:xfrm>
            <a:off x="4038600" y="6444579"/>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0" name="Picture 9">
            <a:extLst>
              <a:ext uri="{FF2B5EF4-FFF2-40B4-BE49-F238E27FC236}">
                <a16:creationId xmlns:a16="http://schemas.microsoft.com/office/drawing/2014/main" id="{C9CA4DD5-C341-19D8-A1AA-4110ADA6EA2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835686" y="2165515"/>
            <a:ext cx="2972276" cy="2982163"/>
          </a:xfrm>
          <a:prstGeom prst="rect">
            <a:avLst/>
          </a:prstGeom>
        </p:spPr>
      </p:pic>
    </p:spTree>
    <p:extLst>
      <p:ext uri="{BB962C8B-B14F-4D97-AF65-F5344CB8AC3E}">
        <p14:creationId xmlns:p14="http://schemas.microsoft.com/office/powerpoint/2010/main" val="2992166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 y="-15171"/>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634155" y="6264396"/>
            <a:ext cx="390601" cy="461665"/>
          </a:xfrm>
          <a:prstGeom prst="rect">
            <a:avLst/>
          </a:prstGeom>
        </p:spPr>
        <p:txBody>
          <a:bodyPr wrap="square">
            <a:spAutoFit/>
          </a:bodyPr>
          <a:lstStyle/>
          <a:p>
            <a:r>
              <a:rPr lang="en-US" sz="2400" b="1" dirty="0">
                <a:solidFill>
                  <a:schemeClr val="tx1">
                    <a:lumMod val="50000"/>
                    <a:lumOff val="50000"/>
                  </a:schemeClr>
                </a:solidFill>
              </a:rPr>
              <a:t>5</a:t>
            </a:r>
          </a:p>
        </p:txBody>
      </p:sp>
      <p:pic>
        <p:nvPicPr>
          <p:cNvPr id="8" name="Picture 7"/>
          <p:cNvPicPr>
            <a:picLocks noChangeAspect="1"/>
          </p:cNvPicPr>
          <p:nvPr/>
        </p:nvPicPr>
        <p:blipFill>
          <a:blip r:embed="rId6" cstate="print">
            <a:lum bright="70000" contrast="-70000"/>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sp>
        <p:nvSpPr>
          <p:cNvPr id="12" name="Rounded Rectangle 11"/>
          <p:cNvSpPr/>
          <p:nvPr/>
        </p:nvSpPr>
        <p:spPr>
          <a:xfrm>
            <a:off x="940904" y="305492"/>
            <a:ext cx="9581731" cy="876194"/>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latin typeface="Times New Roman" panose="02020603050405020304" pitchFamily="18" charset="0"/>
                <a:cs typeface="Times New Roman" panose="02020603050405020304" pitchFamily="18" charset="0"/>
              </a:rPr>
              <a:t>Motivation and </a:t>
            </a:r>
            <a:r>
              <a:rPr lang="en-US" sz="3600" dirty="0">
                <a:solidFill>
                  <a:schemeClr val="bg1"/>
                </a:solidFill>
                <a:latin typeface="Times New Roman" panose="02020603050405020304" pitchFamily="18" charset="0"/>
                <a:cs typeface="Times New Roman" panose="02020603050405020304" pitchFamily="18" charset="0"/>
              </a:rPr>
              <a:t>Relevance</a:t>
            </a:r>
            <a:r>
              <a:rPr lang="en-US" sz="3200" dirty="0">
                <a:solidFill>
                  <a:schemeClr val="bg1"/>
                </a:solidFill>
                <a:latin typeface="Times New Roman" panose="02020603050405020304" pitchFamily="18" charset="0"/>
                <a:cs typeface="Times New Roman" panose="02020603050405020304" pitchFamily="18" charset="0"/>
              </a:rPr>
              <a:t> to Bangladesh’s Development</a:t>
            </a:r>
          </a:p>
        </p:txBody>
      </p:sp>
      <p:sp>
        <p:nvSpPr>
          <p:cNvPr id="13" name="Rectangle 12"/>
          <p:cNvSpPr/>
          <p:nvPr/>
        </p:nvSpPr>
        <p:spPr>
          <a:xfrm>
            <a:off x="541270" y="1702189"/>
            <a:ext cx="8213524" cy="4401205"/>
          </a:xfrm>
          <a:prstGeom prst="rect">
            <a:avLst/>
          </a:prstGeom>
        </p:spPr>
        <p:txBody>
          <a:bodyPr wrap="square">
            <a:spAutoFit/>
          </a:bodyPr>
          <a:lstStyle/>
          <a:p>
            <a:pPr marL="342900" marR="0" lvl="0" indent="-342900" algn="just">
              <a:spcBef>
                <a:spcPts val="0"/>
              </a:spcBef>
              <a:spcAft>
                <a:spcPts val="0"/>
              </a:spcAf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Lung cancer cases are on the rise in Bangladesh, with the rise in the number of smokers and air pollution levels. </a:t>
            </a:r>
            <a:endParaRPr lang="en-US" sz="2000" dirty="0">
              <a:solidFill>
                <a:schemeClr val="accent5">
                  <a:lumMod val="7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Wingdings" panose="05000000000000000000" pitchFamily="2" charset="2"/>
              <a:buChar char="q"/>
            </a:pPr>
            <a:endParaRPr lang="en-US" sz="2000" dirty="0">
              <a:solidFill>
                <a:schemeClr val="accent5">
                  <a:lumMod val="7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Wingdings" panose="05000000000000000000" pitchFamily="2" charset="2"/>
              <a:buChar char="q"/>
            </a:pPr>
            <a:r>
              <a:rPr lang="en-US" sz="2000" dirty="0">
                <a:solidFill>
                  <a:schemeClr val="dk1"/>
                </a:solidFill>
                <a:latin typeface="Times New Roman"/>
                <a:ea typeface="Times New Roman"/>
                <a:cs typeface="Times New Roman"/>
                <a:sym typeface="Times New Roman"/>
              </a:rPr>
              <a:t>According to the report, a total of 76,543 new patients attended the outpatient department of the National Institute of Cancer Research and Hospital (NICRH), Dhaka. Of them, some 35,369 had confirmed or provisional diagnosis of cancer and they were included in the final analysis [2]. </a:t>
            </a:r>
          </a:p>
          <a:p>
            <a:pPr marR="0" lvl="0" algn="just">
              <a:spcBef>
                <a:spcPts val="0"/>
              </a:spcBef>
              <a:spcAft>
                <a:spcPts val="0"/>
              </a:spcAft>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Among patients with the worst grade of lung cancer, if diagnosed at stage I, the 5-year survival rate for those aged 45 and 84 years is 85% and survivable with appropriate treatment, while the 5-year survival rates at stages II, III   and IV are about 57%, 28% and  7%,  respectively [3]. </a:t>
            </a:r>
          </a:p>
          <a:p>
            <a:pPr algn="just"/>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 name="Picture 9" descr="chart-removebg-preview.png"/>
          <p:cNvPicPr>
            <a:picLocks noChangeAspect="1"/>
          </p:cNvPicPr>
          <p:nvPr/>
        </p:nvPicPr>
        <p:blipFill>
          <a:blip r:embed="rId9"/>
          <a:stretch>
            <a:fillRect/>
          </a:stretch>
        </p:blipFill>
        <p:spPr>
          <a:xfrm>
            <a:off x="8718735" y="1702189"/>
            <a:ext cx="3473265" cy="3291841"/>
          </a:xfrm>
          <a:prstGeom prst="rect">
            <a:avLst/>
          </a:prstGeom>
        </p:spPr>
      </p:pic>
      <p:sp>
        <p:nvSpPr>
          <p:cNvPr id="14" name="TextBox 13"/>
          <p:cNvSpPr txBox="1"/>
          <p:nvPr/>
        </p:nvSpPr>
        <p:spPr>
          <a:xfrm>
            <a:off x="8947052" y="4839286"/>
            <a:ext cx="3052690" cy="369332"/>
          </a:xfrm>
          <a:prstGeom prst="rect">
            <a:avLst/>
          </a:prstGeom>
          <a:noFill/>
        </p:spPr>
        <p:txBody>
          <a:bodyPr wrap="square" rtlCol="0">
            <a:spAutoFit/>
          </a:bodyPr>
          <a:lstStyle/>
          <a:p>
            <a:r>
              <a:rPr lang="en-US" dirty="0"/>
              <a:t>Fig: </a:t>
            </a:r>
            <a:r>
              <a:rPr lang="en-US" sz="1400" b="1" dirty="0">
                <a:latin typeface="Times New Roman" pitchFamily="18" charset="0"/>
                <a:cs typeface="Times New Roman" pitchFamily="18" charset="0"/>
              </a:rPr>
              <a:t>Top 10 Cancers by Incidence</a:t>
            </a:r>
          </a:p>
        </p:txBody>
      </p:sp>
      <p:sp>
        <p:nvSpPr>
          <p:cNvPr id="3" name="Date Placeholder 2">
            <a:extLst>
              <a:ext uri="{FF2B5EF4-FFF2-40B4-BE49-F238E27FC236}">
                <a16:creationId xmlns:a16="http://schemas.microsoft.com/office/drawing/2014/main" id="{B8957729-1EF1-9F0A-4D1A-0EE553154E9F}"/>
              </a:ext>
            </a:extLst>
          </p:cNvPr>
          <p:cNvSpPr>
            <a:spLocks noGrp="1"/>
          </p:cNvSpPr>
          <p:nvPr>
            <p:ph type="dt" sz="half" idx="10"/>
          </p:nvPr>
        </p:nvSpPr>
        <p:spPr/>
        <p:txBody>
          <a:bodyPr/>
          <a:lstStyle/>
          <a:p>
            <a:fld id="{E7265B8A-50AB-4EB3-9000-BEDC2A64BA5A}"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BFF774FF-B429-0CF1-2009-F51E70447963}"/>
              </a:ext>
            </a:extLst>
          </p:cNvPr>
          <p:cNvSpPr>
            <a:spLocks noGrp="1"/>
          </p:cNvSpPr>
          <p:nvPr>
            <p:ph type="ftr" sz="quarter" idx="11"/>
          </p:nvPr>
        </p:nvSpPr>
        <p:spPr>
          <a:xfrm>
            <a:off x="4012810" y="6486355"/>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Tree>
    <p:extLst>
      <p:ext uri="{BB962C8B-B14F-4D97-AF65-F5344CB8AC3E}">
        <p14:creationId xmlns:p14="http://schemas.microsoft.com/office/powerpoint/2010/main" val="4291232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634155" y="6264396"/>
            <a:ext cx="390601" cy="461665"/>
          </a:xfrm>
          <a:prstGeom prst="rect">
            <a:avLst/>
          </a:prstGeom>
        </p:spPr>
        <p:txBody>
          <a:bodyPr wrap="square">
            <a:spAutoFit/>
          </a:bodyPr>
          <a:lstStyle/>
          <a:p>
            <a:r>
              <a:rPr lang="en-US" sz="2400" b="1" dirty="0">
                <a:solidFill>
                  <a:schemeClr val="tx1">
                    <a:lumMod val="50000"/>
                    <a:lumOff val="50000"/>
                  </a:schemeClr>
                </a:solidFill>
              </a:rPr>
              <a:t>6</a:t>
            </a:r>
          </a:p>
        </p:txBody>
      </p:sp>
      <p:pic>
        <p:nvPicPr>
          <p:cNvPr id="8" name="Picture 7"/>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p:cNvSpPr/>
          <p:nvPr/>
        </p:nvSpPr>
        <p:spPr>
          <a:xfrm>
            <a:off x="3235570" y="305492"/>
            <a:ext cx="6288258"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Research</a:t>
            </a:r>
            <a:r>
              <a:rPr lang="en-US" sz="4000" b="1" dirty="0">
                <a:solidFill>
                  <a:schemeClr val="bg1"/>
                </a:solidFill>
                <a:latin typeface="Times New Roman" panose="02020603050405020304" pitchFamily="18" charset="0"/>
                <a:cs typeface="Times New Roman" panose="02020603050405020304" pitchFamily="18" charset="0"/>
              </a:rPr>
              <a:t> Question</a:t>
            </a:r>
          </a:p>
        </p:txBody>
      </p:sp>
      <p:sp>
        <p:nvSpPr>
          <p:cNvPr id="2" name="Rectangle 1"/>
          <p:cNvSpPr/>
          <p:nvPr/>
        </p:nvSpPr>
        <p:spPr>
          <a:xfrm>
            <a:off x="758759" y="1404854"/>
            <a:ext cx="7112246" cy="4362044"/>
          </a:xfrm>
          <a:prstGeom prst="rect">
            <a:avLst/>
          </a:prstGeom>
        </p:spPr>
        <p:txBody>
          <a:bodyPr wrap="square">
            <a:spAutoFit/>
          </a:bodyPr>
          <a:lstStyle/>
          <a:p>
            <a:pPr lvl="0" algn="just"/>
            <a:r>
              <a:rPr lang="en-US" sz="2000" b="1" dirty="0">
                <a:solidFill>
                  <a:schemeClr val="dk1"/>
                </a:solidFill>
                <a:latin typeface="Times New Roman"/>
                <a:ea typeface="Times New Roman"/>
                <a:cs typeface="Times New Roman"/>
                <a:sym typeface="Times New Roman"/>
              </a:rPr>
              <a:t>RQ1: </a:t>
            </a:r>
            <a:r>
              <a:rPr lang="en-US" sz="2000" dirty="0">
                <a:solidFill>
                  <a:schemeClr val="dk1"/>
                </a:solidFill>
                <a:latin typeface="Times New Roman"/>
                <a:ea typeface="Times New Roman"/>
                <a:cs typeface="Times New Roman"/>
                <a:sym typeface="Times New Roman"/>
              </a:rPr>
              <a:t>How can we efficiently identify differentially expressed genes (DEGs) in lung cancer using publicly available transcriptomic data? </a:t>
            </a:r>
          </a:p>
          <a:p>
            <a:pPr lvl="0" algn="just"/>
            <a:endParaRPr lang="en-US" sz="2000" dirty="0">
              <a:solidFill>
                <a:schemeClr val="dk1"/>
              </a:solidFill>
              <a:latin typeface="Times New Roman"/>
              <a:ea typeface="Times New Roman"/>
              <a:cs typeface="Times New Roman"/>
              <a:sym typeface="Times New Roman"/>
            </a:endParaRPr>
          </a:p>
          <a:p>
            <a:pPr lvl="0" algn="just"/>
            <a:r>
              <a:rPr lang="en-US" sz="2000" b="1" dirty="0">
                <a:solidFill>
                  <a:schemeClr val="dk1"/>
                </a:solidFill>
                <a:latin typeface="Times New Roman"/>
                <a:ea typeface="Times New Roman"/>
                <a:cs typeface="Times New Roman"/>
                <a:sym typeface="Times New Roman"/>
              </a:rPr>
              <a:t>RQ2: </a:t>
            </a:r>
            <a:r>
              <a:rPr lang="en-US" sz="2000" dirty="0">
                <a:solidFill>
                  <a:schemeClr val="dk1"/>
                </a:solidFill>
                <a:latin typeface="Times New Roman"/>
                <a:ea typeface="Times New Roman"/>
                <a:cs typeface="Times New Roman"/>
                <a:sym typeface="Times New Roman"/>
              </a:rPr>
              <a:t>How to find out the target biomarkers and stage classification?</a:t>
            </a:r>
          </a:p>
          <a:p>
            <a:pPr lvl="0" algn="just"/>
            <a:endParaRPr lang="en-US" sz="2000" dirty="0">
              <a:solidFill>
                <a:schemeClr val="dk1"/>
              </a:solidFill>
              <a:latin typeface="Times New Roman"/>
              <a:ea typeface="Times New Roman"/>
              <a:cs typeface="Times New Roman"/>
              <a:sym typeface="Times New Roman"/>
            </a:endParaRPr>
          </a:p>
          <a:p>
            <a:pPr lvl="0" algn="just"/>
            <a:r>
              <a:rPr lang="en-US" sz="2000" b="1" dirty="0">
                <a:solidFill>
                  <a:schemeClr val="dk1"/>
                </a:solidFill>
                <a:latin typeface="Times New Roman"/>
                <a:ea typeface="Times New Roman"/>
                <a:cs typeface="Times New Roman"/>
                <a:sym typeface="Times New Roman"/>
              </a:rPr>
              <a:t>RQ3: </a:t>
            </a:r>
            <a:r>
              <a:rPr lang="en-US" sz="2000" dirty="0">
                <a:solidFill>
                  <a:schemeClr val="dk1"/>
                </a:solidFill>
                <a:latin typeface="Times New Roman"/>
                <a:ea typeface="Times New Roman"/>
                <a:cs typeface="Times New Roman"/>
                <a:sym typeface="Times New Roman"/>
              </a:rPr>
              <a:t>What are the most effective system biology methodologies for integrating multi-omics data (e.g., genomes and proteomics) to gain complete knowledge of lung cancer?</a:t>
            </a:r>
          </a:p>
          <a:p>
            <a:pPr lvl="0" algn="just"/>
            <a:endParaRPr lang="en-US" sz="2000" dirty="0">
              <a:solidFill>
                <a:schemeClr val="dk1"/>
              </a:solidFill>
              <a:latin typeface="Times New Roman"/>
              <a:ea typeface="Times New Roman"/>
              <a:cs typeface="Times New Roman"/>
              <a:sym typeface="Times New Roman"/>
            </a:endParaRPr>
          </a:p>
          <a:p>
            <a:pPr lvl="0" algn="just"/>
            <a:r>
              <a:rPr lang="en-US" sz="2000" b="1" dirty="0">
                <a:solidFill>
                  <a:schemeClr val="dk1"/>
                </a:solidFill>
                <a:latin typeface="Times New Roman"/>
                <a:ea typeface="Times New Roman"/>
                <a:cs typeface="Times New Roman"/>
                <a:sym typeface="Times New Roman"/>
              </a:rPr>
              <a:t>RQ4: </a:t>
            </a:r>
            <a:r>
              <a:rPr lang="en-US" sz="2000" dirty="0">
                <a:solidFill>
                  <a:schemeClr val="dk1"/>
                </a:solidFill>
                <a:latin typeface="Times New Roman"/>
                <a:ea typeface="Times New Roman"/>
                <a:cs typeface="Times New Roman"/>
                <a:sym typeface="Times New Roman"/>
              </a:rPr>
              <a:t>How can bioinformatics techniques be integrated with machine learning algorithms to identify reliable biomarkers for lung cancer?</a:t>
            </a:r>
            <a:endParaRPr lang="en-US" dirty="0">
              <a:solidFill>
                <a:schemeClr val="dk1"/>
              </a:solidFill>
              <a:ea typeface="Calibri"/>
              <a:cs typeface="Calibri"/>
              <a:sym typeface="Calibri"/>
            </a:endParaRPr>
          </a:p>
        </p:txBody>
      </p:sp>
      <p:sp>
        <p:nvSpPr>
          <p:cNvPr id="3" name="Date Placeholder 2">
            <a:extLst>
              <a:ext uri="{FF2B5EF4-FFF2-40B4-BE49-F238E27FC236}">
                <a16:creationId xmlns:a16="http://schemas.microsoft.com/office/drawing/2014/main" id="{ED991F01-CE3C-F872-EEC1-9DFE8843C8CA}"/>
              </a:ext>
            </a:extLst>
          </p:cNvPr>
          <p:cNvSpPr>
            <a:spLocks noGrp="1"/>
          </p:cNvSpPr>
          <p:nvPr>
            <p:ph type="dt" sz="half" idx="10"/>
          </p:nvPr>
        </p:nvSpPr>
        <p:spPr/>
        <p:txBody>
          <a:bodyPr/>
          <a:lstStyle/>
          <a:p>
            <a:fld id="{5FB90537-B6C2-4CD9-9688-57D9636410F7}"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C25525E-2302-3692-977E-756AF867158A}"/>
              </a:ext>
            </a:extLst>
          </p:cNvPr>
          <p:cNvSpPr>
            <a:spLocks noGrp="1"/>
          </p:cNvSpPr>
          <p:nvPr>
            <p:ph type="ftr" sz="quarter" idx="11"/>
          </p:nvPr>
        </p:nvSpPr>
        <p:spPr>
          <a:xfrm>
            <a:off x="4038599" y="6492873"/>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5" name="Picture 14">
            <a:extLst>
              <a:ext uri="{FF2B5EF4-FFF2-40B4-BE49-F238E27FC236}">
                <a16:creationId xmlns:a16="http://schemas.microsoft.com/office/drawing/2014/main" id="{FD651913-5AFC-4AF5-5632-77563294CD7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29764" y="1599198"/>
            <a:ext cx="3242445" cy="3242445"/>
          </a:xfrm>
          <a:prstGeom prst="rect">
            <a:avLst/>
          </a:prstGeom>
        </p:spPr>
      </p:pic>
    </p:spTree>
    <p:extLst>
      <p:ext uri="{BB962C8B-B14F-4D97-AF65-F5344CB8AC3E}">
        <p14:creationId xmlns:p14="http://schemas.microsoft.com/office/powerpoint/2010/main" val="1566710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0"/>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634155" y="6264396"/>
            <a:ext cx="390601" cy="461665"/>
          </a:xfrm>
          <a:prstGeom prst="rect">
            <a:avLst/>
          </a:prstGeom>
        </p:spPr>
        <p:txBody>
          <a:bodyPr wrap="square">
            <a:spAutoFit/>
          </a:bodyPr>
          <a:lstStyle/>
          <a:p>
            <a:r>
              <a:rPr lang="en-US" sz="2400" b="1" dirty="0">
                <a:solidFill>
                  <a:schemeClr val="tx1">
                    <a:lumMod val="50000"/>
                    <a:lumOff val="50000"/>
                  </a:schemeClr>
                </a:solidFill>
              </a:rPr>
              <a:t>7</a:t>
            </a:r>
          </a:p>
        </p:txBody>
      </p:sp>
      <p:pic>
        <p:nvPicPr>
          <p:cNvPr id="8" name="Picture 7"/>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p:cNvSpPr/>
          <p:nvPr/>
        </p:nvSpPr>
        <p:spPr>
          <a:xfrm>
            <a:off x="3439886" y="305492"/>
            <a:ext cx="5123543"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Objectives</a:t>
            </a:r>
            <a:endParaRPr lang="en-US" sz="4000" b="1" dirty="0">
              <a:solidFill>
                <a:schemeClr val="bg1"/>
              </a:solidFill>
              <a:latin typeface="Times New Roman" panose="02020603050405020304" pitchFamily="18" charset="0"/>
              <a:cs typeface="Times New Roman" panose="02020603050405020304" pitchFamily="18" charset="0"/>
            </a:endParaRPr>
          </a:p>
        </p:txBody>
      </p:sp>
      <p:sp>
        <p:nvSpPr>
          <p:cNvPr id="2" name="Rectangle 1"/>
          <p:cNvSpPr/>
          <p:nvPr/>
        </p:nvSpPr>
        <p:spPr>
          <a:xfrm>
            <a:off x="326899" y="1293855"/>
            <a:ext cx="7826499" cy="4792903"/>
          </a:xfrm>
          <a:prstGeom prst="rect">
            <a:avLst/>
          </a:prstGeom>
        </p:spPr>
        <p:txBody>
          <a:bodyPr wrap="square">
            <a:spAutoFit/>
          </a:bodyPr>
          <a:lstStyle/>
          <a:p>
            <a:pPr lvl="0">
              <a:lnSpc>
                <a:spcPct val="150000"/>
              </a:lnSpc>
            </a:pPr>
            <a:endParaRPr lang="en-US" sz="1200" dirty="0"/>
          </a:p>
          <a:p>
            <a:pPr marL="914400" lvl="0" indent="-457200" algn="just">
              <a:buFont typeface="Courier New" panose="02070309020205020404" pitchFamily="49" charset="0"/>
              <a:buChar char="o"/>
            </a:pPr>
            <a:r>
              <a:rPr lang="en-US" sz="2000" dirty="0">
                <a:solidFill>
                  <a:schemeClr val="dk1"/>
                </a:solidFill>
                <a:latin typeface="Times New Roman"/>
                <a:ea typeface="Times New Roman"/>
                <a:cs typeface="Times New Roman"/>
                <a:sym typeface="Times New Roman"/>
              </a:rPr>
              <a:t>To collect and preprocess datasets and identify differentially expressed and co-expressed genes using </a:t>
            </a:r>
            <a:r>
              <a:rPr lang="en-US" sz="2000" dirty="0" err="1">
                <a:solidFill>
                  <a:schemeClr val="dk1"/>
                </a:solidFill>
                <a:latin typeface="Times New Roman"/>
                <a:ea typeface="Times New Roman"/>
                <a:cs typeface="Times New Roman"/>
                <a:sym typeface="Times New Roman"/>
              </a:rPr>
              <a:t>mRMR</a:t>
            </a:r>
            <a:r>
              <a:rPr lang="en-US" sz="2000" dirty="0">
                <a:solidFill>
                  <a:schemeClr val="dk1"/>
                </a:solidFill>
                <a:latin typeface="Times New Roman"/>
                <a:ea typeface="Times New Roman"/>
                <a:cs typeface="Times New Roman"/>
                <a:sym typeface="Times New Roman"/>
              </a:rPr>
              <a:t>, SVM-RFE, and WGCNA.</a:t>
            </a:r>
          </a:p>
          <a:p>
            <a:pPr marL="914400" lvl="0" indent="-457200" algn="just">
              <a:buFont typeface="Courier New" panose="02070309020205020404" pitchFamily="49" charset="0"/>
              <a:buChar char="o"/>
            </a:pPr>
            <a:endParaRPr lang="en-US" sz="2000" dirty="0">
              <a:solidFill>
                <a:schemeClr val="dk1"/>
              </a:solidFill>
              <a:latin typeface="Times New Roman"/>
              <a:ea typeface="Times New Roman"/>
              <a:cs typeface="Times New Roman"/>
              <a:sym typeface="Times New Roman"/>
            </a:endParaRPr>
          </a:p>
          <a:p>
            <a:pPr marL="914400" lvl="0" indent="-457200" algn="just">
              <a:buFont typeface="Courier New" panose="02070309020205020404" pitchFamily="49" charset="0"/>
              <a:buChar char="o"/>
            </a:pPr>
            <a:r>
              <a:rPr lang="en-US" sz="2000" dirty="0">
                <a:solidFill>
                  <a:schemeClr val="dk1"/>
                </a:solidFill>
                <a:latin typeface="Times New Roman"/>
                <a:ea typeface="Times New Roman"/>
                <a:cs typeface="Times New Roman"/>
                <a:sym typeface="Times New Roman"/>
              </a:rPr>
              <a:t>To perform pathway enrichment and PPI network analysis for hub gene discovery.</a:t>
            </a:r>
          </a:p>
          <a:p>
            <a:pPr marL="914400" lvl="0" indent="-457200" algn="just">
              <a:buFont typeface="Courier New" panose="02070309020205020404" pitchFamily="49" charset="0"/>
              <a:buChar char="o"/>
            </a:pPr>
            <a:endParaRPr lang="en-US" sz="2000" dirty="0">
              <a:solidFill>
                <a:schemeClr val="dk1"/>
              </a:solidFill>
              <a:latin typeface="Times New Roman"/>
              <a:ea typeface="Times New Roman"/>
              <a:cs typeface="Times New Roman"/>
              <a:sym typeface="Times New Roman"/>
            </a:endParaRPr>
          </a:p>
          <a:p>
            <a:pPr marL="914400" lvl="0" indent="-457200" algn="just">
              <a:buFont typeface="Courier New" panose="02070309020205020404" pitchFamily="49" charset="0"/>
              <a:buChar char="o"/>
            </a:pPr>
            <a:r>
              <a:rPr lang="en-US" sz="2000" dirty="0">
                <a:solidFill>
                  <a:schemeClr val="dk1"/>
                </a:solidFill>
                <a:latin typeface="Times New Roman"/>
                <a:ea typeface="Times New Roman"/>
                <a:cs typeface="Times New Roman"/>
                <a:sym typeface="Times New Roman"/>
              </a:rPr>
              <a:t>To develop and evaluate ML models (MLP, </a:t>
            </a:r>
            <a:r>
              <a:rPr lang="en-US" sz="2000" dirty="0" err="1">
                <a:solidFill>
                  <a:schemeClr val="dk1"/>
                </a:solidFill>
                <a:latin typeface="Times New Roman"/>
                <a:ea typeface="Times New Roman"/>
                <a:cs typeface="Times New Roman"/>
                <a:sym typeface="Times New Roman"/>
              </a:rPr>
              <a:t>XGBoost</a:t>
            </a:r>
            <a:r>
              <a:rPr lang="en-US" sz="2000" dirty="0">
                <a:solidFill>
                  <a:schemeClr val="dk1"/>
                </a:solidFill>
                <a:latin typeface="Times New Roman"/>
                <a:ea typeface="Times New Roman"/>
                <a:cs typeface="Times New Roman"/>
                <a:sym typeface="Times New Roman"/>
              </a:rPr>
              <a:t>, SVM, RF, AdaBoost) for staging classification.</a:t>
            </a:r>
          </a:p>
          <a:p>
            <a:pPr marL="914400" lvl="0" indent="-457200" algn="just">
              <a:buFont typeface="Courier New" panose="02070309020205020404" pitchFamily="49" charset="0"/>
              <a:buChar char="o"/>
            </a:pPr>
            <a:endParaRPr lang="en-US" sz="2000" dirty="0">
              <a:solidFill>
                <a:schemeClr val="dk1"/>
              </a:solidFill>
              <a:latin typeface="Times New Roman"/>
              <a:ea typeface="Times New Roman"/>
              <a:cs typeface="Times New Roman"/>
              <a:sym typeface="Times New Roman"/>
            </a:endParaRPr>
          </a:p>
          <a:p>
            <a:pPr marL="914400" lvl="0" indent="-457200" algn="just">
              <a:buFont typeface="Courier New" panose="02070309020205020404" pitchFamily="49" charset="0"/>
              <a:buChar char="o"/>
            </a:pPr>
            <a:r>
              <a:rPr lang="en-US" sz="2000" dirty="0">
                <a:solidFill>
                  <a:schemeClr val="dk1"/>
                </a:solidFill>
                <a:latin typeface="Times New Roman"/>
                <a:ea typeface="Times New Roman"/>
                <a:cs typeface="Times New Roman"/>
                <a:sym typeface="Times New Roman"/>
              </a:rPr>
              <a:t>To validate the diagnostic and prognostic potential of identified biomarkers through survival and expression analyses.</a:t>
            </a:r>
          </a:p>
          <a:p>
            <a:pPr marL="914400" lvl="0" indent="-457200" algn="just">
              <a:buFont typeface="Courier New" panose="02070309020205020404" pitchFamily="49" charset="0"/>
              <a:buChar char="o"/>
            </a:pPr>
            <a:endParaRPr lang="en-US" sz="2000" dirty="0">
              <a:solidFill>
                <a:schemeClr val="dk1"/>
              </a:solidFill>
              <a:latin typeface="Times New Roman"/>
              <a:ea typeface="Times New Roman"/>
              <a:cs typeface="Times New Roman"/>
              <a:sym typeface="Times New Roman"/>
            </a:endParaRPr>
          </a:p>
          <a:p>
            <a:pPr marL="914400" lvl="0" indent="-457200" algn="just">
              <a:buFont typeface="Courier New" panose="02070309020205020404" pitchFamily="49" charset="0"/>
              <a:buChar char="o"/>
            </a:pPr>
            <a:r>
              <a:rPr lang="en-US" sz="2000" dirty="0">
                <a:solidFill>
                  <a:schemeClr val="dk1"/>
                </a:solidFill>
                <a:latin typeface="Times New Roman"/>
                <a:ea typeface="Times New Roman"/>
                <a:cs typeface="Times New Roman"/>
                <a:sym typeface="Times New Roman"/>
              </a:rPr>
              <a:t>To explore drug–target interactions via molecular docking studies.</a:t>
            </a:r>
          </a:p>
        </p:txBody>
      </p:sp>
      <p:sp>
        <p:nvSpPr>
          <p:cNvPr id="3" name="Date Placeholder 2">
            <a:extLst>
              <a:ext uri="{FF2B5EF4-FFF2-40B4-BE49-F238E27FC236}">
                <a16:creationId xmlns:a16="http://schemas.microsoft.com/office/drawing/2014/main" id="{8E2D5165-6C41-0B1D-8AD9-A5EF7415262C}"/>
              </a:ext>
            </a:extLst>
          </p:cNvPr>
          <p:cNvSpPr>
            <a:spLocks noGrp="1"/>
          </p:cNvSpPr>
          <p:nvPr>
            <p:ph type="dt" sz="half" idx="10"/>
          </p:nvPr>
        </p:nvSpPr>
        <p:spPr/>
        <p:txBody>
          <a:bodyPr/>
          <a:lstStyle/>
          <a:p>
            <a:fld id="{812D972C-52BF-4A73-AFF3-040955DC12E5}" type="datetime1">
              <a:rPr lang="en-US" sz="1600" smtClean="0">
                <a:latin typeface="Times New Roman" panose="02020603050405020304" pitchFamily="18" charset="0"/>
                <a:cs typeface="Times New Roman" panose="02020603050405020304" pitchFamily="18" charset="0"/>
              </a:rPr>
              <a:t>9/13/2025</a:t>
            </a:fld>
            <a:endParaRPr lang="en-US" sz="1600"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EC5D018C-3E58-E76D-6B17-D8AFEBD6D19E}"/>
              </a:ext>
            </a:extLst>
          </p:cNvPr>
          <p:cNvSpPr>
            <a:spLocks noGrp="1"/>
          </p:cNvSpPr>
          <p:nvPr>
            <p:ph type="ftr" sz="quarter" idx="11"/>
          </p:nvPr>
        </p:nvSpPr>
        <p:spPr>
          <a:xfrm>
            <a:off x="4038599" y="6428689"/>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7" name="Picture 4" descr="Objectives – Department of the Environment">
            <a:extLst>
              <a:ext uri="{FF2B5EF4-FFF2-40B4-BE49-F238E27FC236}">
                <a16:creationId xmlns:a16="http://schemas.microsoft.com/office/drawing/2014/main" id="{5DEF5543-CD86-0FCD-05A9-58A9484488A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909031" y="2271932"/>
            <a:ext cx="2527335" cy="2314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758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B5B05307-BB0A-B04C-636F-F7FC5975FF02}"/>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65D0A13-574F-F743-6A48-1AE6D84861BE}"/>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101"/>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481FF96D-2A3E-E435-2E51-9C5979380F2E}"/>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E04348B9-D956-56A2-D476-BA422B138591}"/>
              </a:ext>
            </a:extLst>
          </p:cNvPr>
          <p:cNvSpPr/>
          <p:nvPr/>
        </p:nvSpPr>
        <p:spPr>
          <a:xfrm>
            <a:off x="11634155" y="6264396"/>
            <a:ext cx="390601" cy="461665"/>
          </a:xfrm>
          <a:prstGeom prst="rect">
            <a:avLst/>
          </a:prstGeom>
        </p:spPr>
        <p:txBody>
          <a:bodyPr wrap="square">
            <a:spAutoFit/>
          </a:bodyPr>
          <a:lstStyle/>
          <a:p>
            <a:r>
              <a:rPr lang="en-US" sz="2400" b="1" dirty="0">
                <a:solidFill>
                  <a:schemeClr val="tx1">
                    <a:lumMod val="50000"/>
                    <a:lumOff val="50000"/>
                  </a:schemeClr>
                </a:solidFill>
              </a:rPr>
              <a:t>8</a:t>
            </a:r>
          </a:p>
        </p:txBody>
      </p:sp>
      <p:pic>
        <p:nvPicPr>
          <p:cNvPr id="8" name="Picture 7">
            <a:extLst>
              <a:ext uri="{FF2B5EF4-FFF2-40B4-BE49-F238E27FC236}">
                <a16:creationId xmlns:a16="http://schemas.microsoft.com/office/drawing/2014/main" id="{15E42768-A8A4-AEE0-E142-CD5E4F5B54F3}"/>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FF54B52D-73A0-FB01-B8CD-94BC0484825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5C4FF3FA-3A9C-F60A-54FB-F2B7B7AE9578}"/>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C1969EB6-6697-8137-718A-85272F17E150}"/>
              </a:ext>
            </a:extLst>
          </p:cNvPr>
          <p:cNvSpPr/>
          <p:nvPr/>
        </p:nvSpPr>
        <p:spPr>
          <a:xfrm>
            <a:off x="2743201" y="305492"/>
            <a:ext cx="5895840"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Rationale</a:t>
            </a:r>
            <a:r>
              <a:rPr lang="en-US" sz="4000" b="1" dirty="0">
                <a:solidFill>
                  <a:schemeClr val="bg1"/>
                </a:solidFill>
                <a:latin typeface="Times New Roman" panose="02020603050405020304" pitchFamily="18" charset="0"/>
                <a:cs typeface="Times New Roman" panose="02020603050405020304" pitchFamily="18" charset="0"/>
              </a:rPr>
              <a:t> of the Research</a:t>
            </a:r>
          </a:p>
        </p:txBody>
      </p:sp>
      <p:sp>
        <p:nvSpPr>
          <p:cNvPr id="2" name="TextBox 1">
            <a:extLst>
              <a:ext uri="{FF2B5EF4-FFF2-40B4-BE49-F238E27FC236}">
                <a16:creationId xmlns:a16="http://schemas.microsoft.com/office/drawing/2014/main" id="{2FB07C1D-AE24-1E49-6CD5-01343DAE95F4}"/>
              </a:ext>
            </a:extLst>
          </p:cNvPr>
          <p:cNvSpPr txBox="1"/>
          <p:nvPr/>
        </p:nvSpPr>
        <p:spPr>
          <a:xfrm>
            <a:off x="393477" y="2020657"/>
            <a:ext cx="7759922" cy="3016210"/>
          </a:xfrm>
          <a:prstGeom prst="rect">
            <a:avLst/>
          </a:prstGeom>
          <a:noFill/>
        </p:spPr>
        <p:txBody>
          <a:bodyPr wrap="square" rtlCol="0">
            <a:spAutoFit/>
          </a:bodyPr>
          <a:lstStyle/>
          <a:p>
            <a:pPr marL="469900" lvl="0" indent="-342900" algn="just">
              <a:buClr>
                <a:schemeClr val="dk1"/>
              </a:buClr>
              <a:buSzPts val="1600"/>
              <a:buFont typeface="Wingdings" panose="05000000000000000000" pitchFamily="2" charset="2"/>
              <a:buChar char="q"/>
            </a:pPr>
            <a:r>
              <a:rPr lang="en-US" sz="2400" dirty="0">
                <a:solidFill>
                  <a:schemeClr val="dk1"/>
                </a:solidFill>
                <a:latin typeface="Times New Roman"/>
                <a:ea typeface="Times New Roman"/>
                <a:cs typeface="Times New Roman"/>
                <a:sym typeface="Times New Roman"/>
              </a:rPr>
              <a:t>The outcomes of this research could potentially lead to improved lung cancer diagnosis and treatment in Bangladesh.</a:t>
            </a:r>
          </a:p>
          <a:p>
            <a:pPr marL="457200" lvl="0" algn="just"/>
            <a:endParaRPr lang="en-US" sz="2400" dirty="0">
              <a:solidFill>
                <a:schemeClr val="dk1"/>
              </a:solidFill>
              <a:latin typeface="Times New Roman"/>
              <a:ea typeface="Times New Roman"/>
              <a:cs typeface="Times New Roman"/>
              <a:sym typeface="Times New Roman"/>
            </a:endParaRPr>
          </a:p>
          <a:p>
            <a:pPr marL="469900" lvl="0" indent="-342900" algn="just">
              <a:buClr>
                <a:schemeClr val="dk1"/>
              </a:buClr>
              <a:buSzPts val="1600"/>
              <a:buFont typeface="Wingdings" panose="05000000000000000000" pitchFamily="2" charset="2"/>
              <a:buChar char="q"/>
            </a:pPr>
            <a:r>
              <a:rPr lang="en-US" sz="2400" dirty="0">
                <a:solidFill>
                  <a:schemeClr val="dk1"/>
                </a:solidFill>
                <a:latin typeface="Times New Roman"/>
                <a:ea typeface="Times New Roman"/>
                <a:cs typeface="Times New Roman"/>
                <a:sym typeface="Times New Roman"/>
              </a:rPr>
              <a:t>This research could ultimately improve patient outcomes and contribute to the larger goal of reducing the burden of lung cancer in Bangladesh.</a:t>
            </a:r>
          </a:p>
          <a:p>
            <a:pPr algn="just"/>
            <a:endParaRPr lang="en-US" sz="2200" dirty="0"/>
          </a:p>
        </p:txBody>
      </p:sp>
      <p:sp>
        <p:nvSpPr>
          <p:cNvPr id="3" name="Date Placeholder 2">
            <a:extLst>
              <a:ext uri="{FF2B5EF4-FFF2-40B4-BE49-F238E27FC236}">
                <a16:creationId xmlns:a16="http://schemas.microsoft.com/office/drawing/2014/main" id="{7FE660F2-9BE4-2AC9-2821-BE26A70A94AE}"/>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B4920C17-EB20-075B-B49C-B9A364DFC8C2}"/>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5" name="Picture 14">
            <a:extLst>
              <a:ext uri="{FF2B5EF4-FFF2-40B4-BE49-F238E27FC236}">
                <a16:creationId xmlns:a16="http://schemas.microsoft.com/office/drawing/2014/main" id="{7812923A-CFB6-F9E2-8CC5-4D991F75F0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72754" y="1216283"/>
            <a:ext cx="4035208" cy="4035208"/>
          </a:xfrm>
          <a:prstGeom prst="rect">
            <a:avLst/>
          </a:prstGeom>
        </p:spPr>
      </p:pic>
    </p:spTree>
    <p:extLst>
      <p:ext uri="{BB962C8B-B14F-4D97-AF65-F5344CB8AC3E}">
        <p14:creationId xmlns:p14="http://schemas.microsoft.com/office/powerpoint/2010/main" val="1326282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634155" y="6264396"/>
            <a:ext cx="390601" cy="461665"/>
          </a:xfrm>
          <a:prstGeom prst="rect">
            <a:avLst/>
          </a:prstGeom>
        </p:spPr>
        <p:txBody>
          <a:bodyPr wrap="square">
            <a:spAutoFit/>
          </a:bodyPr>
          <a:lstStyle/>
          <a:p>
            <a:r>
              <a:rPr lang="en-US" sz="2400" b="1" dirty="0">
                <a:solidFill>
                  <a:schemeClr val="tx1">
                    <a:lumMod val="50000"/>
                    <a:lumOff val="50000"/>
                  </a:schemeClr>
                </a:solidFill>
              </a:rPr>
              <a:t>9</a:t>
            </a:r>
          </a:p>
        </p:txBody>
      </p:sp>
      <p:pic>
        <p:nvPicPr>
          <p:cNvPr id="8" name="Picture 7"/>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sp>
        <p:nvSpPr>
          <p:cNvPr id="13" name="Rounded Rectangle 12"/>
          <p:cNvSpPr/>
          <p:nvPr/>
        </p:nvSpPr>
        <p:spPr>
          <a:xfrm>
            <a:off x="3449054" y="305492"/>
            <a:ext cx="5390146"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Times New Roman" panose="02020603050405020304" pitchFamily="18" charset="0"/>
                <a:cs typeface="Times New Roman" panose="02020603050405020304" pitchFamily="18" charset="0"/>
              </a:rPr>
              <a:t>Literature Review</a:t>
            </a:r>
          </a:p>
        </p:txBody>
      </p:sp>
      <p:sp>
        <p:nvSpPr>
          <p:cNvPr id="74" name="Google Shape;182;p29"/>
          <p:cNvSpPr/>
          <p:nvPr/>
        </p:nvSpPr>
        <p:spPr>
          <a:xfrm>
            <a:off x="7257467" y="3575603"/>
            <a:ext cx="3062189" cy="18180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7" name="Google Shape;205;p29"/>
          <p:cNvSpPr/>
          <p:nvPr/>
        </p:nvSpPr>
        <p:spPr>
          <a:xfrm>
            <a:off x="1471775" y="1321143"/>
            <a:ext cx="3448201" cy="1637116"/>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200" b="1" i="1" dirty="0">
                <a:solidFill>
                  <a:srgbClr val="000000"/>
                </a:solidFill>
                <a:latin typeface="Arial"/>
                <a:ea typeface="Arial"/>
                <a:cs typeface="Arial"/>
                <a:sym typeface="Arial"/>
              </a:rPr>
              <a:t> </a:t>
            </a:r>
            <a:r>
              <a:rPr lang="en" sz="1200" b="1" i="1" dirty="0">
                <a:solidFill>
                  <a:srgbClr val="000000"/>
                </a:solidFill>
                <a:latin typeface="Times New Roman"/>
                <a:ea typeface="Times New Roman"/>
                <a:cs typeface="Times New Roman"/>
                <a:sym typeface="Times New Roman"/>
              </a:rPr>
              <a:t> </a:t>
            </a:r>
            <a:endParaRPr sz="1200" b="1" i="1" dirty="0">
              <a:solidFill>
                <a:srgbClr val="000000"/>
              </a:solidFill>
              <a:latin typeface="Times New Roman"/>
              <a:ea typeface="Times New Roman"/>
              <a:cs typeface="Times New Roman"/>
              <a:sym typeface="Times New Roman"/>
            </a:endParaRPr>
          </a:p>
        </p:txBody>
      </p:sp>
      <p:sp>
        <p:nvSpPr>
          <p:cNvPr id="2" name="Date Placeholder 1">
            <a:extLst>
              <a:ext uri="{FF2B5EF4-FFF2-40B4-BE49-F238E27FC236}">
                <a16:creationId xmlns:a16="http://schemas.microsoft.com/office/drawing/2014/main" id="{2B92B885-29DC-C9D4-33A6-D83DE5883D2B}"/>
              </a:ext>
            </a:extLst>
          </p:cNvPr>
          <p:cNvSpPr>
            <a:spLocks noGrp="1"/>
          </p:cNvSpPr>
          <p:nvPr>
            <p:ph type="dt" sz="half" idx="10"/>
          </p:nvPr>
        </p:nvSpPr>
        <p:spPr/>
        <p:txBody>
          <a:bodyPr/>
          <a:lstStyle/>
          <a:p>
            <a:fld id="{662C2E9C-C30C-4FFD-AC66-E22823D2FECF}" type="datetime1">
              <a:rPr lang="en-US" sz="1600" smtClean="0">
                <a:latin typeface="Times New Roman" panose="02020603050405020304" pitchFamily="18" charset="0"/>
                <a:cs typeface="Times New Roman" panose="02020603050405020304" pitchFamily="18" charset="0"/>
              </a:rPr>
              <a:t>9/13/2025</a:t>
            </a:fld>
            <a:endParaRPr lang="en-US" sz="16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1D85A4A-28D5-32B2-2C2E-C9A4B695DF65}"/>
              </a:ext>
            </a:extLst>
          </p:cNvPr>
          <p:cNvSpPr>
            <a:spLocks noGrp="1"/>
          </p:cNvSpPr>
          <p:nvPr>
            <p:ph type="ftr" sz="quarter" idx="11"/>
          </p:nvPr>
        </p:nvSpPr>
        <p:spPr>
          <a:xfrm>
            <a:off x="4186673" y="6492875"/>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graphicFrame>
        <p:nvGraphicFramePr>
          <p:cNvPr id="6" name="Table 5">
            <a:extLst>
              <a:ext uri="{FF2B5EF4-FFF2-40B4-BE49-F238E27FC236}">
                <a16:creationId xmlns:a16="http://schemas.microsoft.com/office/drawing/2014/main" id="{70B46EAF-C9A0-3B3B-D711-1436AD6D26AB}"/>
              </a:ext>
            </a:extLst>
          </p:cNvPr>
          <p:cNvGraphicFramePr>
            <a:graphicFrameLocks noGrp="1"/>
          </p:cNvGraphicFramePr>
          <p:nvPr>
            <p:extLst>
              <p:ext uri="{D42A27DB-BD31-4B8C-83A1-F6EECF244321}">
                <p14:modId xmlns:p14="http://schemas.microsoft.com/office/powerpoint/2010/main" val="3649060881"/>
              </p:ext>
            </p:extLst>
          </p:nvPr>
        </p:nvGraphicFramePr>
        <p:xfrm>
          <a:off x="450259" y="1058971"/>
          <a:ext cx="11137181" cy="5364480"/>
        </p:xfrm>
        <a:graphic>
          <a:graphicData uri="http://schemas.openxmlformats.org/drawingml/2006/table">
            <a:tbl>
              <a:tblPr firstRow="1" bandRow="1">
                <a:tableStyleId>{5C22544A-7EE6-4342-B048-85BDC9FD1C3A}</a:tableStyleId>
              </a:tblPr>
              <a:tblGrid>
                <a:gridCol w="453665">
                  <a:extLst>
                    <a:ext uri="{9D8B030D-6E8A-4147-A177-3AD203B41FA5}">
                      <a16:colId xmlns:a16="http://schemas.microsoft.com/office/drawing/2014/main" val="1169663964"/>
                    </a:ext>
                  </a:extLst>
                </a:gridCol>
                <a:gridCol w="747804">
                  <a:extLst>
                    <a:ext uri="{9D8B030D-6E8A-4147-A177-3AD203B41FA5}">
                      <a16:colId xmlns:a16="http://schemas.microsoft.com/office/drawing/2014/main" val="1107519681"/>
                    </a:ext>
                  </a:extLst>
                </a:gridCol>
                <a:gridCol w="2780541">
                  <a:extLst>
                    <a:ext uri="{9D8B030D-6E8A-4147-A177-3AD203B41FA5}">
                      <a16:colId xmlns:a16="http://schemas.microsoft.com/office/drawing/2014/main" val="1463263223"/>
                    </a:ext>
                  </a:extLst>
                </a:gridCol>
                <a:gridCol w="3825807">
                  <a:extLst>
                    <a:ext uri="{9D8B030D-6E8A-4147-A177-3AD203B41FA5}">
                      <a16:colId xmlns:a16="http://schemas.microsoft.com/office/drawing/2014/main" val="1174715767"/>
                    </a:ext>
                  </a:extLst>
                </a:gridCol>
                <a:gridCol w="3329364">
                  <a:extLst>
                    <a:ext uri="{9D8B030D-6E8A-4147-A177-3AD203B41FA5}">
                      <a16:colId xmlns:a16="http://schemas.microsoft.com/office/drawing/2014/main" val="729833151"/>
                    </a:ext>
                  </a:extLst>
                </a:gridCol>
              </a:tblGrid>
              <a:tr h="684793">
                <a:tc>
                  <a:txBody>
                    <a:bodyPr/>
                    <a:lstStyle/>
                    <a:p>
                      <a:pPr algn="ctr"/>
                      <a:r>
                        <a:rPr lang="en-US" sz="2000" dirty="0">
                          <a:latin typeface="Times New Roman" panose="02020603050405020304" pitchFamily="18" charset="0"/>
                          <a:cs typeface="Times New Roman" panose="02020603050405020304" pitchFamily="18" charset="0"/>
                        </a:rPr>
                        <a:t>No.</a:t>
                      </a:r>
                    </a:p>
                  </a:txBody>
                  <a:tcPr/>
                </a:tc>
                <a:tc>
                  <a:txBody>
                    <a:bodyPr/>
                    <a:lstStyle/>
                    <a:p>
                      <a:pPr algn="ctr"/>
                      <a:r>
                        <a:rPr lang="en-US" sz="2000" dirty="0">
                          <a:latin typeface="Times New Roman" panose="02020603050405020304" pitchFamily="18" charset="0"/>
                          <a:cs typeface="Times New Roman" panose="02020603050405020304" pitchFamily="18" charset="0"/>
                        </a:rPr>
                        <a:t>Year</a:t>
                      </a:r>
                    </a:p>
                  </a:txBody>
                  <a:tcPr/>
                </a:tc>
                <a:tc>
                  <a:txBody>
                    <a:bodyPr/>
                    <a:lstStyle/>
                    <a:p>
                      <a:pPr algn="ctr"/>
                      <a:r>
                        <a:rPr lang="en-US" sz="2000" dirty="0">
                          <a:latin typeface="Times New Roman" panose="02020603050405020304" pitchFamily="18" charset="0"/>
                          <a:cs typeface="Times New Roman" panose="02020603050405020304" pitchFamily="18" charset="0"/>
                        </a:rPr>
                        <a:t>Works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Techniques</a:t>
                      </a:r>
                    </a:p>
                    <a:p>
                      <a:pPr algn="ct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58084828"/>
                  </a:ext>
                </a:extLst>
              </a:tr>
              <a:tr h="1697096">
                <a:tc>
                  <a:txBody>
                    <a:bodyPr/>
                    <a:lstStyle/>
                    <a:p>
                      <a:pPr algn="l"/>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2024</a:t>
                      </a:r>
                    </a:p>
                  </a:txBody>
                  <a:tcPr/>
                </a:tc>
                <a:tc>
                  <a:txBody>
                    <a:bodyPr/>
                    <a:lstStyle/>
                    <a:p>
                      <a:r>
                        <a:rPr lang="en-US" b="1" dirty="0">
                          <a:latin typeface="Times New Roman" panose="02020603050405020304" pitchFamily="18" charset="0"/>
                          <a:cs typeface="Times New Roman" panose="02020603050405020304" pitchFamily="18" charset="0"/>
                        </a:rPr>
                        <a:t>Islam et al.</a:t>
                      </a:r>
                      <a:r>
                        <a:rPr lang="en-US" dirty="0">
                          <a:latin typeface="Times New Roman" panose="02020603050405020304" pitchFamily="18" charset="0"/>
                          <a:cs typeface="Times New Roman" panose="02020603050405020304" pitchFamily="18" charset="0"/>
                        </a:rPr>
                        <a:t> – Genetic links between common lung diseases and lung cancer</a:t>
                      </a:r>
                    </a:p>
                  </a:txBody>
                  <a:tcPr/>
                </a:tc>
                <a:tc>
                  <a:txBody>
                    <a:bodyPr/>
                    <a:lstStyle/>
                    <a:p>
                      <a:pPr marL="285750" indent="-285750">
                        <a:buFont typeface="Arial" panose="020B0604020202020204" pitchFamily="34" charset="0"/>
                        <a:buChar char="•"/>
                      </a:pP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Shared DEGs in LUAD + 5 lung diseases</a:t>
                      </a:r>
                    </a:p>
                    <a:p>
                      <a:pPr marL="285750" indent="-285750">
                        <a:buFont typeface="Arial" panose="020B0604020202020204" pitchFamily="34" charset="0"/>
                        <a:buChar char="•"/>
                      </a:pP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Hub genes: SPTBN1, KCNA4,</a:t>
                      </a:r>
                    </a:p>
                    <a:p>
                      <a:pPr marL="0" indent="0">
                        <a:buFont typeface="Arial" panose="020B0604020202020204" pitchFamily="34" charset="0"/>
                        <a:buNone/>
                      </a:pP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SCN7A, KCNQ3, GRIA1, SDC1</a:t>
                      </a:r>
                    </a:p>
                    <a:p>
                      <a:pPr marL="285750" indent="-285750">
                        <a:buFont typeface="Arial" panose="020B0604020202020204" pitchFamily="34" charset="0"/>
                        <a:buChar char="•"/>
                      </a:pP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Pathways: vitamin B6, cAMP; validated with TCGA/HPA</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ML-based gene selections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experimental validation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clinical validation.</a:t>
                      </a:r>
                    </a:p>
                  </a:txBody>
                  <a:tcPr/>
                </a:tc>
                <a:extLst>
                  <a:ext uri="{0D108BD9-81ED-4DB2-BD59-A6C34878D82A}">
                    <a16:rowId xmlns:a16="http://schemas.microsoft.com/office/drawing/2014/main" val="2350234445"/>
                  </a:ext>
                </a:extLst>
              </a:tr>
              <a:tr h="1161171">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pPr algn="l"/>
                      <a:r>
                        <a:rPr lang="en-US" dirty="0">
                          <a:latin typeface="Times New Roman" panose="02020603050405020304" pitchFamily="18" charset="0"/>
                          <a:cs typeface="Times New Roman" panose="02020603050405020304" pitchFamily="18" charset="0"/>
                        </a:rPr>
                        <a:t>2024</a:t>
                      </a:r>
                    </a:p>
                  </a:txBody>
                  <a:tcPr/>
                </a:tc>
                <a:tc>
                  <a:txBody>
                    <a:bodyPr/>
                    <a:lstStyle/>
                    <a:p>
                      <a:pPr algn="l"/>
                      <a:r>
                        <a:rPr lang="en-US" b="1" dirty="0" err="1">
                          <a:latin typeface="Times New Roman" panose="02020603050405020304" pitchFamily="18" charset="0"/>
                          <a:cs typeface="Times New Roman" panose="02020603050405020304" pitchFamily="18" charset="0"/>
                        </a:rPr>
                        <a:t>Rojani</a:t>
                      </a:r>
                      <a:r>
                        <a:rPr lang="en-US" b="1" dirty="0">
                          <a:latin typeface="Times New Roman" panose="02020603050405020304" pitchFamily="18" charset="0"/>
                          <a:cs typeface="Times New Roman" panose="02020603050405020304" pitchFamily="18" charset="0"/>
                        </a:rPr>
                        <a:t> M.V. et al.- </a:t>
                      </a:r>
                      <a:r>
                        <a:rPr lang="en-US" b="0" dirty="0">
                          <a:latin typeface="Times New Roman" panose="02020603050405020304" pitchFamily="18" charset="0"/>
                          <a:cs typeface="Times New Roman" panose="02020603050405020304" pitchFamily="18" charset="0"/>
                        </a:rPr>
                        <a:t>Non-Small Cell Lung Cancer - Tumor Biology</a:t>
                      </a:r>
                    </a:p>
                  </a:txBody>
                  <a:tcPr/>
                </a:tc>
                <a:tc>
                  <a:txBody>
                    <a:bodyPr/>
                    <a:lstStyle/>
                    <a:p>
                      <a:pPr marL="285750" indent="-285750" algn="l">
                        <a:buFont typeface="Arial" panose="020B0604020202020204" pitchFamily="34" charset="0"/>
                        <a:buChar char="•"/>
                      </a:pPr>
                      <a:r>
                        <a:rPr lang="en-US" b="0" dirty="0">
                          <a:latin typeface="Times New Roman" panose="02020603050405020304" pitchFamily="18" charset="0"/>
                          <a:cs typeface="Times New Roman" panose="02020603050405020304" pitchFamily="18" charset="0"/>
                        </a:rPr>
                        <a:t>Use GEO datasets</a:t>
                      </a:r>
                    </a:p>
                    <a:p>
                      <a:pPr marL="285750" indent="-285750" algn="l">
                        <a:buFont typeface="Arial" panose="020B0604020202020204" pitchFamily="34" charset="0"/>
                        <a:buChar char="•"/>
                      </a:pPr>
                      <a:r>
                        <a:rPr lang="en-US" b="0" dirty="0">
                          <a:latin typeface="Times New Roman" panose="02020603050405020304" pitchFamily="18" charset="0"/>
                          <a:cs typeface="Times New Roman" panose="02020603050405020304" pitchFamily="18" charset="0"/>
                        </a:rPr>
                        <a:t>Find DEGs of lung cancer</a:t>
                      </a:r>
                    </a:p>
                    <a:p>
                      <a:pPr marL="285750" indent="-285750" algn="l">
                        <a:buFont typeface="Arial" panose="020B0604020202020204" pitchFamily="34" charset="0"/>
                        <a:buChar char="•"/>
                      </a:pPr>
                      <a:r>
                        <a:rPr lang="en-US" b="0" dirty="0">
                          <a:latin typeface="Times New Roman" panose="02020603050405020304" pitchFamily="18" charset="0"/>
                          <a:cs typeface="Times New Roman" panose="02020603050405020304" pitchFamily="18" charset="0"/>
                        </a:rPr>
                        <a:t>Use system biology approaches to  identify most vital genes. </a:t>
                      </a:r>
                    </a:p>
                  </a:txBody>
                  <a:tcPr/>
                </a:tc>
                <a:tc>
                  <a:txBody>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ML-based gene selections</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is no hub-gene  </a:t>
                      </a:r>
                    </a:p>
                    <a:p>
                      <a:pPr marL="0" indent="0" algn="l">
                        <a:buFont typeface="Arial" panose="020B0604020202020204" pitchFamily="34" charset="0"/>
                        <a:buNone/>
                      </a:pPr>
                      <a:r>
                        <a:rPr lang="en-US" dirty="0">
                          <a:latin typeface="Times New Roman" panose="02020603050405020304" pitchFamily="18" charset="0"/>
                          <a:cs typeface="Times New Roman" panose="02020603050405020304" pitchFamily="18" charset="0"/>
                        </a:rPr>
                        <a:t>       validations</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stage classifications</a:t>
                      </a:r>
                    </a:p>
                  </a:txBody>
                  <a:tcPr/>
                </a:tc>
                <a:extLst>
                  <a:ext uri="{0D108BD9-81ED-4DB2-BD59-A6C34878D82A}">
                    <a16:rowId xmlns:a16="http://schemas.microsoft.com/office/drawing/2014/main" val="1887638124"/>
                  </a:ext>
                </a:extLst>
              </a:tr>
              <a:tr h="1697096">
                <a:tc>
                  <a:txBody>
                    <a:bodyPr/>
                    <a:lstStyle/>
                    <a:p>
                      <a:r>
                        <a:rPr lang="en-US" dirty="0">
                          <a:latin typeface="Times New Roman" panose="02020603050405020304" pitchFamily="18" charset="0"/>
                          <a:cs typeface="Times New Roman" panose="02020603050405020304" pitchFamily="18" charset="0"/>
                        </a:rPr>
                        <a:t>3.</a:t>
                      </a:r>
                    </a:p>
                  </a:txBody>
                  <a:tcPr/>
                </a:tc>
                <a:tc>
                  <a:txBody>
                    <a:bodyPr/>
                    <a:lstStyle/>
                    <a:p>
                      <a:r>
                        <a:rPr lang="en-US" dirty="0">
                          <a:latin typeface="Times New Roman" panose="02020603050405020304" pitchFamily="18" charset="0"/>
                          <a:cs typeface="Times New Roman" panose="02020603050405020304" pitchFamily="18" charset="0"/>
                        </a:rPr>
                        <a:t>2024</a:t>
                      </a:r>
                    </a:p>
                  </a:txBody>
                  <a:tcPr/>
                </a:tc>
                <a:tc>
                  <a:txBody>
                    <a:bodyPr/>
                    <a:lstStyle/>
                    <a:p>
                      <a:r>
                        <a:rPr lang="en-US" b="1" dirty="0">
                          <a:latin typeface="Times New Roman" panose="02020603050405020304" pitchFamily="18" charset="0"/>
                          <a:cs typeface="Times New Roman" panose="02020603050405020304" pitchFamily="18" charset="0"/>
                        </a:rPr>
                        <a:t>Raha et al. </a:t>
                      </a:r>
                      <a:r>
                        <a:rPr lang="en-US" dirty="0">
                          <a:latin typeface="Times New Roman" panose="02020603050405020304" pitchFamily="18" charset="0"/>
                          <a:cs typeface="Times New Roman" panose="02020603050405020304" pitchFamily="18" charset="0"/>
                        </a:rPr>
                        <a:t>– Smoking, COVID-19, and lung cancer</a:t>
                      </a:r>
                    </a:p>
                  </a:txBody>
                  <a:tcPr/>
                </a:tc>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Overlapping DEGs: smoking, COVID-19, LUAD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Hub genes: SLC22A18, CHAC1,ROBO4, TEK, CD24, SOX2, PITX2, GMDS</a:t>
                      </a:r>
                    </a:p>
                    <a:p>
                      <a:pPr marL="0" indent="0">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ML-based gene selections</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is no hub-gene  </a:t>
                      </a:r>
                    </a:p>
                    <a:p>
                      <a:pPr marL="0" indent="0" algn="l">
                        <a:buFont typeface="Arial" panose="020B0604020202020204" pitchFamily="34" charset="0"/>
                        <a:buNone/>
                      </a:pPr>
                      <a:r>
                        <a:rPr lang="en-US" dirty="0">
                          <a:latin typeface="Times New Roman" panose="02020603050405020304" pitchFamily="18" charset="0"/>
                          <a:cs typeface="Times New Roman" panose="02020603050405020304" pitchFamily="18" charset="0"/>
                        </a:rPr>
                        <a:t>       validations</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stage classifications</a:t>
                      </a:r>
                    </a:p>
                  </a:txBody>
                  <a:tcPr/>
                </a:tc>
                <a:extLst>
                  <a:ext uri="{0D108BD9-81ED-4DB2-BD59-A6C34878D82A}">
                    <a16:rowId xmlns:a16="http://schemas.microsoft.com/office/drawing/2014/main" val="101137647"/>
                  </a:ext>
                </a:extLst>
              </a:tr>
            </a:tbl>
          </a:graphicData>
        </a:graphic>
      </p:graphicFrame>
    </p:spTree>
    <p:extLst>
      <p:ext uri="{BB962C8B-B14F-4D97-AF65-F5344CB8AC3E}">
        <p14:creationId xmlns:p14="http://schemas.microsoft.com/office/powerpoint/2010/main" val="3665470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8BFD467-D7D1-3503-7695-123F7C7AA3D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06F581E-ED49-7C47-7256-334001329D70}"/>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D7F634D7-929B-3C04-3536-6B25AADDC40F}"/>
              </a:ext>
            </a:extLst>
          </p:cNvPr>
          <p:cNvSpPr/>
          <p:nvPr/>
        </p:nvSpPr>
        <p:spPr>
          <a:xfrm>
            <a:off x="11583713" y="6264396"/>
            <a:ext cx="608287" cy="461665"/>
          </a:xfrm>
          <a:prstGeom prst="rect">
            <a:avLst/>
          </a:prstGeom>
        </p:spPr>
        <p:txBody>
          <a:bodyPr wrap="square">
            <a:spAutoFit/>
          </a:bodyPr>
          <a:lstStyle/>
          <a:p>
            <a:r>
              <a:rPr lang="en-US" sz="2400" b="1" dirty="0">
                <a:solidFill>
                  <a:schemeClr val="tx1">
                    <a:lumMod val="50000"/>
                    <a:lumOff val="50000"/>
                  </a:schemeClr>
                </a:solidFill>
              </a:rPr>
              <a:t>10</a:t>
            </a:r>
          </a:p>
        </p:txBody>
      </p:sp>
      <p:pic>
        <p:nvPicPr>
          <p:cNvPr id="8" name="Picture 7">
            <a:extLst>
              <a:ext uri="{FF2B5EF4-FFF2-40B4-BE49-F238E27FC236}">
                <a16:creationId xmlns:a16="http://schemas.microsoft.com/office/drawing/2014/main" id="{7A84CB12-310C-7BF0-4299-390147E730AA}"/>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F140721B-836D-0523-E924-D73D9E74B1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sp>
        <p:nvSpPr>
          <p:cNvPr id="13" name="Rounded Rectangle 12">
            <a:extLst>
              <a:ext uri="{FF2B5EF4-FFF2-40B4-BE49-F238E27FC236}">
                <a16:creationId xmlns:a16="http://schemas.microsoft.com/office/drawing/2014/main" id="{3BE39814-397B-912E-92B5-57483AEC1649}"/>
              </a:ext>
            </a:extLst>
          </p:cNvPr>
          <p:cNvSpPr/>
          <p:nvPr/>
        </p:nvSpPr>
        <p:spPr>
          <a:xfrm>
            <a:off x="4087626" y="305492"/>
            <a:ext cx="4799700"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Times New Roman" panose="02020603050405020304" pitchFamily="18" charset="0"/>
                <a:cs typeface="Times New Roman" panose="02020603050405020304" pitchFamily="18" charset="0"/>
              </a:rPr>
              <a:t>Literature Review</a:t>
            </a:r>
          </a:p>
        </p:txBody>
      </p:sp>
      <p:sp>
        <p:nvSpPr>
          <p:cNvPr id="74" name="Google Shape;182;p29">
            <a:extLst>
              <a:ext uri="{FF2B5EF4-FFF2-40B4-BE49-F238E27FC236}">
                <a16:creationId xmlns:a16="http://schemas.microsoft.com/office/drawing/2014/main" id="{345E63F9-7601-925E-FDB1-31F08CC60A08}"/>
              </a:ext>
            </a:extLst>
          </p:cNvPr>
          <p:cNvSpPr/>
          <p:nvPr/>
        </p:nvSpPr>
        <p:spPr>
          <a:xfrm>
            <a:off x="7257467" y="3575603"/>
            <a:ext cx="3062189" cy="18180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7" name="Google Shape;205;p29">
            <a:extLst>
              <a:ext uri="{FF2B5EF4-FFF2-40B4-BE49-F238E27FC236}">
                <a16:creationId xmlns:a16="http://schemas.microsoft.com/office/drawing/2014/main" id="{57B99F81-2A7E-3854-5A34-08A7F22C1C10}"/>
              </a:ext>
            </a:extLst>
          </p:cNvPr>
          <p:cNvSpPr/>
          <p:nvPr/>
        </p:nvSpPr>
        <p:spPr>
          <a:xfrm>
            <a:off x="1471775" y="1321143"/>
            <a:ext cx="3448201" cy="1637116"/>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200" b="1" i="1" dirty="0">
                <a:solidFill>
                  <a:srgbClr val="000000"/>
                </a:solidFill>
                <a:latin typeface="Arial"/>
                <a:ea typeface="Arial"/>
                <a:cs typeface="Arial"/>
                <a:sym typeface="Arial"/>
              </a:rPr>
              <a:t> </a:t>
            </a:r>
            <a:r>
              <a:rPr lang="en" sz="1200" b="1" i="1" dirty="0">
                <a:solidFill>
                  <a:srgbClr val="000000"/>
                </a:solidFill>
                <a:latin typeface="Times New Roman"/>
                <a:ea typeface="Times New Roman"/>
                <a:cs typeface="Times New Roman"/>
                <a:sym typeface="Times New Roman"/>
              </a:rPr>
              <a:t> </a:t>
            </a:r>
            <a:endParaRPr sz="1200" b="1" i="1" dirty="0">
              <a:solidFill>
                <a:srgbClr val="000000"/>
              </a:solidFill>
              <a:latin typeface="Times New Roman"/>
              <a:ea typeface="Times New Roman"/>
              <a:cs typeface="Times New Roman"/>
              <a:sym typeface="Times New Roman"/>
            </a:endParaRPr>
          </a:p>
        </p:txBody>
      </p:sp>
      <p:sp>
        <p:nvSpPr>
          <p:cNvPr id="2" name="Date Placeholder 1">
            <a:extLst>
              <a:ext uri="{FF2B5EF4-FFF2-40B4-BE49-F238E27FC236}">
                <a16:creationId xmlns:a16="http://schemas.microsoft.com/office/drawing/2014/main" id="{1832C2D3-F671-CC42-C56D-78A9188DF17F}"/>
              </a:ext>
            </a:extLst>
          </p:cNvPr>
          <p:cNvSpPr>
            <a:spLocks noGrp="1"/>
          </p:cNvSpPr>
          <p:nvPr>
            <p:ph type="dt" sz="half" idx="10"/>
          </p:nvPr>
        </p:nvSpPr>
        <p:spPr/>
        <p:txBody>
          <a:bodyPr/>
          <a:lstStyle/>
          <a:p>
            <a:fld id="{662C2E9C-C30C-4FFD-AC66-E22823D2FECF}" type="datetime1">
              <a:rPr lang="en-US" sz="1600" smtClean="0">
                <a:latin typeface="Times New Roman" panose="02020603050405020304" pitchFamily="18" charset="0"/>
                <a:cs typeface="Times New Roman" panose="02020603050405020304" pitchFamily="18" charset="0"/>
              </a:rPr>
              <a:t>9/13/2025</a:t>
            </a:fld>
            <a:endParaRPr lang="en-US" sz="16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67F5D580-F0FE-A8D0-056F-0DBD6C84814F}"/>
              </a:ext>
            </a:extLst>
          </p:cNvPr>
          <p:cNvSpPr>
            <a:spLocks noGrp="1"/>
          </p:cNvSpPr>
          <p:nvPr>
            <p:ph type="ftr" sz="quarter" idx="11"/>
          </p:nvPr>
        </p:nvSpPr>
        <p:spPr>
          <a:xfrm>
            <a:off x="4186673" y="6492875"/>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graphicFrame>
        <p:nvGraphicFramePr>
          <p:cNvPr id="6" name="Table 5">
            <a:extLst>
              <a:ext uri="{FF2B5EF4-FFF2-40B4-BE49-F238E27FC236}">
                <a16:creationId xmlns:a16="http://schemas.microsoft.com/office/drawing/2014/main" id="{A6FD0761-A841-EA38-0F30-7AD4B9A9D321}"/>
              </a:ext>
            </a:extLst>
          </p:cNvPr>
          <p:cNvGraphicFramePr>
            <a:graphicFrameLocks noGrp="1"/>
          </p:cNvGraphicFramePr>
          <p:nvPr>
            <p:extLst>
              <p:ext uri="{D42A27DB-BD31-4B8C-83A1-F6EECF244321}">
                <p14:modId xmlns:p14="http://schemas.microsoft.com/office/powerpoint/2010/main" val="649485564"/>
              </p:ext>
            </p:extLst>
          </p:nvPr>
        </p:nvGraphicFramePr>
        <p:xfrm>
          <a:off x="292137" y="1426148"/>
          <a:ext cx="11515825" cy="4612958"/>
        </p:xfrm>
        <a:graphic>
          <a:graphicData uri="http://schemas.openxmlformats.org/drawingml/2006/table">
            <a:tbl>
              <a:tblPr firstRow="1" bandRow="1">
                <a:tableStyleId>{5C22544A-7EE6-4342-B048-85BDC9FD1C3A}</a:tableStyleId>
              </a:tblPr>
              <a:tblGrid>
                <a:gridCol w="568643">
                  <a:extLst>
                    <a:ext uri="{9D8B030D-6E8A-4147-A177-3AD203B41FA5}">
                      <a16:colId xmlns:a16="http://schemas.microsoft.com/office/drawing/2014/main" val="1169663964"/>
                    </a:ext>
                  </a:extLst>
                </a:gridCol>
                <a:gridCol w="766259">
                  <a:extLst>
                    <a:ext uri="{9D8B030D-6E8A-4147-A177-3AD203B41FA5}">
                      <a16:colId xmlns:a16="http://schemas.microsoft.com/office/drawing/2014/main" val="1107519681"/>
                    </a:ext>
                  </a:extLst>
                </a:gridCol>
                <a:gridCol w="3061842">
                  <a:extLst>
                    <a:ext uri="{9D8B030D-6E8A-4147-A177-3AD203B41FA5}">
                      <a16:colId xmlns:a16="http://schemas.microsoft.com/office/drawing/2014/main" val="1463263223"/>
                    </a:ext>
                  </a:extLst>
                </a:gridCol>
                <a:gridCol w="3707549">
                  <a:extLst>
                    <a:ext uri="{9D8B030D-6E8A-4147-A177-3AD203B41FA5}">
                      <a16:colId xmlns:a16="http://schemas.microsoft.com/office/drawing/2014/main" val="1174715767"/>
                    </a:ext>
                  </a:extLst>
                </a:gridCol>
                <a:gridCol w="3411532">
                  <a:extLst>
                    <a:ext uri="{9D8B030D-6E8A-4147-A177-3AD203B41FA5}">
                      <a16:colId xmlns:a16="http://schemas.microsoft.com/office/drawing/2014/main" val="729833151"/>
                    </a:ext>
                  </a:extLst>
                </a:gridCol>
              </a:tblGrid>
              <a:tr h="866469">
                <a:tc>
                  <a:txBody>
                    <a:bodyPr/>
                    <a:lstStyle/>
                    <a:p>
                      <a:pPr algn="ctr"/>
                      <a:r>
                        <a:rPr lang="en-US" sz="2000" dirty="0">
                          <a:latin typeface="Times New Roman" panose="02020603050405020304" pitchFamily="18" charset="0"/>
                          <a:cs typeface="Times New Roman" panose="02020603050405020304" pitchFamily="18" charset="0"/>
                        </a:rPr>
                        <a:t>No.</a:t>
                      </a:r>
                    </a:p>
                  </a:txBody>
                  <a:tcPr/>
                </a:tc>
                <a:tc>
                  <a:txBody>
                    <a:bodyPr/>
                    <a:lstStyle/>
                    <a:p>
                      <a:pPr algn="ctr"/>
                      <a:r>
                        <a:rPr lang="en-US" sz="2000" dirty="0">
                          <a:latin typeface="Times New Roman" panose="02020603050405020304" pitchFamily="18" charset="0"/>
                          <a:cs typeface="Times New Roman" panose="02020603050405020304" pitchFamily="18" charset="0"/>
                        </a:rPr>
                        <a:t>Year</a:t>
                      </a:r>
                    </a:p>
                  </a:txBody>
                  <a:tcPr/>
                </a:tc>
                <a:tc>
                  <a:txBody>
                    <a:bodyPr/>
                    <a:lstStyle/>
                    <a:p>
                      <a:pPr algn="ctr"/>
                      <a:r>
                        <a:rPr lang="en-US" sz="2000" dirty="0">
                          <a:latin typeface="Times New Roman" panose="02020603050405020304" pitchFamily="18" charset="0"/>
                          <a:cs typeface="Times New Roman" panose="02020603050405020304" pitchFamily="18" charset="0"/>
                        </a:rPr>
                        <a:t>Works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Techniques</a:t>
                      </a:r>
                    </a:p>
                    <a:p>
                      <a:pPr algn="ct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58084828"/>
                  </a:ext>
                </a:extLst>
              </a:tr>
              <a:tr h="1765990">
                <a:tc>
                  <a:txBody>
                    <a:bodyPr/>
                    <a:lstStyle/>
                    <a:p>
                      <a:pPr algn="l"/>
                      <a:r>
                        <a:rPr lang="en-US" dirty="0">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2024</a:t>
                      </a:r>
                    </a:p>
                  </a:txBody>
                  <a:tcPr/>
                </a:tc>
                <a:tc>
                  <a:txBody>
                    <a:bodyPr/>
                    <a:lstStyle/>
                    <a:p>
                      <a:r>
                        <a:rPr lang="en-US" b="1" dirty="0">
                          <a:latin typeface="Times New Roman" panose="02020603050405020304" pitchFamily="18" charset="0"/>
                          <a:cs typeface="Times New Roman" panose="02020603050405020304" pitchFamily="18" charset="0"/>
                        </a:rPr>
                        <a:t>Hossain et al.  – </a:t>
                      </a:r>
                      <a:r>
                        <a:rPr lang="en-US" b="0" dirty="0">
                          <a:latin typeface="Times New Roman" panose="02020603050405020304" pitchFamily="18" charset="0"/>
                          <a:cs typeface="Times New Roman" panose="02020603050405020304" pitchFamily="18" charset="0"/>
                        </a:rPr>
                        <a:t>Smoking, COVID-19, and lung cancer.</a:t>
                      </a:r>
                    </a:p>
                  </a:txBody>
                  <a:tcPr/>
                </a:tc>
                <a:tc>
                  <a:txBody>
                    <a:bodyPr/>
                    <a:lstStyle/>
                    <a:p>
                      <a:pPr marL="285750" indent="-285750">
                        <a:buFont typeface="Arial" panose="020B0604020202020204" pitchFamily="34" charset="0"/>
                        <a:buChar char="•"/>
                      </a:pP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Identified 76 shared genes </a:t>
                      </a:r>
                    </a:p>
                    <a:p>
                      <a:pPr marL="285750" indent="-285750">
                        <a:buFont typeface="Arial" panose="020B0604020202020204" pitchFamily="34" charset="0"/>
                        <a:buChar char="•"/>
                      </a:pP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ten hub genes validated by WGCNA, survival, and ML as therapeutic targets.</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ML-based gene selections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experimental assays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clinical validation missing.</a:t>
                      </a:r>
                    </a:p>
                  </a:txBody>
                  <a:tcPr/>
                </a:tc>
                <a:extLst>
                  <a:ext uri="{0D108BD9-81ED-4DB2-BD59-A6C34878D82A}">
                    <a16:rowId xmlns:a16="http://schemas.microsoft.com/office/drawing/2014/main" val="2350234445"/>
                  </a:ext>
                </a:extLst>
              </a:tr>
              <a:tr h="1980499">
                <a:tc>
                  <a:txBody>
                    <a:bodyPr/>
                    <a:lstStyle/>
                    <a:p>
                      <a:r>
                        <a:rPr lang="en-US" dirty="0">
                          <a:latin typeface="Times New Roman" panose="02020603050405020304" pitchFamily="18" charset="0"/>
                          <a:cs typeface="Times New Roman" panose="02020603050405020304" pitchFamily="18" charset="0"/>
                        </a:rPr>
                        <a:t>5</a:t>
                      </a:r>
                      <a:r>
                        <a:rPr lang="en-US">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2024</a:t>
                      </a:r>
                    </a:p>
                  </a:txBody>
                  <a:tcPr/>
                </a:tc>
                <a:tc>
                  <a:txBody>
                    <a:bodyPr/>
                    <a:lstStyle/>
                    <a:p>
                      <a:pPr algn="l"/>
                      <a:r>
                        <a:rPr lang="it-IT" b="1" dirty="0">
                          <a:latin typeface="Times New Roman" panose="02020603050405020304" pitchFamily="18" charset="0"/>
                          <a:cs typeface="Times New Roman" panose="02020603050405020304" pitchFamily="18" charset="0"/>
                        </a:rPr>
                        <a:t>Zhao et al.  – </a:t>
                      </a:r>
                      <a:r>
                        <a:rPr lang="it-IT" b="0" dirty="0">
                          <a:latin typeface="Times New Roman" panose="02020603050405020304" pitchFamily="18" charset="0"/>
                          <a:cs typeface="Times New Roman" panose="02020603050405020304" pitchFamily="18" charset="0"/>
                        </a:rPr>
                        <a:t>Prognostic lncRNAs in LUAD</a:t>
                      </a:r>
                      <a:endParaRPr lang="en-US" b="0" dirty="0">
                        <a:latin typeface="Times New Roman" panose="02020603050405020304" pitchFamily="18" charset="0"/>
                        <a:cs typeface="Times New Roman" panose="02020603050405020304" pitchFamily="18" charset="0"/>
                      </a:endParaRPr>
                    </a:p>
                  </a:txBody>
                  <a:tcPr/>
                </a:tc>
                <a:tc>
                  <a:txBody>
                    <a:bodyPr/>
                    <a:lstStyle/>
                    <a:p>
                      <a:pPr marL="285750" indent="-285750" algn="l">
                        <a:buFont typeface="Arial" panose="020B0604020202020204" pitchFamily="34" charset="0"/>
                        <a:buChar char="•"/>
                      </a:pPr>
                      <a:r>
                        <a:rPr lang="en-US" b="0" dirty="0">
                          <a:latin typeface="Times New Roman" panose="02020603050405020304" pitchFamily="18" charset="0"/>
                          <a:cs typeface="Times New Roman" panose="02020603050405020304" pitchFamily="18" charset="0"/>
                        </a:rPr>
                        <a:t>WGCNA revealed lncRNA–mRNA modules predictive of survival</a:t>
                      </a:r>
                    </a:p>
                    <a:p>
                      <a:pPr marL="285750" indent="-285750" algn="l">
                        <a:buFont typeface="Arial" panose="020B0604020202020204" pitchFamily="34" charset="0"/>
                        <a:buChar char="•"/>
                      </a:pPr>
                      <a:r>
                        <a:rPr lang="en-US" b="0" dirty="0">
                          <a:latin typeface="Times New Roman" panose="02020603050405020304" pitchFamily="18" charset="0"/>
                          <a:cs typeface="Times New Roman" panose="02020603050405020304" pitchFamily="18" charset="0"/>
                        </a:rPr>
                        <a:t>identified novel transcriptomic biomarkers.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Times New Roman" panose="02020603050405020304" pitchFamily="18" charset="0"/>
                          <a:cs typeface="Times New Roman" panose="02020603050405020304" pitchFamily="18" charset="0"/>
                        </a:rPr>
                        <a:t>No ML-based gene selections</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experimental </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clinical validation.</a:t>
                      </a:r>
                    </a:p>
                  </a:txBody>
                  <a:tcPr/>
                </a:tc>
                <a:extLst>
                  <a:ext uri="{0D108BD9-81ED-4DB2-BD59-A6C34878D82A}">
                    <a16:rowId xmlns:a16="http://schemas.microsoft.com/office/drawing/2014/main" val="1887638124"/>
                  </a:ext>
                </a:extLst>
              </a:tr>
            </a:tbl>
          </a:graphicData>
        </a:graphic>
      </p:graphicFrame>
    </p:spTree>
    <p:extLst>
      <p:ext uri="{BB962C8B-B14F-4D97-AF65-F5344CB8AC3E}">
        <p14:creationId xmlns:p14="http://schemas.microsoft.com/office/powerpoint/2010/main" val="1742928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32825" y="-3853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489042" y="6304435"/>
            <a:ext cx="491552" cy="372463"/>
          </a:xfrm>
          <a:prstGeom prst="roundRect">
            <a:avLst>
              <a:gd name="adj" fmla="val 0"/>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492276" y="6254447"/>
            <a:ext cx="699723" cy="461665"/>
          </a:xfrm>
          <a:prstGeom prst="rect">
            <a:avLst/>
          </a:prstGeom>
        </p:spPr>
        <p:txBody>
          <a:bodyPr wrap="square">
            <a:spAutoFit/>
          </a:bodyPr>
          <a:lstStyle/>
          <a:p>
            <a:r>
              <a:rPr lang="en-US" sz="2400" b="1" dirty="0">
                <a:solidFill>
                  <a:schemeClr val="tx1">
                    <a:lumMod val="50000"/>
                    <a:lumOff val="50000"/>
                  </a:schemeClr>
                </a:solidFill>
              </a:rPr>
              <a:t>11</a:t>
            </a:r>
          </a:p>
        </p:txBody>
      </p:sp>
      <p:pic>
        <p:nvPicPr>
          <p:cNvPr id="8" name="Picture 7"/>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p:cNvSpPr/>
          <p:nvPr/>
        </p:nvSpPr>
        <p:spPr>
          <a:xfrm>
            <a:off x="2869810" y="305492"/>
            <a:ext cx="6555544"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Methodology</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89" name="Google Shape;289;p32"/>
          <p:cNvSpPr txBox="1"/>
          <p:nvPr/>
        </p:nvSpPr>
        <p:spPr>
          <a:xfrm>
            <a:off x="3682530" y="4994710"/>
            <a:ext cx="927600" cy="50010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400" b="0" i="0" u="none" strike="noStrike" cap="none" dirty="0">
                <a:solidFill>
                  <a:schemeClr val="lt1"/>
                </a:solidFill>
                <a:latin typeface="Times New Roman"/>
                <a:ea typeface="Times New Roman"/>
                <a:cs typeface="Times New Roman"/>
                <a:sym typeface="Times New Roman"/>
              </a:rPr>
              <a:t>Cross Validation</a:t>
            </a:r>
            <a:endParaRPr sz="1400" b="0" i="0" u="none" strike="noStrike" cap="none">
              <a:solidFill>
                <a:schemeClr val="lt1"/>
              </a:solidFill>
              <a:latin typeface="Times New Roman"/>
              <a:ea typeface="Times New Roman"/>
              <a:cs typeface="Times New Roman"/>
              <a:sym typeface="Times New Roman"/>
            </a:endParaRPr>
          </a:p>
        </p:txBody>
      </p:sp>
      <p:sp>
        <p:nvSpPr>
          <p:cNvPr id="292" name="Google Shape;292;p32"/>
          <p:cNvSpPr txBox="1"/>
          <p:nvPr/>
        </p:nvSpPr>
        <p:spPr>
          <a:xfrm>
            <a:off x="6731067" y="4685221"/>
            <a:ext cx="4605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dirty="0">
                <a:solidFill>
                  <a:schemeClr val="lt1"/>
                </a:solidFill>
                <a:latin typeface="Times New Roman"/>
                <a:ea typeface="Times New Roman"/>
                <a:cs typeface="Times New Roman"/>
                <a:sym typeface="Times New Roman"/>
              </a:rPr>
              <a:t>Train</a:t>
            </a:r>
            <a:endParaRPr sz="900">
              <a:solidFill>
                <a:schemeClr val="lt1"/>
              </a:solidFill>
              <a:latin typeface="Times New Roman"/>
              <a:ea typeface="Times New Roman"/>
              <a:cs typeface="Times New Roman"/>
              <a:sym typeface="Times New Roman"/>
            </a:endParaRPr>
          </a:p>
        </p:txBody>
      </p:sp>
      <p:sp>
        <p:nvSpPr>
          <p:cNvPr id="303" name="TextBox 302"/>
          <p:cNvSpPr txBox="1"/>
          <p:nvPr/>
        </p:nvSpPr>
        <p:spPr>
          <a:xfrm>
            <a:off x="1107601" y="5720137"/>
            <a:ext cx="10246199" cy="707886"/>
          </a:xfrm>
          <a:prstGeom prst="rect">
            <a:avLst/>
          </a:prstGeom>
          <a:noFill/>
        </p:spPr>
        <p:txBody>
          <a:bodyPr wrap="square" rtlCol="0">
            <a:spAutoFit/>
          </a:bodyPr>
          <a:lstStyle/>
          <a:p>
            <a:pPr algn="ctr"/>
            <a:r>
              <a:rPr lang="en-US" sz="2000" dirty="0">
                <a:latin typeface="Times New Roman" pitchFamily="18" charset="0"/>
                <a:cs typeface="Times New Roman" pitchFamily="18" charset="0"/>
              </a:rPr>
              <a:t>Fig.1: Overview of the proposed framework for biomarker discovery and stage classification of lung Adenocarcinoma</a:t>
            </a:r>
          </a:p>
        </p:txBody>
      </p:sp>
      <p:sp>
        <p:nvSpPr>
          <p:cNvPr id="2" name="Date Placeholder 1">
            <a:extLst>
              <a:ext uri="{FF2B5EF4-FFF2-40B4-BE49-F238E27FC236}">
                <a16:creationId xmlns:a16="http://schemas.microsoft.com/office/drawing/2014/main" id="{2CF8F57E-7804-6E67-9C1F-A063FAD12E46}"/>
              </a:ext>
            </a:extLst>
          </p:cNvPr>
          <p:cNvSpPr>
            <a:spLocks noGrp="1"/>
          </p:cNvSpPr>
          <p:nvPr>
            <p:ph type="dt" sz="half" idx="10"/>
          </p:nvPr>
        </p:nvSpPr>
        <p:spPr/>
        <p:txBody>
          <a:bodyPr/>
          <a:lstStyle/>
          <a:p>
            <a:fld id="{5FA09178-BD8A-40DD-A4C5-D01F3B712C9C}"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DE5CBCC-9474-C643-82B1-C70CB1374298}"/>
              </a:ext>
            </a:extLst>
          </p:cNvPr>
          <p:cNvSpPr>
            <a:spLocks noGrp="1"/>
          </p:cNvSpPr>
          <p:nvPr>
            <p:ph type="ftr" sz="quarter" idx="11"/>
          </p:nvPr>
        </p:nvSpPr>
        <p:spPr>
          <a:xfrm>
            <a:off x="4038600" y="6469510"/>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6" name="Picture 15">
            <a:extLst>
              <a:ext uri="{FF2B5EF4-FFF2-40B4-BE49-F238E27FC236}">
                <a16:creationId xmlns:a16="http://schemas.microsoft.com/office/drawing/2014/main" id="{23AD7606-77F6-DAAE-26B7-5DC527564E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50634" y="1306178"/>
            <a:ext cx="8427831" cy="4217265"/>
          </a:xfrm>
          <a:prstGeom prst="rect">
            <a:avLst/>
          </a:prstGeom>
        </p:spPr>
      </p:pic>
      <p:sp>
        <p:nvSpPr>
          <p:cNvPr id="6" name="TextBox 5">
            <a:extLst>
              <a:ext uri="{FF2B5EF4-FFF2-40B4-BE49-F238E27FC236}">
                <a16:creationId xmlns:a16="http://schemas.microsoft.com/office/drawing/2014/main" id="{635998B3-497C-6F60-46BB-3447E643B565}"/>
              </a:ext>
            </a:extLst>
          </p:cNvPr>
          <p:cNvSpPr txBox="1"/>
          <p:nvPr/>
        </p:nvSpPr>
        <p:spPr>
          <a:xfrm>
            <a:off x="125591" y="2136166"/>
            <a:ext cx="3282455" cy="2523768"/>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Datasets Acquisition</a:t>
            </a:r>
          </a:p>
          <a:p>
            <a:pPr marL="285750" indent="-285750">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Data Preprocessing</a:t>
            </a:r>
          </a:p>
          <a:p>
            <a:pPr marL="285750" indent="-285750">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ML-based gene selection</a:t>
            </a:r>
          </a:p>
          <a:p>
            <a:pPr marL="285750" indent="-285750">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Identification &amp; Validation of hub genes</a:t>
            </a:r>
          </a:p>
          <a:p>
            <a:pPr marL="285750" indent="-285750">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Stage classifications</a:t>
            </a:r>
          </a:p>
          <a:p>
            <a:pPr marL="285750" indent="-285750">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Model deployment</a:t>
            </a: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2760758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C56504A-974C-7AAB-0F13-3AE09EA69762}"/>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78E7C56-C179-E74C-297D-57A3B5D9AA60}"/>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32825" y="-3853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CD729FBF-FE27-544D-F611-C7183BBC0D24}"/>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482466" y="6299126"/>
            <a:ext cx="498128" cy="378243"/>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6F3E98A7-9CC6-08BE-645E-E99BB97DB9D7}"/>
              </a:ext>
            </a:extLst>
          </p:cNvPr>
          <p:cNvSpPr/>
          <p:nvPr/>
        </p:nvSpPr>
        <p:spPr>
          <a:xfrm>
            <a:off x="11482467" y="6299126"/>
            <a:ext cx="542290" cy="461665"/>
          </a:xfrm>
          <a:prstGeom prst="rect">
            <a:avLst/>
          </a:prstGeom>
        </p:spPr>
        <p:txBody>
          <a:bodyPr wrap="square">
            <a:spAutoFit/>
          </a:bodyPr>
          <a:lstStyle/>
          <a:p>
            <a:r>
              <a:rPr lang="en-US" sz="2400" b="1" dirty="0">
                <a:solidFill>
                  <a:schemeClr val="tx1">
                    <a:lumMod val="50000"/>
                    <a:lumOff val="50000"/>
                  </a:schemeClr>
                </a:solidFill>
              </a:rPr>
              <a:t>12</a:t>
            </a:r>
          </a:p>
        </p:txBody>
      </p:sp>
      <p:pic>
        <p:nvPicPr>
          <p:cNvPr id="8" name="Picture 7">
            <a:extLst>
              <a:ext uri="{FF2B5EF4-FFF2-40B4-BE49-F238E27FC236}">
                <a16:creationId xmlns:a16="http://schemas.microsoft.com/office/drawing/2014/main" id="{514DE7D3-D0FF-3AAA-3CA7-46DF8B1E81C6}"/>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714C2CB8-C95F-1328-F120-14867003335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429E81D5-F506-F7F2-31E9-E6C445C0329D}"/>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A32A66C7-E485-A97F-8AF1-90DEC5656A1E}"/>
              </a:ext>
            </a:extLst>
          </p:cNvPr>
          <p:cNvSpPr/>
          <p:nvPr/>
        </p:nvSpPr>
        <p:spPr>
          <a:xfrm>
            <a:off x="2869810" y="305493"/>
            <a:ext cx="6555544" cy="578676"/>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Methodology</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Cont</a:t>
            </a:r>
            <a:r>
              <a:rPr lang="en-US" sz="3600" b="1" dirty="0">
                <a:solidFill>
                  <a:schemeClr val="bg1"/>
                </a:solidFill>
                <a:latin typeface="Times New Roman" panose="02020603050405020304" pitchFamily="18" charset="0"/>
                <a:cs typeface="Times New Roman" panose="02020603050405020304" pitchFamily="18" charset="0"/>
              </a:rPr>
              <a:t>…</a:t>
            </a:r>
          </a:p>
        </p:txBody>
      </p:sp>
      <p:sp>
        <p:nvSpPr>
          <p:cNvPr id="289" name="Google Shape;289;p32">
            <a:extLst>
              <a:ext uri="{FF2B5EF4-FFF2-40B4-BE49-F238E27FC236}">
                <a16:creationId xmlns:a16="http://schemas.microsoft.com/office/drawing/2014/main" id="{824CEB19-6D96-9237-5CB2-B4F2F4375804}"/>
              </a:ext>
            </a:extLst>
          </p:cNvPr>
          <p:cNvSpPr txBox="1"/>
          <p:nvPr/>
        </p:nvSpPr>
        <p:spPr>
          <a:xfrm>
            <a:off x="3682530" y="4994710"/>
            <a:ext cx="927600" cy="50010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400" b="0" i="0" u="none" strike="noStrike" cap="none" dirty="0">
                <a:solidFill>
                  <a:schemeClr val="lt1"/>
                </a:solidFill>
                <a:latin typeface="Times New Roman"/>
                <a:ea typeface="Times New Roman"/>
                <a:cs typeface="Times New Roman"/>
                <a:sym typeface="Times New Roman"/>
              </a:rPr>
              <a:t>Cross Validation</a:t>
            </a:r>
            <a:endParaRPr sz="1400" b="0" i="0" u="none" strike="noStrike" cap="none">
              <a:solidFill>
                <a:schemeClr val="lt1"/>
              </a:solidFill>
              <a:latin typeface="Times New Roman"/>
              <a:ea typeface="Times New Roman"/>
              <a:cs typeface="Times New Roman"/>
              <a:sym typeface="Times New Roman"/>
            </a:endParaRPr>
          </a:p>
        </p:txBody>
      </p:sp>
      <p:sp>
        <p:nvSpPr>
          <p:cNvPr id="292" name="Google Shape;292;p32">
            <a:extLst>
              <a:ext uri="{FF2B5EF4-FFF2-40B4-BE49-F238E27FC236}">
                <a16:creationId xmlns:a16="http://schemas.microsoft.com/office/drawing/2014/main" id="{8E63FC2B-6DCF-F7C1-CDC8-13E76DA57CAC}"/>
              </a:ext>
            </a:extLst>
          </p:cNvPr>
          <p:cNvSpPr txBox="1"/>
          <p:nvPr/>
        </p:nvSpPr>
        <p:spPr>
          <a:xfrm>
            <a:off x="6731067" y="4685221"/>
            <a:ext cx="4605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dirty="0">
                <a:solidFill>
                  <a:schemeClr val="lt1"/>
                </a:solidFill>
                <a:latin typeface="Times New Roman"/>
                <a:ea typeface="Times New Roman"/>
                <a:cs typeface="Times New Roman"/>
                <a:sym typeface="Times New Roman"/>
              </a:rPr>
              <a:t>Train</a:t>
            </a:r>
            <a:endParaRPr sz="900">
              <a:solidFill>
                <a:schemeClr val="lt1"/>
              </a:solidFill>
              <a:latin typeface="Times New Roman"/>
              <a:ea typeface="Times New Roman"/>
              <a:cs typeface="Times New Roman"/>
              <a:sym typeface="Times New Roman"/>
            </a:endParaRPr>
          </a:p>
        </p:txBody>
      </p:sp>
      <p:sp>
        <p:nvSpPr>
          <p:cNvPr id="303" name="TextBox 302">
            <a:extLst>
              <a:ext uri="{FF2B5EF4-FFF2-40B4-BE49-F238E27FC236}">
                <a16:creationId xmlns:a16="http://schemas.microsoft.com/office/drawing/2014/main" id="{571C8DB8-713D-B744-E604-2E6415088A80}"/>
              </a:ext>
            </a:extLst>
          </p:cNvPr>
          <p:cNvSpPr txBox="1"/>
          <p:nvPr/>
        </p:nvSpPr>
        <p:spPr>
          <a:xfrm>
            <a:off x="786642" y="5152347"/>
            <a:ext cx="10847513" cy="707886"/>
          </a:xfrm>
          <a:prstGeom prst="rect">
            <a:avLst/>
          </a:prstGeom>
          <a:noFill/>
        </p:spPr>
        <p:txBody>
          <a:bodyPr wrap="square" rtlCol="0">
            <a:spAutoFit/>
          </a:bodyPr>
          <a:lstStyle/>
          <a:p>
            <a:pPr algn="ctr"/>
            <a:r>
              <a:rPr lang="en-US" sz="2000" dirty="0">
                <a:latin typeface="Times New Roman" pitchFamily="18" charset="0"/>
                <a:cs typeface="Times New Roman" pitchFamily="18" charset="0"/>
              </a:rPr>
              <a:t>Table.1: Overview of the gene expression datasets utilized in this study including platform information, number of tumor and normal samples, and total samples.</a:t>
            </a:r>
          </a:p>
        </p:txBody>
      </p:sp>
      <p:sp>
        <p:nvSpPr>
          <p:cNvPr id="2" name="Date Placeholder 1">
            <a:extLst>
              <a:ext uri="{FF2B5EF4-FFF2-40B4-BE49-F238E27FC236}">
                <a16:creationId xmlns:a16="http://schemas.microsoft.com/office/drawing/2014/main" id="{B6721E5E-6A83-4C02-F97E-491E68D84607}"/>
              </a:ext>
            </a:extLst>
          </p:cNvPr>
          <p:cNvSpPr>
            <a:spLocks noGrp="1"/>
          </p:cNvSpPr>
          <p:nvPr>
            <p:ph type="dt" sz="half" idx="10"/>
          </p:nvPr>
        </p:nvSpPr>
        <p:spPr/>
        <p:txBody>
          <a:bodyPr/>
          <a:lstStyle/>
          <a:p>
            <a:fld id="{5FA09178-BD8A-40DD-A4C5-D01F3B712C9C}"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051D027-7E96-F7C4-1061-3767F58BF6FA}"/>
              </a:ext>
            </a:extLst>
          </p:cNvPr>
          <p:cNvSpPr>
            <a:spLocks noGrp="1"/>
          </p:cNvSpPr>
          <p:nvPr>
            <p:ph type="ftr" sz="quarter" idx="11"/>
          </p:nvPr>
        </p:nvSpPr>
        <p:spPr>
          <a:xfrm>
            <a:off x="4038600" y="6469510"/>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6" name="TextBox 5">
            <a:extLst>
              <a:ext uri="{FF2B5EF4-FFF2-40B4-BE49-F238E27FC236}">
                <a16:creationId xmlns:a16="http://schemas.microsoft.com/office/drawing/2014/main" id="{0D17E461-8210-5973-BE04-A8E86B41A849}"/>
              </a:ext>
            </a:extLst>
          </p:cNvPr>
          <p:cNvSpPr txBox="1"/>
          <p:nvPr/>
        </p:nvSpPr>
        <p:spPr>
          <a:xfrm>
            <a:off x="400075" y="1249584"/>
            <a:ext cx="3282455" cy="677108"/>
          </a:xfrm>
          <a:prstGeom prst="rect">
            <a:avLst/>
          </a:prstGeom>
          <a:noFill/>
        </p:spPr>
        <p:txBody>
          <a:bodyPr wrap="square" rtlCol="0">
            <a:spAutoFit/>
          </a:bodyPr>
          <a:lstStyle/>
          <a:p>
            <a:pPr marL="342900" indent="-342900">
              <a:buFont typeface="Wingdings" panose="05000000000000000000" pitchFamily="2" charset="2"/>
              <a:buChar char="v"/>
            </a:pPr>
            <a:r>
              <a:rPr lang="en-US" sz="2000" dirty="0">
                <a:solidFill>
                  <a:srgbClr val="0070C0"/>
                </a:solidFill>
                <a:latin typeface="Times New Roman" panose="02020603050405020304" pitchFamily="18" charset="0"/>
                <a:cs typeface="Times New Roman" panose="02020603050405020304" pitchFamily="18" charset="0"/>
              </a:rPr>
              <a:t>Datasets Acquisition</a:t>
            </a:r>
          </a:p>
          <a:p>
            <a:endParaRPr lang="en-US" dirty="0"/>
          </a:p>
        </p:txBody>
      </p:sp>
      <p:graphicFrame>
        <p:nvGraphicFramePr>
          <p:cNvPr id="7" name="Table 6">
            <a:extLst>
              <a:ext uri="{FF2B5EF4-FFF2-40B4-BE49-F238E27FC236}">
                <a16:creationId xmlns:a16="http://schemas.microsoft.com/office/drawing/2014/main" id="{CE73616E-BFAE-F038-E730-34CDF12A74CC}"/>
              </a:ext>
            </a:extLst>
          </p:cNvPr>
          <p:cNvGraphicFramePr>
            <a:graphicFrameLocks noGrp="1"/>
          </p:cNvGraphicFramePr>
          <p:nvPr>
            <p:extLst>
              <p:ext uri="{D42A27DB-BD31-4B8C-83A1-F6EECF244321}">
                <p14:modId xmlns:p14="http://schemas.microsoft.com/office/powerpoint/2010/main" val="3172622917"/>
              </p:ext>
            </p:extLst>
          </p:nvPr>
        </p:nvGraphicFramePr>
        <p:xfrm>
          <a:off x="1219200" y="1863289"/>
          <a:ext cx="9813640" cy="3108054"/>
        </p:xfrm>
        <a:graphic>
          <a:graphicData uri="http://schemas.openxmlformats.org/drawingml/2006/table">
            <a:tbl>
              <a:tblPr firstRow="1" bandRow="1">
                <a:tableStyleId>{5C22544A-7EE6-4342-B048-85BDC9FD1C3A}</a:tableStyleId>
              </a:tblPr>
              <a:tblGrid>
                <a:gridCol w="1962728">
                  <a:extLst>
                    <a:ext uri="{9D8B030D-6E8A-4147-A177-3AD203B41FA5}">
                      <a16:colId xmlns:a16="http://schemas.microsoft.com/office/drawing/2014/main" val="3219199164"/>
                    </a:ext>
                  </a:extLst>
                </a:gridCol>
                <a:gridCol w="1962728">
                  <a:extLst>
                    <a:ext uri="{9D8B030D-6E8A-4147-A177-3AD203B41FA5}">
                      <a16:colId xmlns:a16="http://schemas.microsoft.com/office/drawing/2014/main" val="4142220798"/>
                    </a:ext>
                  </a:extLst>
                </a:gridCol>
                <a:gridCol w="1962728">
                  <a:extLst>
                    <a:ext uri="{9D8B030D-6E8A-4147-A177-3AD203B41FA5}">
                      <a16:colId xmlns:a16="http://schemas.microsoft.com/office/drawing/2014/main" val="2534806224"/>
                    </a:ext>
                  </a:extLst>
                </a:gridCol>
                <a:gridCol w="1962728">
                  <a:extLst>
                    <a:ext uri="{9D8B030D-6E8A-4147-A177-3AD203B41FA5}">
                      <a16:colId xmlns:a16="http://schemas.microsoft.com/office/drawing/2014/main" val="557275231"/>
                    </a:ext>
                  </a:extLst>
                </a:gridCol>
                <a:gridCol w="1962728">
                  <a:extLst>
                    <a:ext uri="{9D8B030D-6E8A-4147-A177-3AD203B41FA5}">
                      <a16:colId xmlns:a16="http://schemas.microsoft.com/office/drawing/2014/main" val="3011162179"/>
                    </a:ext>
                  </a:extLst>
                </a:gridCol>
              </a:tblGrid>
              <a:tr h="518009">
                <a:tc>
                  <a:txBody>
                    <a:bodyPr/>
                    <a:lstStyle/>
                    <a:p>
                      <a:pPr algn="ctr"/>
                      <a:r>
                        <a:rPr lang="en-US" dirty="0">
                          <a:latin typeface="Times New Roman" panose="02020603050405020304" pitchFamily="18" charset="0"/>
                          <a:cs typeface="Times New Roman" panose="02020603050405020304" pitchFamily="18" charset="0"/>
                        </a:rPr>
                        <a:t>Datasets</a:t>
                      </a:r>
                    </a:p>
                  </a:txBody>
                  <a:tcPr/>
                </a:tc>
                <a:tc>
                  <a:txBody>
                    <a:bodyPr/>
                    <a:lstStyle/>
                    <a:p>
                      <a:pPr algn="ctr"/>
                      <a:r>
                        <a:rPr lang="en-US" dirty="0">
                          <a:latin typeface="Times New Roman" panose="02020603050405020304" pitchFamily="18" charset="0"/>
                          <a:cs typeface="Times New Roman" panose="02020603050405020304" pitchFamily="18" charset="0"/>
                        </a:rPr>
                        <a:t>Platform</a:t>
                      </a:r>
                    </a:p>
                  </a:txBody>
                  <a:tcPr/>
                </a:tc>
                <a:tc>
                  <a:txBody>
                    <a:bodyPr/>
                    <a:lstStyle/>
                    <a:p>
                      <a:pPr algn="ctr"/>
                      <a:r>
                        <a:rPr lang="en-US" dirty="0">
                          <a:latin typeface="Times New Roman" panose="02020603050405020304" pitchFamily="18" charset="0"/>
                          <a:cs typeface="Times New Roman" panose="02020603050405020304" pitchFamily="18" charset="0"/>
                        </a:rPr>
                        <a:t>Tumor</a:t>
                      </a:r>
                    </a:p>
                  </a:txBody>
                  <a:tcPr/>
                </a:tc>
                <a:tc>
                  <a:txBody>
                    <a:bodyPr/>
                    <a:lstStyle/>
                    <a:p>
                      <a:pPr algn="ctr"/>
                      <a:r>
                        <a:rPr lang="en-US" dirty="0">
                          <a:latin typeface="Times New Roman" panose="02020603050405020304" pitchFamily="18" charset="0"/>
                          <a:cs typeface="Times New Roman" panose="02020603050405020304" pitchFamily="18" charset="0"/>
                        </a:rPr>
                        <a:t>Normal</a:t>
                      </a:r>
                    </a:p>
                  </a:txBody>
                  <a:tcPr/>
                </a:tc>
                <a:tc>
                  <a:txBody>
                    <a:bodyPr/>
                    <a:lstStyle/>
                    <a:p>
                      <a:pPr algn="ctr"/>
                      <a:r>
                        <a:rPr lang="en-US" dirty="0">
                          <a:latin typeface="Times New Roman" panose="02020603050405020304" pitchFamily="18" charset="0"/>
                          <a:cs typeface="Times New Roman" panose="02020603050405020304" pitchFamily="18" charset="0"/>
                        </a:rPr>
                        <a:t>Total Samples</a:t>
                      </a:r>
                    </a:p>
                  </a:txBody>
                  <a:tcPr/>
                </a:tc>
                <a:extLst>
                  <a:ext uri="{0D108BD9-81ED-4DB2-BD59-A6C34878D82A}">
                    <a16:rowId xmlns:a16="http://schemas.microsoft.com/office/drawing/2014/main" val="1226351806"/>
                  </a:ext>
                </a:extLst>
              </a:tr>
              <a:tr h="518009">
                <a:tc>
                  <a:txBody>
                    <a:bodyPr/>
                    <a:lstStyle/>
                    <a:p>
                      <a:pPr algn="l"/>
                      <a:r>
                        <a:rPr lang="en-US" dirty="0">
                          <a:latin typeface="Times New Roman" panose="02020603050405020304" pitchFamily="18" charset="0"/>
                          <a:cs typeface="Times New Roman" panose="02020603050405020304" pitchFamily="18" charset="0"/>
                        </a:rPr>
                        <a:t>GSE18842</a:t>
                      </a:r>
                    </a:p>
                  </a:txBody>
                  <a:tcPr/>
                </a:tc>
                <a:tc>
                  <a:txBody>
                    <a:bodyPr/>
                    <a:lstStyle/>
                    <a:p>
                      <a:pPr algn="ctr"/>
                      <a:r>
                        <a:rPr lang="en-US" dirty="0">
                          <a:latin typeface="Times New Roman" panose="02020603050405020304" pitchFamily="18" charset="0"/>
                          <a:cs typeface="Times New Roman" panose="02020603050405020304" pitchFamily="18" charset="0"/>
                        </a:rPr>
                        <a:t>GPL570</a:t>
                      </a:r>
                    </a:p>
                  </a:txBody>
                  <a:tcPr/>
                </a:tc>
                <a:tc>
                  <a:txBody>
                    <a:bodyPr/>
                    <a:lstStyle/>
                    <a:p>
                      <a:pPr algn="ctr"/>
                      <a:r>
                        <a:rPr lang="en-US" dirty="0">
                          <a:latin typeface="Times New Roman" panose="02020603050405020304" pitchFamily="18" charset="0"/>
                          <a:cs typeface="Times New Roman" panose="02020603050405020304" pitchFamily="18" charset="0"/>
                        </a:rPr>
                        <a:t>46</a:t>
                      </a:r>
                    </a:p>
                  </a:txBody>
                  <a:tcPr/>
                </a:tc>
                <a:tc>
                  <a:txBody>
                    <a:bodyPr/>
                    <a:lstStyle/>
                    <a:p>
                      <a:pPr algn="ctr"/>
                      <a:r>
                        <a:rPr lang="en-US" dirty="0">
                          <a:latin typeface="Times New Roman" panose="02020603050405020304" pitchFamily="18" charset="0"/>
                          <a:cs typeface="Times New Roman" panose="02020603050405020304" pitchFamily="18" charset="0"/>
                        </a:rPr>
                        <a:t>45</a:t>
                      </a:r>
                    </a:p>
                  </a:txBody>
                  <a:tcPr/>
                </a:tc>
                <a:tc>
                  <a:txBody>
                    <a:bodyPr/>
                    <a:lstStyle/>
                    <a:p>
                      <a:pPr algn="ctr"/>
                      <a:r>
                        <a:rPr lang="en-US" dirty="0">
                          <a:latin typeface="Times New Roman" panose="02020603050405020304" pitchFamily="18" charset="0"/>
                          <a:cs typeface="Times New Roman" panose="02020603050405020304" pitchFamily="18" charset="0"/>
                        </a:rPr>
                        <a:t>91</a:t>
                      </a:r>
                    </a:p>
                  </a:txBody>
                  <a:tcPr/>
                </a:tc>
                <a:extLst>
                  <a:ext uri="{0D108BD9-81ED-4DB2-BD59-A6C34878D82A}">
                    <a16:rowId xmlns:a16="http://schemas.microsoft.com/office/drawing/2014/main" val="1649743159"/>
                  </a:ext>
                </a:extLst>
              </a:tr>
              <a:tr h="518009">
                <a:tc>
                  <a:txBody>
                    <a:bodyPr/>
                    <a:lstStyle/>
                    <a:p>
                      <a:pPr algn="l"/>
                      <a:r>
                        <a:rPr lang="en-US" dirty="0">
                          <a:latin typeface="Times New Roman" panose="02020603050405020304" pitchFamily="18" charset="0"/>
                          <a:cs typeface="Times New Roman" panose="02020603050405020304" pitchFamily="18" charset="0"/>
                        </a:rPr>
                        <a:t>GSE27262</a:t>
                      </a:r>
                    </a:p>
                  </a:txBody>
                  <a:tcPr/>
                </a:tc>
                <a:tc>
                  <a:txBody>
                    <a:bodyPr/>
                    <a:lstStyle/>
                    <a:p>
                      <a:pPr algn="ctr"/>
                      <a:r>
                        <a:rPr lang="en-US" dirty="0">
                          <a:latin typeface="Times New Roman" panose="02020603050405020304" pitchFamily="18" charset="0"/>
                          <a:cs typeface="Times New Roman" panose="02020603050405020304" pitchFamily="18" charset="0"/>
                        </a:rPr>
                        <a:t>GPL570</a:t>
                      </a:r>
                    </a:p>
                  </a:txBody>
                  <a:tcPr/>
                </a:tc>
                <a:tc>
                  <a:txBody>
                    <a:bodyPr/>
                    <a:lstStyle/>
                    <a:p>
                      <a:pPr algn="ctr"/>
                      <a:r>
                        <a:rPr lang="en-US" dirty="0">
                          <a:latin typeface="Times New Roman" panose="02020603050405020304" pitchFamily="18" charset="0"/>
                          <a:cs typeface="Times New Roman" panose="02020603050405020304" pitchFamily="18" charset="0"/>
                        </a:rPr>
                        <a:t>25</a:t>
                      </a:r>
                    </a:p>
                  </a:txBody>
                  <a:tcPr/>
                </a:tc>
                <a:tc>
                  <a:txBody>
                    <a:bodyPr/>
                    <a:lstStyle/>
                    <a:p>
                      <a:pPr algn="ctr"/>
                      <a:r>
                        <a:rPr lang="en-US" dirty="0">
                          <a:latin typeface="Times New Roman" panose="02020603050405020304" pitchFamily="18" charset="0"/>
                          <a:cs typeface="Times New Roman" panose="02020603050405020304" pitchFamily="18" charset="0"/>
                        </a:rPr>
                        <a:t>25</a:t>
                      </a:r>
                    </a:p>
                  </a:txBody>
                  <a:tcPr/>
                </a:tc>
                <a:tc>
                  <a:txBody>
                    <a:bodyPr/>
                    <a:lstStyle/>
                    <a:p>
                      <a:pPr algn="ctr"/>
                      <a:r>
                        <a:rPr lang="en-US" dirty="0">
                          <a:latin typeface="Times New Roman" panose="02020603050405020304" pitchFamily="18" charset="0"/>
                          <a:cs typeface="Times New Roman" panose="02020603050405020304" pitchFamily="18" charset="0"/>
                        </a:rPr>
                        <a:t>50</a:t>
                      </a:r>
                    </a:p>
                  </a:txBody>
                  <a:tcPr/>
                </a:tc>
                <a:extLst>
                  <a:ext uri="{0D108BD9-81ED-4DB2-BD59-A6C34878D82A}">
                    <a16:rowId xmlns:a16="http://schemas.microsoft.com/office/drawing/2014/main" val="3753235195"/>
                  </a:ext>
                </a:extLst>
              </a:tr>
              <a:tr h="518009">
                <a:tc>
                  <a:txBody>
                    <a:bodyPr/>
                    <a:lstStyle/>
                    <a:p>
                      <a:pPr algn="l"/>
                      <a:r>
                        <a:rPr lang="en-US" dirty="0">
                          <a:latin typeface="Times New Roman" panose="02020603050405020304" pitchFamily="18" charset="0"/>
                          <a:cs typeface="Times New Roman" panose="02020603050405020304" pitchFamily="18" charset="0"/>
                        </a:rPr>
                        <a:t>GSE33532</a:t>
                      </a:r>
                    </a:p>
                  </a:txBody>
                  <a:tcPr/>
                </a:tc>
                <a:tc>
                  <a:txBody>
                    <a:bodyPr/>
                    <a:lstStyle/>
                    <a:p>
                      <a:pPr algn="ctr"/>
                      <a:r>
                        <a:rPr lang="en-US" dirty="0">
                          <a:latin typeface="Times New Roman" panose="02020603050405020304" pitchFamily="18" charset="0"/>
                          <a:cs typeface="Times New Roman" panose="02020603050405020304" pitchFamily="18" charset="0"/>
                        </a:rPr>
                        <a:t>GPL570</a:t>
                      </a:r>
                    </a:p>
                  </a:txBody>
                  <a:tcPr/>
                </a:tc>
                <a:tc>
                  <a:txBody>
                    <a:bodyPr/>
                    <a:lstStyle/>
                    <a:p>
                      <a:pPr algn="ctr"/>
                      <a:r>
                        <a:rPr lang="en-US" dirty="0">
                          <a:latin typeface="Times New Roman" panose="02020603050405020304" pitchFamily="18" charset="0"/>
                          <a:cs typeface="Times New Roman" panose="02020603050405020304" pitchFamily="18" charset="0"/>
                        </a:rPr>
                        <a:t>80</a:t>
                      </a:r>
                    </a:p>
                  </a:txBody>
                  <a:tcPr/>
                </a:tc>
                <a:tc>
                  <a:txBody>
                    <a:bodyPr/>
                    <a:lstStyle/>
                    <a:p>
                      <a:pPr algn="ctr"/>
                      <a:r>
                        <a:rPr lang="en-US" dirty="0">
                          <a:latin typeface="Times New Roman" panose="02020603050405020304" pitchFamily="18" charset="0"/>
                          <a:cs typeface="Times New Roman" panose="02020603050405020304" pitchFamily="18" charset="0"/>
                        </a:rPr>
                        <a:t>20</a:t>
                      </a:r>
                    </a:p>
                  </a:txBody>
                  <a:tcPr/>
                </a:tc>
                <a:tc>
                  <a:txBody>
                    <a:bodyPr/>
                    <a:lstStyle/>
                    <a:p>
                      <a:pPr algn="ctr"/>
                      <a:r>
                        <a:rPr lang="en-US" dirty="0">
                          <a:latin typeface="Times New Roman" panose="02020603050405020304" pitchFamily="18" charset="0"/>
                          <a:cs typeface="Times New Roman" panose="02020603050405020304" pitchFamily="18" charset="0"/>
                        </a:rPr>
                        <a:t>100</a:t>
                      </a:r>
                    </a:p>
                  </a:txBody>
                  <a:tcPr/>
                </a:tc>
                <a:extLst>
                  <a:ext uri="{0D108BD9-81ED-4DB2-BD59-A6C34878D82A}">
                    <a16:rowId xmlns:a16="http://schemas.microsoft.com/office/drawing/2014/main" val="3965784766"/>
                  </a:ext>
                </a:extLst>
              </a:tr>
              <a:tr h="518009">
                <a:tc>
                  <a:txBody>
                    <a:bodyPr/>
                    <a:lstStyle/>
                    <a:p>
                      <a:pPr algn="l"/>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GSE40791</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GPL570</a:t>
                      </a:r>
                    </a:p>
                  </a:txBody>
                  <a:tcPr/>
                </a:tc>
                <a:tc>
                  <a:txBody>
                    <a:bodyPr/>
                    <a:lstStyle/>
                    <a:p>
                      <a:pPr algn="ctr"/>
                      <a:r>
                        <a:rPr lang="en-US" dirty="0">
                          <a:latin typeface="Times New Roman" panose="02020603050405020304" pitchFamily="18" charset="0"/>
                          <a:cs typeface="Times New Roman" panose="02020603050405020304" pitchFamily="18" charset="0"/>
                        </a:rPr>
                        <a:t>94</a:t>
                      </a:r>
                    </a:p>
                  </a:txBody>
                  <a:tcPr/>
                </a:tc>
                <a:tc>
                  <a:txBody>
                    <a:bodyPr/>
                    <a:lstStyle/>
                    <a:p>
                      <a:pPr algn="ctr"/>
                      <a:r>
                        <a:rPr lang="en-US" dirty="0">
                          <a:latin typeface="Times New Roman" panose="02020603050405020304" pitchFamily="18" charset="0"/>
                          <a:cs typeface="Times New Roman" panose="02020603050405020304" pitchFamily="18" charset="0"/>
                        </a:rPr>
                        <a:t>100</a:t>
                      </a:r>
                    </a:p>
                  </a:txBody>
                  <a:tcPr/>
                </a:tc>
                <a:tc>
                  <a:txBody>
                    <a:bodyPr/>
                    <a:lstStyle/>
                    <a:p>
                      <a:pPr algn="ctr"/>
                      <a:r>
                        <a:rPr lang="en-US" dirty="0">
                          <a:latin typeface="Times New Roman" panose="02020603050405020304" pitchFamily="18" charset="0"/>
                          <a:cs typeface="Times New Roman" panose="02020603050405020304" pitchFamily="18" charset="0"/>
                        </a:rPr>
                        <a:t>194</a:t>
                      </a:r>
                    </a:p>
                  </a:txBody>
                  <a:tcPr/>
                </a:tc>
                <a:extLst>
                  <a:ext uri="{0D108BD9-81ED-4DB2-BD59-A6C34878D82A}">
                    <a16:rowId xmlns:a16="http://schemas.microsoft.com/office/drawing/2014/main" val="3167882079"/>
                  </a:ext>
                </a:extLst>
              </a:tr>
              <a:tr h="518009">
                <a:tc>
                  <a:txBody>
                    <a:bodyPr/>
                    <a:lstStyle/>
                    <a:p>
                      <a:pPr algn="l"/>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TCGA-LUAD</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a:t>
                      </a:r>
                    </a:p>
                  </a:txBody>
                  <a:tcPr/>
                </a:tc>
                <a:tc>
                  <a:txBody>
                    <a:bodyPr/>
                    <a:lstStyle/>
                    <a:p>
                      <a:pPr algn="ctr"/>
                      <a:r>
                        <a:rPr lang="en-US" dirty="0">
                          <a:latin typeface="Times New Roman" panose="02020603050405020304" pitchFamily="18" charset="0"/>
                          <a:cs typeface="Times New Roman" panose="02020603050405020304" pitchFamily="18" charset="0"/>
                        </a:rPr>
                        <a:t>541</a:t>
                      </a:r>
                    </a:p>
                  </a:txBody>
                  <a:tcPr/>
                </a:tc>
                <a:tc>
                  <a:txBody>
                    <a:bodyPr/>
                    <a:lstStyle/>
                    <a:p>
                      <a:pPr algn="ctr"/>
                      <a:r>
                        <a:rPr lang="en-US" dirty="0">
                          <a:latin typeface="Times New Roman" panose="02020603050405020304" pitchFamily="18" charset="0"/>
                          <a:cs typeface="Times New Roman" panose="02020603050405020304" pitchFamily="18" charset="0"/>
                        </a:rPr>
                        <a:t>59</a:t>
                      </a:r>
                    </a:p>
                  </a:txBody>
                  <a:tcPr/>
                </a:tc>
                <a:tc>
                  <a:txBody>
                    <a:bodyPr/>
                    <a:lstStyle/>
                    <a:p>
                      <a:pPr algn="ctr"/>
                      <a:r>
                        <a:rPr lang="en-US" dirty="0">
                          <a:latin typeface="Times New Roman" panose="02020603050405020304" pitchFamily="18" charset="0"/>
                          <a:cs typeface="Times New Roman" panose="02020603050405020304" pitchFamily="18" charset="0"/>
                        </a:rPr>
                        <a:t>600</a:t>
                      </a:r>
                    </a:p>
                  </a:txBody>
                  <a:tcPr/>
                </a:tc>
                <a:extLst>
                  <a:ext uri="{0D108BD9-81ED-4DB2-BD59-A6C34878D82A}">
                    <a16:rowId xmlns:a16="http://schemas.microsoft.com/office/drawing/2014/main" val="401346492"/>
                  </a:ext>
                </a:extLst>
              </a:tr>
            </a:tbl>
          </a:graphicData>
        </a:graphic>
      </p:graphicFrame>
    </p:spTree>
    <p:extLst>
      <p:ext uri="{BB962C8B-B14F-4D97-AF65-F5344CB8AC3E}">
        <p14:creationId xmlns:p14="http://schemas.microsoft.com/office/powerpoint/2010/main" val="4242498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BBD6F88-4BB1-26CD-0DA8-1785248C7BC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B28F09DE-F948-168E-305D-D471ECCF8D0F}"/>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32825" y="-3853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A24FE246-D137-7490-BE3A-B67F0196CD1D}"/>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95382" cy="464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5FD1F7D7-548F-C22E-1537-366EEEEEF6B0}"/>
              </a:ext>
            </a:extLst>
          </p:cNvPr>
          <p:cNvSpPr/>
          <p:nvPr/>
        </p:nvSpPr>
        <p:spPr>
          <a:xfrm>
            <a:off x="11529373" y="6299126"/>
            <a:ext cx="495383" cy="461665"/>
          </a:xfrm>
          <a:prstGeom prst="rect">
            <a:avLst/>
          </a:prstGeom>
        </p:spPr>
        <p:txBody>
          <a:bodyPr wrap="square">
            <a:spAutoFit/>
          </a:bodyPr>
          <a:lstStyle/>
          <a:p>
            <a:r>
              <a:rPr lang="en-US" sz="2400" b="1" dirty="0">
                <a:solidFill>
                  <a:schemeClr val="tx1">
                    <a:lumMod val="50000"/>
                    <a:lumOff val="50000"/>
                  </a:schemeClr>
                </a:solidFill>
              </a:rPr>
              <a:t>13</a:t>
            </a:r>
          </a:p>
        </p:txBody>
      </p:sp>
      <p:pic>
        <p:nvPicPr>
          <p:cNvPr id="8" name="Picture 7">
            <a:extLst>
              <a:ext uri="{FF2B5EF4-FFF2-40B4-BE49-F238E27FC236}">
                <a16:creationId xmlns:a16="http://schemas.microsoft.com/office/drawing/2014/main" id="{0CBB1D95-260A-4AC9-338F-9965F072B3C4}"/>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969961F0-F84A-97ED-06CA-DF47E27D3D5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F519D601-E462-1511-71E3-74CEFF6F1E51}"/>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E813A795-7B8F-6B83-FEBE-1DE8A3ECC42F}"/>
              </a:ext>
            </a:extLst>
          </p:cNvPr>
          <p:cNvSpPr/>
          <p:nvPr/>
        </p:nvSpPr>
        <p:spPr>
          <a:xfrm>
            <a:off x="2869810" y="305492"/>
            <a:ext cx="6555544"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Methodology</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Cont</a:t>
            </a:r>
            <a:r>
              <a:rPr lang="en-US" sz="3600" b="1" dirty="0">
                <a:solidFill>
                  <a:schemeClr val="bg1"/>
                </a:solidFill>
                <a:latin typeface="Times New Roman" panose="02020603050405020304" pitchFamily="18" charset="0"/>
                <a:cs typeface="Times New Roman" panose="02020603050405020304" pitchFamily="18" charset="0"/>
              </a:rPr>
              <a:t>…</a:t>
            </a:r>
          </a:p>
        </p:txBody>
      </p:sp>
      <p:sp>
        <p:nvSpPr>
          <p:cNvPr id="289" name="Google Shape;289;p32">
            <a:extLst>
              <a:ext uri="{FF2B5EF4-FFF2-40B4-BE49-F238E27FC236}">
                <a16:creationId xmlns:a16="http://schemas.microsoft.com/office/drawing/2014/main" id="{1D2BEB82-FFA0-749D-22FA-1EE4FC73BDF8}"/>
              </a:ext>
            </a:extLst>
          </p:cNvPr>
          <p:cNvSpPr txBox="1"/>
          <p:nvPr/>
        </p:nvSpPr>
        <p:spPr>
          <a:xfrm>
            <a:off x="3682530" y="4994710"/>
            <a:ext cx="927600" cy="50010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400" b="0" i="0" u="none" strike="noStrike" cap="none" dirty="0">
                <a:solidFill>
                  <a:schemeClr val="lt1"/>
                </a:solidFill>
                <a:latin typeface="Times New Roman"/>
                <a:ea typeface="Times New Roman"/>
                <a:cs typeface="Times New Roman"/>
                <a:sym typeface="Times New Roman"/>
              </a:rPr>
              <a:t>Cross Validation</a:t>
            </a:r>
            <a:endParaRPr sz="1400" b="0" i="0" u="none" strike="noStrike" cap="none">
              <a:solidFill>
                <a:schemeClr val="lt1"/>
              </a:solidFill>
              <a:latin typeface="Times New Roman"/>
              <a:ea typeface="Times New Roman"/>
              <a:cs typeface="Times New Roman"/>
              <a:sym typeface="Times New Roman"/>
            </a:endParaRPr>
          </a:p>
        </p:txBody>
      </p:sp>
      <p:sp>
        <p:nvSpPr>
          <p:cNvPr id="292" name="Google Shape;292;p32">
            <a:extLst>
              <a:ext uri="{FF2B5EF4-FFF2-40B4-BE49-F238E27FC236}">
                <a16:creationId xmlns:a16="http://schemas.microsoft.com/office/drawing/2014/main" id="{F7314B68-E898-4A2E-E0FE-08DE26665D8D}"/>
              </a:ext>
            </a:extLst>
          </p:cNvPr>
          <p:cNvSpPr txBox="1"/>
          <p:nvPr/>
        </p:nvSpPr>
        <p:spPr>
          <a:xfrm>
            <a:off x="6731067" y="4685221"/>
            <a:ext cx="4605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dirty="0">
                <a:solidFill>
                  <a:schemeClr val="lt1"/>
                </a:solidFill>
                <a:latin typeface="Times New Roman"/>
                <a:ea typeface="Times New Roman"/>
                <a:cs typeface="Times New Roman"/>
                <a:sym typeface="Times New Roman"/>
              </a:rPr>
              <a:t>Train</a:t>
            </a:r>
            <a:endParaRPr sz="900">
              <a:solidFill>
                <a:schemeClr val="lt1"/>
              </a:solidFill>
              <a:latin typeface="Times New Roman"/>
              <a:ea typeface="Times New Roman"/>
              <a:cs typeface="Times New Roman"/>
              <a:sym typeface="Times New Roman"/>
            </a:endParaRPr>
          </a:p>
        </p:txBody>
      </p:sp>
      <p:sp>
        <p:nvSpPr>
          <p:cNvPr id="2" name="Date Placeholder 1">
            <a:extLst>
              <a:ext uri="{FF2B5EF4-FFF2-40B4-BE49-F238E27FC236}">
                <a16:creationId xmlns:a16="http://schemas.microsoft.com/office/drawing/2014/main" id="{482A8617-5A2E-FCF9-5263-982728380FBA}"/>
              </a:ext>
            </a:extLst>
          </p:cNvPr>
          <p:cNvSpPr>
            <a:spLocks noGrp="1"/>
          </p:cNvSpPr>
          <p:nvPr>
            <p:ph type="dt" sz="half" idx="10"/>
          </p:nvPr>
        </p:nvSpPr>
        <p:spPr/>
        <p:txBody>
          <a:bodyPr/>
          <a:lstStyle/>
          <a:p>
            <a:fld id="{5FA09178-BD8A-40DD-A4C5-D01F3B712C9C}"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74A39AC-F2D2-E210-139F-17BE88FCE771}"/>
              </a:ext>
            </a:extLst>
          </p:cNvPr>
          <p:cNvSpPr>
            <a:spLocks noGrp="1"/>
          </p:cNvSpPr>
          <p:nvPr>
            <p:ph type="ftr" sz="quarter" idx="11"/>
          </p:nvPr>
        </p:nvSpPr>
        <p:spPr>
          <a:xfrm>
            <a:off x="3984011" y="6469510"/>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6" name="TextBox 5">
            <a:extLst>
              <a:ext uri="{FF2B5EF4-FFF2-40B4-BE49-F238E27FC236}">
                <a16:creationId xmlns:a16="http://schemas.microsoft.com/office/drawing/2014/main" id="{77232412-1B6D-5DE8-A7B4-99BA47C5F5FE}"/>
              </a:ext>
            </a:extLst>
          </p:cNvPr>
          <p:cNvSpPr txBox="1"/>
          <p:nvPr/>
        </p:nvSpPr>
        <p:spPr>
          <a:xfrm>
            <a:off x="140237" y="1230556"/>
            <a:ext cx="5121194" cy="677108"/>
          </a:xfrm>
          <a:prstGeom prst="rect">
            <a:avLst/>
          </a:prstGeom>
          <a:noFill/>
        </p:spPr>
        <p:txBody>
          <a:bodyPr wrap="square" rtlCol="0">
            <a:spAutoFit/>
          </a:bodyPr>
          <a:lstStyle/>
          <a:p>
            <a:pPr marL="342900" indent="-342900">
              <a:buFont typeface="Wingdings" panose="05000000000000000000" pitchFamily="2" charset="2"/>
              <a:buChar char="v"/>
            </a:pPr>
            <a:r>
              <a:rPr lang="en-US" sz="2000" dirty="0">
                <a:solidFill>
                  <a:srgbClr val="0070C0"/>
                </a:solidFill>
                <a:latin typeface="Times New Roman" panose="02020603050405020304" pitchFamily="18" charset="0"/>
                <a:cs typeface="Times New Roman" panose="02020603050405020304" pitchFamily="18" charset="0"/>
              </a:rPr>
              <a:t>Data Preprocessing (</a:t>
            </a:r>
            <a:r>
              <a:rPr lang="en-US" sz="2000" dirty="0" err="1">
                <a:solidFill>
                  <a:srgbClr val="0070C0"/>
                </a:solidFill>
                <a:latin typeface="Times New Roman" panose="02020603050405020304" pitchFamily="18" charset="0"/>
                <a:cs typeface="Times New Roman" panose="02020603050405020304" pitchFamily="18" charset="0"/>
              </a:rPr>
              <a:t>Limma</a:t>
            </a:r>
            <a:r>
              <a:rPr lang="en-US" sz="2000" dirty="0">
                <a:solidFill>
                  <a:srgbClr val="0070C0"/>
                </a:solidFill>
                <a:latin typeface="Times New Roman" panose="02020603050405020304" pitchFamily="18" charset="0"/>
                <a:cs typeface="Times New Roman" panose="02020603050405020304" pitchFamily="18" charset="0"/>
              </a:rPr>
              <a:t> &amp; ML-Based)</a:t>
            </a:r>
          </a:p>
          <a:p>
            <a:endParaRPr lang="en-US" dirty="0"/>
          </a:p>
        </p:txBody>
      </p:sp>
      <p:sp>
        <p:nvSpPr>
          <p:cNvPr id="7" name="TextBox 6">
            <a:extLst>
              <a:ext uri="{FF2B5EF4-FFF2-40B4-BE49-F238E27FC236}">
                <a16:creationId xmlns:a16="http://schemas.microsoft.com/office/drawing/2014/main" id="{C2321472-FB96-8D90-D5FB-7020F28EFAF1}"/>
              </a:ext>
            </a:extLst>
          </p:cNvPr>
          <p:cNvSpPr txBox="1"/>
          <p:nvPr/>
        </p:nvSpPr>
        <p:spPr>
          <a:xfrm>
            <a:off x="351674" y="2015917"/>
            <a:ext cx="4258456" cy="400110"/>
          </a:xfrm>
          <a:prstGeom prst="rect">
            <a:avLst/>
          </a:prstGeom>
          <a:noFill/>
        </p:spPr>
        <p:txBody>
          <a:bodyPr wrap="square" rtlCol="0">
            <a:spAutoFit/>
          </a:bodyPr>
          <a:lstStyle/>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Find DEGs using </a:t>
            </a:r>
            <a:r>
              <a:rPr lang="en-US" sz="2000" b="1" dirty="0" err="1">
                <a:latin typeface="Times New Roman" panose="02020603050405020304" pitchFamily="18" charset="0"/>
                <a:cs typeface="Times New Roman" panose="02020603050405020304" pitchFamily="18" charset="0"/>
              </a:rPr>
              <a:t>limma</a:t>
            </a:r>
            <a:r>
              <a:rPr lang="en-US" sz="2000" b="1" dirty="0">
                <a:latin typeface="Times New Roman" panose="02020603050405020304" pitchFamily="18" charset="0"/>
                <a:cs typeface="Times New Roman" panose="02020603050405020304" pitchFamily="18" charset="0"/>
              </a:rPr>
              <a:t> package</a:t>
            </a:r>
          </a:p>
        </p:txBody>
      </p:sp>
      <p:sp>
        <p:nvSpPr>
          <p:cNvPr id="13" name="TextBox 12">
            <a:extLst>
              <a:ext uri="{FF2B5EF4-FFF2-40B4-BE49-F238E27FC236}">
                <a16:creationId xmlns:a16="http://schemas.microsoft.com/office/drawing/2014/main" id="{1BE67634-811C-D8E9-A24B-C73C7287B7F9}"/>
              </a:ext>
            </a:extLst>
          </p:cNvPr>
          <p:cNvSpPr txBox="1"/>
          <p:nvPr/>
        </p:nvSpPr>
        <p:spPr>
          <a:xfrm>
            <a:off x="305011" y="2801260"/>
            <a:ext cx="11329143" cy="2308324"/>
          </a:xfrm>
          <a:prstGeom prst="rect">
            <a:avLst/>
          </a:prstGeom>
          <a:noFill/>
        </p:spPr>
        <p:txBody>
          <a:bodyPr wrap="square" rtlCol="0">
            <a:spAutoFit/>
          </a:bodyPr>
          <a:lstStyle/>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 this study, the raw expression data obtained from the GEO and TCGA were processed and analyzed using the </a:t>
            </a:r>
            <a:r>
              <a:rPr lang="en-US" dirty="0" err="1">
                <a:latin typeface="Times New Roman" panose="02020603050405020304" pitchFamily="18" charset="0"/>
                <a:cs typeface="Times New Roman" panose="02020603050405020304" pitchFamily="18" charset="0"/>
              </a:rPr>
              <a:t>limma</a:t>
            </a:r>
            <a:r>
              <a:rPr lang="en-US" dirty="0">
                <a:latin typeface="Times New Roman" panose="02020603050405020304" pitchFamily="18" charset="0"/>
                <a:cs typeface="Times New Roman" panose="02020603050405020304" pitchFamily="18" charset="0"/>
              </a:rPr>
              <a:t> package.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Genes with an adjusted P-value &lt; 0.05 and an absolute |log2 FC| &gt; 1 were identified as differentially expressed genes (DEGs) and analyzed using R software.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DEGs with log2 FC &lt; −1 were classified as downregulated, while those with log2 FC &gt; 1 were considered upregulated.</a:t>
            </a:r>
          </a:p>
        </p:txBody>
      </p:sp>
    </p:spTree>
    <p:extLst>
      <p:ext uri="{BB962C8B-B14F-4D97-AF65-F5344CB8AC3E}">
        <p14:creationId xmlns:p14="http://schemas.microsoft.com/office/powerpoint/2010/main" val="1098398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4EADB32-9D48-A010-A008-2A12AEB3F0A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288666FB-376E-EF2E-38DF-59BA78E56496}"/>
              </a:ext>
            </a:extLst>
          </p:cNvPr>
          <p:cNvPicPr>
            <a:picLocks noChangeAspect="1"/>
          </p:cNvPicPr>
          <p:nvPr/>
        </p:nvPicPr>
        <p:blipFill rotWithShape="1">
          <a:blip r:embed="rId3">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54589" y="2782"/>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3C98BF6E-B236-E6F4-63E5-382A5C4B2CF0}"/>
              </a:ext>
            </a:extLst>
          </p:cNvPr>
          <p:cNvPicPr>
            <a:picLocks noChangeAspect="1"/>
          </p:cNvPicPr>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C0EAB512-596F-B3E1-9ADE-E04B58EC5E14}"/>
              </a:ext>
            </a:extLst>
          </p:cNvPr>
          <p:cNvSpPr/>
          <p:nvPr/>
        </p:nvSpPr>
        <p:spPr>
          <a:xfrm>
            <a:off x="11525433" y="6264396"/>
            <a:ext cx="499324" cy="461665"/>
          </a:xfrm>
          <a:prstGeom prst="rect">
            <a:avLst/>
          </a:prstGeom>
        </p:spPr>
        <p:txBody>
          <a:bodyPr wrap="square">
            <a:spAutoFit/>
          </a:bodyPr>
          <a:lstStyle/>
          <a:p>
            <a:r>
              <a:rPr lang="en-US" sz="2400" b="1" dirty="0">
                <a:solidFill>
                  <a:schemeClr val="tx1">
                    <a:lumMod val="50000"/>
                    <a:lumOff val="50000"/>
                  </a:schemeClr>
                </a:solidFill>
              </a:rPr>
              <a:t>14</a:t>
            </a:r>
          </a:p>
        </p:txBody>
      </p:sp>
      <p:pic>
        <p:nvPicPr>
          <p:cNvPr id="8" name="Picture 7">
            <a:extLst>
              <a:ext uri="{FF2B5EF4-FFF2-40B4-BE49-F238E27FC236}">
                <a16:creationId xmlns:a16="http://schemas.microsoft.com/office/drawing/2014/main" id="{B8F14E5F-9CD2-45C0-05A5-6A1B1265499B}"/>
              </a:ext>
            </a:extLst>
          </p:cNvPr>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AB79C8EF-16E3-04DD-3907-E702990E77D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31FDEB49-33A1-3E93-D807-B5E0C8BE7F01}"/>
              </a:ext>
            </a:extLst>
          </p:cNvPr>
          <p:cNvPicPr>
            <a:picLocks noChangeAspect="1"/>
          </p:cNvPicPr>
          <p:nvPr/>
        </p:nvPicPr>
        <p:blipFill>
          <a:blip r:embed="rId8"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91878DBA-0EEF-26BA-BC16-7E23B62A2A16}"/>
              </a:ext>
            </a:extLst>
          </p:cNvPr>
          <p:cNvSpPr/>
          <p:nvPr/>
        </p:nvSpPr>
        <p:spPr>
          <a:xfrm>
            <a:off x="2869810" y="305492"/>
            <a:ext cx="6555544"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Methodology</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Cont</a:t>
            </a:r>
            <a:r>
              <a:rPr lang="en-US" sz="3600" b="1" dirty="0">
                <a:solidFill>
                  <a:schemeClr val="bg1"/>
                </a:solidFill>
                <a:latin typeface="Times New Roman" panose="02020603050405020304" pitchFamily="18" charset="0"/>
                <a:cs typeface="Times New Roman" panose="02020603050405020304" pitchFamily="18" charset="0"/>
              </a:rPr>
              <a:t>…</a:t>
            </a:r>
          </a:p>
        </p:txBody>
      </p:sp>
      <p:sp>
        <p:nvSpPr>
          <p:cNvPr id="289" name="Google Shape;289;p32">
            <a:extLst>
              <a:ext uri="{FF2B5EF4-FFF2-40B4-BE49-F238E27FC236}">
                <a16:creationId xmlns:a16="http://schemas.microsoft.com/office/drawing/2014/main" id="{D032E881-60B0-463F-A5C6-687A9AF20F98}"/>
              </a:ext>
            </a:extLst>
          </p:cNvPr>
          <p:cNvSpPr txBox="1"/>
          <p:nvPr/>
        </p:nvSpPr>
        <p:spPr>
          <a:xfrm>
            <a:off x="3682530" y="4994710"/>
            <a:ext cx="927600" cy="50010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400" b="0" i="0" u="none" strike="noStrike" cap="none" dirty="0">
                <a:solidFill>
                  <a:schemeClr val="lt1"/>
                </a:solidFill>
                <a:latin typeface="Times New Roman"/>
                <a:ea typeface="Times New Roman"/>
                <a:cs typeface="Times New Roman"/>
                <a:sym typeface="Times New Roman"/>
              </a:rPr>
              <a:t>Cross Validation</a:t>
            </a:r>
            <a:endParaRPr sz="1400" b="0" i="0" u="none" strike="noStrike" cap="none">
              <a:solidFill>
                <a:schemeClr val="lt1"/>
              </a:solidFill>
              <a:latin typeface="Times New Roman"/>
              <a:ea typeface="Times New Roman"/>
              <a:cs typeface="Times New Roman"/>
              <a:sym typeface="Times New Roman"/>
            </a:endParaRPr>
          </a:p>
        </p:txBody>
      </p:sp>
      <p:sp>
        <p:nvSpPr>
          <p:cNvPr id="292" name="Google Shape;292;p32">
            <a:extLst>
              <a:ext uri="{FF2B5EF4-FFF2-40B4-BE49-F238E27FC236}">
                <a16:creationId xmlns:a16="http://schemas.microsoft.com/office/drawing/2014/main" id="{465A3105-9872-DF1A-5BCA-34CCF42D8584}"/>
              </a:ext>
            </a:extLst>
          </p:cNvPr>
          <p:cNvSpPr txBox="1"/>
          <p:nvPr/>
        </p:nvSpPr>
        <p:spPr>
          <a:xfrm>
            <a:off x="6731067" y="4685221"/>
            <a:ext cx="4605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dirty="0">
                <a:solidFill>
                  <a:schemeClr val="lt1"/>
                </a:solidFill>
                <a:latin typeface="Times New Roman"/>
                <a:ea typeface="Times New Roman"/>
                <a:cs typeface="Times New Roman"/>
                <a:sym typeface="Times New Roman"/>
              </a:rPr>
              <a:t>Train</a:t>
            </a:r>
            <a:endParaRPr sz="900">
              <a:solidFill>
                <a:schemeClr val="lt1"/>
              </a:solidFill>
              <a:latin typeface="Times New Roman"/>
              <a:ea typeface="Times New Roman"/>
              <a:cs typeface="Times New Roman"/>
              <a:sym typeface="Times New Roman"/>
            </a:endParaRPr>
          </a:p>
        </p:txBody>
      </p:sp>
      <p:sp>
        <p:nvSpPr>
          <p:cNvPr id="2" name="Date Placeholder 1">
            <a:extLst>
              <a:ext uri="{FF2B5EF4-FFF2-40B4-BE49-F238E27FC236}">
                <a16:creationId xmlns:a16="http://schemas.microsoft.com/office/drawing/2014/main" id="{CDA19E31-F2DF-66DE-0B61-92DC4234F0A2}"/>
              </a:ext>
            </a:extLst>
          </p:cNvPr>
          <p:cNvSpPr>
            <a:spLocks noGrp="1"/>
          </p:cNvSpPr>
          <p:nvPr>
            <p:ph type="dt" sz="half" idx="10"/>
          </p:nvPr>
        </p:nvSpPr>
        <p:spPr/>
        <p:txBody>
          <a:bodyPr/>
          <a:lstStyle/>
          <a:p>
            <a:fld id="{5FA09178-BD8A-40DD-A4C5-D01F3B712C9C}"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13C735B-636E-775A-58F2-DDF703C35AA2}"/>
              </a:ext>
            </a:extLst>
          </p:cNvPr>
          <p:cNvSpPr>
            <a:spLocks noGrp="1"/>
          </p:cNvSpPr>
          <p:nvPr>
            <p:ph type="ftr" sz="quarter" idx="11"/>
          </p:nvPr>
        </p:nvSpPr>
        <p:spPr>
          <a:xfrm>
            <a:off x="3984011" y="6469510"/>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6" name="TextBox 5">
            <a:extLst>
              <a:ext uri="{FF2B5EF4-FFF2-40B4-BE49-F238E27FC236}">
                <a16:creationId xmlns:a16="http://schemas.microsoft.com/office/drawing/2014/main" id="{B60D4528-5E0F-1490-C14E-14B32C1041F7}"/>
              </a:ext>
            </a:extLst>
          </p:cNvPr>
          <p:cNvSpPr txBox="1"/>
          <p:nvPr/>
        </p:nvSpPr>
        <p:spPr>
          <a:xfrm>
            <a:off x="140237" y="1033880"/>
            <a:ext cx="5121194" cy="646331"/>
          </a:xfrm>
          <a:prstGeom prst="rect">
            <a:avLst/>
          </a:prstGeom>
          <a:noFill/>
        </p:spPr>
        <p:txBody>
          <a:bodyPr wrap="square" rtlCol="0">
            <a:spAutoFit/>
          </a:bodyPr>
          <a:lstStyle/>
          <a:p>
            <a:pPr marL="342900" indent="-342900">
              <a:buFont typeface="Wingdings" panose="05000000000000000000" pitchFamily="2" charset="2"/>
              <a:buChar char="v"/>
            </a:pPr>
            <a:r>
              <a:rPr lang="en-US" b="1" dirty="0">
                <a:solidFill>
                  <a:srgbClr val="0070C0"/>
                </a:solidFill>
                <a:latin typeface="Times New Roman" panose="02020603050405020304" pitchFamily="18" charset="0"/>
                <a:cs typeface="Times New Roman" panose="02020603050405020304" pitchFamily="18" charset="0"/>
              </a:rPr>
              <a:t>ML-based DEGs Selection</a:t>
            </a:r>
          </a:p>
          <a:p>
            <a:endParaRPr lang="en-US" dirty="0"/>
          </a:p>
        </p:txBody>
      </p:sp>
      <p:sp>
        <p:nvSpPr>
          <p:cNvPr id="7" name="TextBox 6">
            <a:extLst>
              <a:ext uri="{FF2B5EF4-FFF2-40B4-BE49-F238E27FC236}">
                <a16:creationId xmlns:a16="http://schemas.microsoft.com/office/drawing/2014/main" id="{6D060206-6ADD-6570-140C-044119AF3B32}"/>
              </a:ext>
            </a:extLst>
          </p:cNvPr>
          <p:cNvSpPr txBox="1"/>
          <p:nvPr/>
        </p:nvSpPr>
        <p:spPr>
          <a:xfrm>
            <a:off x="305011" y="1419894"/>
            <a:ext cx="4956420" cy="369332"/>
          </a:xfrm>
          <a:prstGeom prst="rect">
            <a:avLst/>
          </a:prstGeom>
          <a:noFill/>
        </p:spPr>
        <p:txBody>
          <a:bodyPr wrap="square" rtlCol="0">
            <a:spAutoFit/>
          </a:bodyPr>
          <a:lstStyle/>
          <a:p>
            <a:pPr marL="34290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First-step gene selection using </a:t>
            </a:r>
            <a:r>
              <a:rPr lang="en-US" b="1" dirty="0" err="1">
                <a:latin typeface="Times New Roman" panose="02020603050405020304" pitchFamily="18" charset="0"/>
                <a:cs typeface="Times New Roman" panose="02020603050405020304" pitchFamily="18" charset="0"/>
              </a:rPr>
              <a:t>mRMR</a:t>
            </a:r>
            <a:endParaRPr lang="en-US"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6AAB6C5-9D0D-F39C-CF90-AF5A11F4D66A}"/>
              </a:ext>
            </a:extLst>
          </p:cNvPr>
          <p:cNvSpPr txBox="1"/>
          <p:nvPr/>
        </p:nvSpPr>
        <p:spPr>
          <a:xfrm>
            <a:off x="695614" y="1839193"/>
            <a:ext cx="11329143" cy="1754326"/>
          </a:xfrm>
          <a:prstGeom prst="rect">
            <a:avLst/>
          </a:prstGeom>
          <a:noFill/>
        </p:spPr>
        <p:txBody>
          <a:bodyPr wrap="square" rtlCol="0">
            <a:spAutoFit/>
          </a:bodyPr>
          <a:lstStyle/>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Differentially expressed genes (DEGs) are typically identified using empirical Bayes moderated tests with FDR adjustments. While effective, this method doesn’t address redundancy among genes.</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err="1">
                <a:latin typeface="Times New Roman" panose="02020603050405020304" pitchFamily="18" charset="0"/>
                <a:cs typeface="Times New Roman" panose="02020603050405020304" pitchFamily="18" charset="0"/>
              </a:rPr>
              <a:t>mRMR</a:t>
            </a:r>
            <a:r>
              <a:rPr lang="en-US" dirty="0">
                <a:latin typeface="Times New Roman" panose="02020603050405020304" pitchFamily="18" charset="0"/>
                <a:cs typeface="Times New Roman" panose="02020603050405020304" pitchFamily="18" charset="0"/>
              </a:rPr>
              <a:t>, improves feature selection by balancing relevance and minimize redundancy.</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Widely used in machine learning and multi-omics research, </a:t>
            </a:r>
            <a:r>
              <a:rPr lang="en-US" dirty="0" err="1">
                <a:latin typeface="Times New Roman" panose="02020603050405020304" pitchFamily="18" charset="0"/>
                <a:cs typeface="Times New Roman" panose="02020603050405020304" pitchFamily="18" charset="0"/>
              </a:rPr>
              <a:t>mRMR</a:t>
            </a:r>
            <a:r>
              <a:rPr lang="en-US" dirty="0">
                <a:latin typeface="Times New Roman" panose="02020603050405020304" pitchFamily="18" charset="0"/>
                <a:cs typeface="Times New Roman" panose="02020603050405020304" pitchFamily="18" charset="0"/>
              </a:rPr>
              <a:t> enhances the quality of selected gene subsets.</a:t>
            </a:r>
          </a:p>
        </p:txBody>
      </p:sp>
      <p:sp>
        <p:nvSpPr>
          <p:cNvPr id="14" name="TextBox 13">
            <a:extLst>
              <a:ext uri="{FF2B5EF4-FFF2-40B4-BE49-F238E27FC236}">
                <a16:creationId xmlns:a16="http://schemas.microsoft.com/office/drawing/2014/main" id="{91AC419F-D07D-661F-281D-58654F49729A}"/>
              </a:ext>
            </a:extLst>
          </p:cNvPr>
          <p:cNvSpPr txBox="1"/>
          <p:nvPr/>
        </p:nvSpPr>
        <p:spPr>
          <a:xfrm>
            <a:off x="391600" y="3623456"/>
            <a:ext cx="4956420" cy="369332"/>
          </a:xfrm>
          <a:prstGeom prst="rect">
            <a:avLst/>
          </a:prstGeom>
          <a:noFill/>
        </p:spPr>
        <p:txBody>
          <a:bodyPr wrap="square" rtlCol="0">
            <a:spAutoFit/>
          </a:bodyPr>
          <a:lstStyle/>
          <a:p>
            <a:pPr marL="34290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Second-step gene selection using SVM-RFE</a:t>
            </a:r>
          </a:p>
        </p:txBody>
      </p:sp>
      <p:sp>
        <p:nvSpPr>
          <p:cNvPr id="15" name="TextBox 14">
            <a:extLst>
              <a:ext uri="{FF2B5EF4-FFF2-40B4-BE49-F238E27FC236}">
                <a16:creationId xmlns:a16="http://schemas.microsoft.com/office/drawing/2014/main" id="{83BFFF11-9736-86FF-C396-62A4200FB046}"/>
              </a:ext>
            </a:extLst>
          </p:cNvPr>
          <p:cNvSpPr txBox="1"/>
          <p:nvPr/>
        </p:nvSpPr>
        <p:spPr>
          <a:xfrm>
            <a:off x="651448" y="4188500"/>
            <a:ext cx="11329143" cy="2031325"/>
          </a:xfrm>
          <a:prstGeom prst="rect">
            <a:avLst/>
          </a:prstGeom>
          <a:noFill/>
        </p:spPr>
        <p:txBody>
          <a:bodyPr wrap="square" rtlCol="0">
            <a:spAutoFit/>
          </a:bodyPr>
          <a:lstStyle/>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SVM-RFE is a supervised feature selection method that ranks genes by iteratively training an SVM model and removing the least important features.</a:t>
            </a:r>
          </a:p>
          <a:p>
            <a:pPr marL="285750" indent="-285750">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It identifies the most predictive genes, improving classification accuracy and interpretability.</a:t>
            </a:r>
          </a:p>
          <a:p>
            <a:pPr marL="285750" indent="-285750">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SVM-RFE ranks genes based on their influence on the decision boundary and progressively eliminates less important genes. </a:t>
            </a:r>
          </a:p>
        </p:txBody>
      </p:sp>
    </p:spTree>
    <p:extLst>
      <p:ext uri="{BB962C8B-B14F-4D97-AF65-F5344CB8AC3E}">
        <p14:creationId xmlns:p14="http://schemas.microsoft.com/office/powerpoint/2010/main" val="1003648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909901F-352F-91DD-6DBD-D8CFAB29DF85}"/>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08F66B5-9E01-43C5-B37A-A024320D1166}"/>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 y="-15169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F8EE1FED-5D44-0AF4-A124-52645643BB2A}"/>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73CBAD8D-DBDA-CDE4-BD4B-98382D034A2C}"/>
              </a:ext>
            </a:extLst>
          </p:cNvPr>
          <p:cNvSpPr/>
          <p:nvPr/>
        </p:nvSpPr>
        <p:spPr>
          <a:xfrm>
            <a:off x="11538497" y="6259810"/>
            <a:ext cx="600831" cy="461665"/>
          </a:xfrm>
          <a:prstGeom prst="rect">
            <a:avLst/>
          </a:prstGeom>
        </p:spPr>
        <p:txBody>
          <a:bodyPr wrap="square">
            <a:spAutoFit/>
          </a:bodyPr>
          <a:lstStyle/>
          <a:p>
            <a:r>
              <a:rPr lang="en-US" sz="2400" b="1" dirty="0">
                <a:solidFill>
                  <a:schemeClr val="tx1">
                    <a:lumMod val="50000"/>
                    <a:lumOff val="50000"/>
                  </a:schemeClr>
                </a:solidFill>
              </a:rPr>
              <a:t>15</a:t>
            </a:r>
          </a:p>
        </p:txBody>
      </p:sp>
      <p:pic>
        <p:nvPicPr>
          <p:cNvPr id="8" name="Picture 7">
            <a:extLst>
              <a:ext uri="{FF2B5EF4-FFF2-40B4-BE49-F238E27FC236}">
                <a16:creationId xmlns:a16="http://schemas.microsoft.com/office/drawing/2014/main" id="{1D99FC84-215C-F123-667F-DF29B32A3424}"/>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2FB971BA-C12D-E6E5-456B-E083022A631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07AF3FD2-FBCF-B4EC-3661-7403E0D417CC}"/>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2" name="TextBox 1">
            <a:extLst>
              <a:ext uri="{FF2B5EF4-FFF2-40B4-BE49-F238E27FC236}">
                <a16:creationId xmlns:a16="http://schemas.microsoft.com/office/drawing/2014/main" id="{446FA0B5-9A83-DB0D-03C9-71F8367EE24F}"/>
              </a:ext>
            </a:extLst>
          </p:cNvPr>
          <p:cNvSpPr txBox="1"/>
          <p:nvPr/>
        </p:nvSpPr>
        <p:spPr>
          <a:xfrm>
            <a:off x="4146975" y="2776685"/>
            <a:ext cx="3898048" cy="1754326"/>
          </a:xfrm>
          <a:prstGeom prst="rect">
            <a:avLst/>
          </a:prstGeom>
          <a:noFill/>
        </p:spPr>
        <p:txBody>
          <a:bodyPr wrap="square" rtlCol="0">
            <a:spAutoFit/>
          </a:bodyPr>
          <a:lstStyle/>
          <a:p>
            <a:pPr marL="457200" lvl="0" indent="-228600" algn="just" rtl="0">
              <a:spcBef>
                <a:spcPts val="0"/>
              </a:spcBef>
              <a:spcAft>
                <a:spcPts val="0"/>
              </a:spcAft>
              <a:buNone/>
            </a:pPr>
            <a:r>
              <a:rPr lang="en-US" sz="3600" b="1" dirty="0">
                <a:solidFill>
                  <a:schemeClr val="accent2"/>
                </a:solidFill>
                <a:latin typeface="Times New Roman"/>
                <a:ea typeface="Times New Roman"/>
                <a:cs typeface="Times New Roman"/>
                <a:sym typeface="Times New Roman"/>
              </a:rPr>
              <a:t>Result Analysis</a:t>
            </a:r>
            <a:endParaRPr lang="en-US" sz="3600" dirty="0">
              <a:solidFill>
                <a:schemeClr val="accent2"/>
              </a:solidFill>
              <a:latin typeface="Times New Roman"/>
              <a:ea typeface="Times New Roman"/>
              <a:cs typeface="Times New Roman"/>
              <a:sym typeface="Times New Roman"/>
            </a:endParaRPr>
          </a:p>
          <a:p>
            <a:pPr marL="469900" lvl="0" indent="-342900" algn="just">
              <a:buClr>
                <a:schemeClr val="dk1"/>
              </a:buClr>
              <a:buSzPts val="1600"/>
              <a:buFont typeface="Wingdings" panose="05000000000000000000" pitchFamily="2" charset="2"/>
              <a:buChar char="q"/>
            </a:pPr>
            <a:endParaRPr lang="en-US" sz="2400" dirty="0">
              <a:solidFill>
                <a:schemeClr val="dk1"/>
              </a:solidFill>
              <a:latin typeface="Times New Roman"/>
              <a:cs typeface="Times New Roman"/>
              <a:sym typeface="Times New Roman"/>
            </a:endParaRPr>
          </a:p>
          <a:p>
            <a:pPr marL="469900" lvl="0" indent="-342900" algn="just">
              <a:buClr>
                <a:schemeClr val="dk1"/>
              </a:buClr>
              <a:buSzPts val="16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469900" lvl="0" indent="-342900" algn="just">
              <a:buClr>
                <a:schemeClr val="dk1"/>
              </a:buClr>
              <a:buSzPts val="16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B4D341D9-FCE0-7F42-A8F7-D17B4DE1AA0B}"/>
              </a:ext>
            </a:extLst>
          </p:cNvPr>
          <p:cNvSpPr>
            <a:spLocks noGrp="1"/>
          </p:cNvSpPr>
          <p:nvPr>
            <p:ph type="dt" sz="half" idx="10"/>
          </p:nvPr>
        </p:nvSpPr>
        <p:spPr>
          <a:xfrm>
            <a:off x="647700" y="6323537"/>
            <a:ext cx="2743200" cy="365125"/>
          </a:xfrm>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FD8B1F9F-0DC0-0E55-69D2-4AD2A8F9D2E0}"/>
              </a:ext>
            </a:extLst>
          </p:cNvPr>
          <p:cNvSpPr>
            <a:spLocks noGrp="1"/>
          </p:cNvSpPr>
          <p:nvPr>
            <p:ph type="ftr" sz="quarter" idx="11"/>
          </p:nvPr>
        </p:nvSpPr>
        <p:spPr>
          <a:xfrm>
            <a:off x="4038599" y="6378575"/>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Tree>
    <p:extLst>
      <p:ext uri="{BB962C8B-B14F-4D97-AF65-F5344CB8AC3E}">
        <p14:creationId xmlns:p14="http://schemas.microsoft.com/office/powerpoint/2010/main" val="1366302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540031" y="6274223"/>
            <a:ext cx="711450" cy="461665"/>
          </a:xfrm>
          <a:prstGeom prst="rect">
            <a:avLst/>
          </a:prstGeom>
        </p:spPr>
        <p:txBody>
          <a:bodyPr wrap="square">
            <a:spAutoFit/>
          </a:bodyPr>
          <a:lstStyle/>
          <a:p>
            <a:r>
              <a:rPr lang="en-US" sz="2400" b="1" dirty="0">
                <a:solidFill>
                  <a:schemeClr val="tx1">
                    <a:lumMod val="50000"/>
                    <a:lumOff val="50000"/>
                  </a:schemeClr>
                </a:solidFill>
              </a:rPr>
              <a:t>16</a:t>
            </a:r>
          </a:p>
        </p:txBody>
      </p:sp>
      <p:pic>
        <p:nvPicPr>
          <p:cNvPr id="8" name="Picture 7"/>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p:cNvPicPr>
            <a:picLocks noChangeAspect="1"/>
          </p:cNvPicPr>
          <p:nvPr/>
        </p:nvPicPr>
        <p:blipFill>
          <a:blip r:embed="rId7" cstate="print">
            <a:duotone>
              <a:prstClr val="black"/>
              <a:schemeClr val="accent6">
                <a:tint val="45000"/>
                <a:satMod val="400000"/>
              </a:schemeClr>
            </a:duotone>
          </a:blip>
          <a:stretch>
            <a:fillRect/>
          </a:stretch>
        </p:blipFill>
        <p:spPr>
          <a:xfrm>
            <a:off x="1" y="4667536"/>
            <a:ext cx="4261540" cy="2045539"/>
          </a:xfrm>
          <a:prstGeom prst="rect">
            <a:avLst/>
          </a:prstGeom>
        </p:spPr>
      </p:pic>
      <p:sp>
        <p:nvSpPr>
          <p:cNvPr id="12" name="Rounded Rectangle 11"/>
          <p:cNvSpPr/>
          <p:nvPr/>
        </p:nvSpPr>
        <p:spPr>
          <a:xfrm>
            <a:off x="2743201" y="305492"/>
            <a:ext cx="5895840"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Visualization</a:t>
            </a:r>
            <a:r>
              <a:rPr lang="en-US" sz="3600" b="1" dirty="0">
                <a:solidFill>
                  <a:schemeClr val="bg1"/>
                </a:solidFill>
                <a:latin typeface="Times New Roman" panose="02020603050405020304" pitchFamily="18" charset="0"/>
                <a:cs typeface="Times New Roman" panose="02020603050405020304" pitchFamily="18" charset="0"/>
              </a:rPr>
              <a:t> of Datasets</a:t>
            </a:r>
          </a:p>
        </p:txBody>
      </p:sp>
      <p:sp>
        <p:nvSpPr>
          <p:cNvPr id="2" name="TextBox 1"/>
          <p:cNvSpPr txBox="1"/>
          <p:nvPr/>
        </p:nvSpPr>
        <p:spPr>
          <a:xfrm>
            <a:off x="478302" y="1535582"/>
            <a:ext cx="11109138" cy="1200329"/>
          </a:xfrm>
          <a:prstGeom prst="rect">
            <a:avLst/>
          </a:prstGeom>
          <a:noFill/>
        </p:spPr>
        <p:txBody>
          <a:bodyPr wrap="square" rtlCol="0">
            <a:spAutoFit/>
          </a:bodyPr>
          <a:lstStyle/>
          <a:p>
            <a:pPr marL="127000" lvl="0" algn="just">
              <a:buClr>
                <a:schemeClr val="dk1"/>
              </a:buClr>
              <a:buSzPts val="1600"/>
            </a:pPr>
            <a:endParaRPr lang="en-US" sz="2400" dirty="0">
              <a:latin typeface="Times New Roman" panose="02020603050405020304" pitchFamily="18" charset="0"/>
              <a:cs typeface="Times New Roman" panose="02020603050405020304" pitchFamily="18" charset="0"/>
            </a:endParaRPr>
          </a:p>
          <a:p>
            <a:pPr marL="469900" lvl="0" indent="-342900" algn="just">
              <a:buClr>
                <a:schemeClr val="dk1"/>
              </a:buClr>
              <a:buSzPts val="16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469900" lvl="0" indent="-342900" algn="just">
              <a:buClr>
                <a:schemeClr val="dk1"/>
              </a:buClr>
              <a:buSzPts val="16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499556D7-FE8A-55C1-BD85-AC91E1950F6E}"/>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1B7398E1-97E3-F9C2-73B3-DC11E2E91038}"/>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7" name="Picture 16">
            <a:extLst>
              <a:ext uri="{FF2B5EF4-FFF2-40B4-BE49-F238E27FC236}">
                <a16:creationId xmlns:a16="http://schemas.microsoft.com/office/drawing/2014/main" id="{19E76E5A-8718-F03F-0086-8CE00DCFAF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8820" y="1294039"/>
            <a:ext cx="5416826" cy="3856614"/>
          </a:xfrm>
          <a:prstGeom prst="rect">
            <a:avLst/>
          </a:prstGeom>
        </p:spPr>
      </p:pic>
      <p:pic>
        <p:nvPicPr>
          <p:cNvPr id="19" name="Picture 18">
            <a:extLst>
              <a:ext uri="{FF2B5EF4-FFF2-40B4-BE49-F238E27FC236}">
                <a16:creationId xmlns:a16="http://schemas.microsoft.com/office/drawing/2014/main" id="{FFA09902-0B15-DF21-C701-061067BBFC2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57203" y="1334728"/>
            <a:ext cx="5815977" cy="3815925"/>
          </a:xfrm>
          <a:prstGeom prst="rect">
            <a:avLst/>
          </a:prstGeom>
        </p:spPr>
      </p:pic>
      <p:sp>
        <p:nvSpPr>
          <p:cNvPr id="21" name="TextBox 20">
            <a:extLst>
              <a:ext uri="{FF2B5EF4-FFF2-40B4-BE49-F238E27FC236}">
                <a16:creationId xmlns:a16="http://schemas.microsoft.com/office/drawing/2014/main" id="{59162D1F-930D-AA4E-E99E-B1000AFC7EA5}"/>
              </a:ext>
            </a:extLst>
          </p:cNvPr>
          <p:cNvSpPr txBox="1"/>
          <p:nvPr/>
        </p:nvSpPr>
        <p:spPr>
          <a:xfrm>
            <a:off x="418820" y="5487654"/>
            <a:ext cx="10614021"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 2. Visual representation of differentially expressed genes in lung cancer datasets heatmap for GSE18842 and  GSE27262.</a:t>
            </a:r>
          </a:p>
        </p:txBody>
      </p:sp>
    </p:spTree>
    <p:extLst>
      <p:ext uri="{BB962C8B-B14F-4D97-AF65-F5344CB8AC3E}">
        <p14:creationId xmlns:p14="http://schemas.microsoft.com/office/powerpoint/2010/main" val="3737104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3915DCD-2312-BCEA-B532-3CE8481F85DF}"/>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CA198A0-A976-AA6B-AC47-932AB9E63EF6}"/>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4830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E85E10EA-59DB-2788-4232-2A2A7166AE3D}"/>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B8E0EC12-86A7-441F-0E36-EEDB78FC5400}"/>
              </a:ext>
            </a:extLst>
          </p:cNvPr>
          <p:cNvSpPr/>
          <p:nvPr/>
        </p:nvSpPr>
        <p:spPr>
          <a:xfrm>
            <a:off x="11565064" y="6275267"/>
            <a:ext cx="557845" cy="461665"/>
          </a:xfrm>
          <a:prstGeom prst="rect">
            <a:avLst/>
          </a:prstGeom>
        </p:spPr>
        <p:txBody>
          <a:bodyPr wrap="square">
            <a:spAutoFit/>
          </a:bodyPr>
          <a:lstStyle/>
          <a:p>
            <a:r>
              <a:rPr lang="en-US" sz="2400" b="1" dirty="0">
                <a:solidFill>
                  <a:schemeClr val="tx1">
                    <a:lumMod val="50000"/>
                    <a:lumOff val="50000"/>
                  </a:schemeClr>
                </a:solidFill>
              </a:rPr>
              <a:t>17</a:t>
            </a:r>
          </a:p>
        </p:txBody>
      </p:sp>
      <p:pic>
        <p:nvPicPr>
          <p:cNvPr id="8" name="Picture 7">
            <a:extLst>
              <a:ext uri="{FF2B5EF4-FFF2-40B4-BE49-F238E27FC236}">
                <a16:creationId xmlns:a16="http://schemas.microsoft.com/office/drawing/2014/main" id="{3E00EB73-D3B7-09EB-0AE1-C9A4E7C68752}"/>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6A2B4CE4-DC53-F560-F695-C280DF37A82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3ABB4273-C70E-6F58-6F6D-8D2484293BD2}"/>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2B45E163-25CB-0712-4C97-1DB45CAF4737}"/>
              </a:ext>
            </a:extLst>
          </p:cNvPr>
          <p:cNvSpPr/>
          <p:nvPr/>
        </p:nvSpPr>
        <p:spPr>
          <a:xfrm>
            <a:off x="1753849" y="288430"/>
            <a:ext cx="8439463" cy="840148"/>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Weighted gene co-expression network analysis (WGCNA) </a:t>
            </a:r>
          </a:p>
        </p:txBody>
      </p:sp>
      <p:sp>
        <p:nvSpPr>
          <p:cNvPr id="3" name="Date Placeholder 2">
            <a:extLst>
              <a:ext uri="{FF2B5EF4-FFF2-40B4-BE49-F238E27FC236}">
                <a16:creationId xmlns:a16="http://schemas.microsoft.com/office/drawing/2014/main" id="{C7ADFBDE-6743-C470-21A5-9A7AD40A564A}"/>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0DE0FD72-0EF2-CBFC-1297-029EACA2DC46}"/>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16" name="TextBox 15">
            <a:extLst>
              <a:ext uri="{FF2B5EF4-FFF2-40B4-BE49-F238E27FC236}">
                <a16:creationId xmlns:a16="http://schemas.microsoft.com/office/drawing/2014/main" id="{9E15165C-1B53-2980-F5A9-766B05426A1D}"/>
              </a:ext>
            </a:extLst>
          </p:cNvPr>
          <p:cNvSpPr txBox="1"/>
          <p:nvPr/>
        </p:nvSpPr>
        <p:spPr>
          <a:xfrm>
            <a:off x="499224" y="5210309"/>
            <a:ext cx="11219163"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Fig.3: Assessment of module–trait associations. (a) Associations between gene co-expression modules and clinical</a:t>
            </a:r>
          </a:p>
          <a:p>
            <a:pPr algn="just"/>
            <a:r>
              <a:rPr lang="en-US" dirty="0">
                <a:latin typeface="Times New Roman" panose="02020603050405020304" pitchFamily="18" charset="0"/>
                <a:cs typeface="Times New Roman" panose="02020603050405020304" pitchFamily="18" charset="0"/>
              </a:rPr>
              <a:t>features in the GSE18842 dataset; (b) Relationships between gene modules and phenotypic traits in the GSE27262 dataset.</a:t>
            </a:r>
          </a:p>
        </p:txBody>
      </p:sp>
      <p:pic>
        <p:nvPicPr>
          <p:cNvPr id="13" name="Picture 12">
            <a:extLst>
              <a:ext uri="{FF2B5EF4-FFF2-40B4-BE49-F238E27FC236}">
                <a16:creationId xmlns:a16="http://schemas.microsoft.com/office/drawing/2014/main" id="{61AE4753-7115-B64F-F039-607CEA784AA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9608" y="1251453"/>
            <a:ext cx="4244576" cy="3848564"/>
          </a:xfrm>
          <a:prstGeom prst="rect">
            <a:avLst/>
          </a:prstGeom>
        </p:spPr>
      </p:pic>
      <p:pic>
        <p:nvPicPr>
          <p:cNvPr id="17" name="Picture 16">
            <a:extLst>
              <a:ext uri="{FF2B5EF4-FFF2-40B4-BE49-F238E27FC236}">
                <a16:creationId xmlns:a16="http://schemas.microsoft.com/office/drawing/2014/main" id="{28957BE1-63B4-7BA4-1059-C985929A73A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55445" y="1221704"/>
            <a:ext cx="4244575" cy="3895478"/>
          </a:xfrm>
          <a:prstGeom prst="rect">
            <a:avLst/>
          </a:prstGeom>
        </p:spPr>
      </p:pic>
    </p:spTree>
    <p:extLst>
      <p:ext uri="{BB962C8B-B14F-4D97-AF65-F5344CB8AC3E}">
        <p14:creationId xmlns:p14="http://schemas.microsoft.com/office/powerpoint/2010/main" val="1839254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CF9298F-7656-8780-8BA6-F8446CEE85E4}"/>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EC501C5F-B83E-440C-812B-904E8DED5AF1}"/>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D9A1097D-DE09-91A2-F31E-3887A8D52599}"/>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05D785E4-57F1-BDA4-F740-F2EE87679699}"/>
              </a:ext>
            </a:extLst>
          </p:cNvPr>
          <p:cNvSpPr/>
          <p:nvPr/>
        </p:nvSpPr>
        <p:spPr>
          <a:xfrm>
            <a:off x="11565064" y="6275267"/>
            <a:ext cx="557845" cy="461665"/>
          </a:xfrm>
          <a:prstGeom prst="rect">
            <a:avLst/>
          </a:prstGeom>
        </p:spPr>
        <p:txBody>
          <a:bodyPr wrap="square">
            <a:spAutoFit/>
          </a:bodyPr>
          <a:lstStyle/>
          <a:p>
            <a:r>
              <a:rPr lang="en-US" sz="2400" b="1" dirty="0">
                <a:solidFill>
                  <a:schemeClr val="tx1">
                    <a:lumMod val="50000"/>
                    <a:lumOff val="50000"/>
                  </a:schemeClr>
                </a:solidFill>
              </a:rPr>
              <a:t>18</a:t>
            </a:r>
          </a:p>
        </p:txBody>
      </p:sp>
      <p:pic>
        <p:nvPicPr>
          <p:cNvPr id="8" name="Picture 7">
            <a:extLst>
              <a:ext uri="{FF2B5EF4-FFF2-40B4-BE49-F238E27FC236}">
                <a16:creationId xmlns:a16="http://schemas.microsoft.com/office/drawing/2014/main" id="{DD4D71C1-5860-2FF5-FEB1-18749AD65BFB}"/>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51574D50-E9DE-F2B4-AA35-13D3F1A406B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35C239D6-674C-0D80-86B4-2D061B797E77}"/>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91D9EFB4-9551-1F4B-CFCE-9DD34ADFDC3A}"/>
              </a:ext>
            </a:extLst>
          </p:cNvPr>
          <p:cNvSpPr/>
          <p:nvPr/>
        </p:nvSpPr>
        <p:spPr>
          <a:xfrm>
            <a:off x="2264898" y="305492"/>
            <a:ext cx="7033847"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Protein-protein Interaction </a:t>
            </a:r>
          </a:p>
        </p:txBody>
      </p:sp>
      <p:sp>
        <p:nvSpPr>
          <p:cNvPr id="3" name="Date Placeholder 2">
            <a:extLst>
              <a:ext uri="{FF2B5EF4-FFF2-40B4-BE49-F238E27FC236}">
                <a16:creationId xmlns:a16="http://schemas.microsoft.com/office/drawing/2014/main" id="{82E28099-7496-084E-4707-16DA192C7000}"/>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3CFF8357-8726-FE7B-E6A0-D9B0755CB77D}"/>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3" name="Picture 12">
            <a:extLst>
              <a:ext uri="{FF2B5EF4-FFF2-40B4-BE49-F238E27FC236}">
                <a16:creationId xmlns:a16="http://schemas.microsoft.com/office/drawing/2014/main" id="{7FFC5EC0-6F31-31FE-C9F2-BBDA9DDBC21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8291" y="1120690"/>
            <a:ext cx="9973831" cy="4391253"/>
          </a:xfrm>
          <a:prstGeom prst="rect">
            <a:avLst/>
          </a:prstGeom>
        </p:spPr>
      </p:pic>
      <p:sp>
        <p:nvSpPr>
          <p:cNvPr id="14" name="TextBox 13">
            <a:extLst>
              <a:ext uri="{FF2B5EF4-FFF2-40B4-BE49-F238E27FC236}">
                <a16:creationId xmlns:a16="http://schemas.microsoft.com/office/drawing/2014/main" id="{50FEDC72-F798-9E46-BE67-90EE466AE3D1}"/>
              </a:ext>
            </a:extLst>
          </p:cNvPr>
          <p:cNvSpPr txBox="1"/>
          <p:nvPr/>
        </p:nvSpPr>
        <p:spPr>
          <a:xfrm>
            <a:off x="858291" y="5610981"/>
            <a:ext cx="10073640"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 4: Interaction analysis of common genes, PPI network constructed from 240 common genes, comprising 105 nodes and 784 edges.</a:t>
            </a:r>
          </a:p>
        </p:txBody>
      </p:sp>
    </p:spTree>
    <p:extLst>
      <p:ext uri="{BB962C8B-B14F-4D97-AF65-F5344CB8AC3E}">
        <p14:creationId xmlns:p14="http://schemas.microsoft.com/office/powerpoint/2010/main" val="3236049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BA3B7CD-2863-A2BC-9E26-A235D72AC1A9}"/>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81004503-2ABA-86F5-BD21-3229D1BEFF6D}"/>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B740B2F0-2B98-CD02-D365-36912AAAAA87}"/>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D2A268F2-2C1C-67EB-7618-DAA7BA319317}"/>
              </a:ext>
            </a:extLst>
          </p:cNvPr>
          <p:cNvSpPr/>
          <p:nvPr/>
        </p:nvSpPr>
        <p:spPr>
          <a:xfrm>
            <a:off x="11566922" y="6259810"/>
            <a:ext cx="731347" cy="461665"/>
          </a:xfrm>
          <a:prstGeom prst="rect">
            <a:avLst/>
          </a:prstGeom>
        </p:spPr>
        <p:txBody>
          <a:bodyPr wrap="square">
            <a:spAutoFit/>
          </a:bodyPr>
          <a:lstStyle/>
          <a:p>
            <a:r>
              <a:rPr lang="en-US" sz="2400" b="1" dirty="0">
                <a:solidFill>
                  <a:schemeClr val="tx1">
                    <a:lumMod val="50000"/>
                    <a:lumOff val="50000"/>
                  </a:schemeClr>
                </a:solidFill>
              </a:rPr>
              <a:t>19</a:t>
            </a:r>
          </a:p>
        </p:txBody>
      </p:sp>
      <p:pic>
        <p:nvPicPr>
          <p:cNvPr id="8" name="Picture 7">
            <a:extLst>
              <a:ext uri="{FF2B5EF4-FFF2-40B4-BE49-F238E27FC236}">
                <a16:creationId xmlns:a16="http://schemas.microsoft.com/office/drawing/2014/main" id="{C7118962-A3AE-976E-A4BD-FD702CA0925D}"/>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390EA795-966D-DC83-8ABA-B9B9233C2EC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D5D08CAC-946C-6EC7-23F5-9E5652431D78}"/>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DBEDE7B0-7EC9-00A0-09F0-26355F9E2520}"/>
              </a:ext>
            </a:extLst>
          </p:cNvPr>
          <p:cNvSpPr/>
          <p:nvPr/>
        </p:nvSpPr>
        <p:spPr>
          <a:xfrm>
            <a:off x="2433711" y="181102"/>
            <a:ext cx="6865034" cy="77082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Hub gene</a:t>
            </a:r>
          </a:p>
        </p:txBody>
      </p:sp>
      <p:sp>
        <p:nvSpPr>
          <p:cNvPr id="3" name="Date Placeholder 2">
            <a:extLst>
              <a:ext uri="{FF2B5EF4-FFF2-40B4-BE49-F238E27FC236}">
                <a16:creationId xmlns:a16="http://schemas.microsoft.com/office/drawing/2014/main" id="{289C2C9B-6071-EDC0-28B3-44ACB32677BD}"/>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D487A346-0AC2-CE2A-C636-11A1345FD288}"/>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3" name="Picture 12">
            <a:extLst>
              <a:ext uri="{FF2B5EF4-FFF2-40B4-BE49-F238E27FC236}">
                <a16:creationId xmlns:a16="http://schemas.microsoft.com/office/drawing/2014/main" id="{78FDA1C7-AF53-AF83-8C20-51E79901363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37417" y="1148196"/>
            <a:ext cx="6726002" cy="4205079"/>
          </a:xfrm>
          <a:prstGeom prst="rect">
            <a:avLst/>
          </a:prstGeom>
        </p:spPr>
      </p:pic>
      <p:sp>
        <p:nvSpPr>
          <p:cNvPr id="14" name="TextBox 13">
            <a:extLst>
              <a:ext uri="{FF2B5EF4-FFF2-40B4-BE49-F238E27FC236}">
                <a16:creationId xmlns:a16="http://schemas.microsoft.com/office/drawing/2014/main" id="{A874C724-109D-AF68-9435-7435E012AFE3}"/>
              </a:ext>
            </a:extLst>
          </p:cNvPr>
          <p:cNvSpPr txBox="1"/>
          <p:nvPr/>
        </p:nvSpPr>
        <p:spPr>
          <a:xfrm>
            <a:off x="1728094" y="5568812"/>
            <a:ext cx="10570698" cy="369332"/>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 5. Subnetwork highlighting the top ten hub genes identified using the Degree centrality method</a:t>
            </a:r>
          </a:p>
        </p:txBody>
      </p:sp>
    </p:spTree>
    <p:extLst>
      <p:ext uri="{BB962C8B-B14F-4D97-AF65-F5344CB8AC3E}">
        <p14:creationId xmlns:p14="http://schemas.microsoft.com/office/powerpoint/2010/main" val="3523347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441FB2B-98FD-3849-6FDF-3EAACA74207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BACA5CB-7564-D968-9FF8-4A083B55F429}"/>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EB4B5DFB-0DA5-CB9E-076B-55D876BDA64C}"/>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00CDFDB6-3151-4551-1856-878627C61EC9}"/>
              </a:ext>
            </a:extLst>
          </p:cNvPr>
          <p:cNvSpPr/>
          <p:nvPr/>
        </p:nvSpPr>
        <p:spPr>
          <a:xfrm>
            <a:off x="11554006" y="6268304"/>
            <a:ext cx="610030" cy="461665"/>
          </a:xfrm>
          <a:prstGeom prst="rect">
            <a:avLst/>
          </a:prstGeom>
        </p:spPr>
        <p:txBody>
          <a:bodyPr wrap="square">
            <a:spAutoFit/>
          </a:bodyPr>
          <a:lstStyle/>
          <a:p>
            <a:r>
              <a:rPr lang="en-US" sz="2400" b="1" dirty="0">
                <a:solidFill>
                  <a:schemeClr val="tx1">
                    <a:lumMod val="50000"/>
                    <a:lumOff val="50000"/>
                  </a:schemeClr>
                </a:solidFill>
              </a:rPr>
              <a:t>20</a:t>
            </a:r>
          </a:p>
        </p:txBody>
      </p:sp>
      <p:pic>
        <p:nvPicPr>
          <p:cNvPr id="8" name="Picture 7">
            <a:extLst>
              <a:ext uri="{FF2B5EF4-FFF2-40B4-BE49-F238E27FC236}">
                <a16:creationId xmlns:a16="http://schemas.microsoft.com/office/drawing/2014/main" id="{6A29AC79-BCA3-7CCA-7C89-BC41246DFA83}"/>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669B64AF-844B-64EC-0FBF-4B8AFCB19A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91AE3847-56C9-E0AC-EAF7-AEEB81551A6F}"/>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6C6A1F52-D8C3-EB3A-063E-45C54B71AA9D}"/>
              </a:ext>
            </a:extLst>
          </p:cNvPr>
          <p:cNvSpPr/>
          <p:nvPr/>
        </p:nvSpPr>
        <p:spPr>
          <a:xfrm>
            <a:off x="1533378" y="305492"/>
            <a:ext cx="8721970"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Module Network and Common Hub</a:t>
            </a:r>
          </a:p>
        </p:txBody>
      </p:sp>
      <p:sp>
        <p:nvSpPr>
          <p:cNvPr id="3" name="Date Placeholder 2">
            <a:extLst>
              <a:ext uri="{FF2B5EF4-FFF2-40B4-BE49-F238E27FC236}">
                <a16:creationId xmlns:a16="http://schemas.microsoft.com/office/drawing/2014/main" id="{D5DAE3D5-7AA6-CF3A-F9FE-E9BBBBF563BC}"/>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F2D32543-8E51-DEDE-6120-418D6CA13FD2}"/>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3" name="Picture 12">
            <a:extLst>
              <a:ext uri="{FF2B5EF4-FFF2-40B4-BE49-F238E27FC236}">
                <a16:creationId xmlns:a16="http://schemas.microsoft.com/office/drawing/2014/main" id="{1F89B07D-43A1-2ED4-40DC-56C457FD67E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9170" y="1245882"/>
            <a:ext cx="4563467" cy="4127029"/>
          </a:xfrm>
          <a:prstGeom prst="rect">
            <a:avLst/>
          </a:prstGeom>
        </p:spPr>
      </p:pic>
      <p:pic>
        <p:nvPicPr>
          <p:cNvPr id="15" name="Picture 14">
            <a:extLst>
              <a:ext uri="{FF2B5EF4-FFF2-40B4-BE49-F238E27FC236}">
                <a16:creationId xmlns:a16="http://schemas.microsoft.com/office/drawing/2014/main" id="{CDD55E04-3587-EC79-2DDD-CAF9E5878CA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095157" y="1245882"/>
            <a:ext cx="4772712" cy="4160191"/>
          </a:xfrm>
          <a:prstGeom prst="rect">
            <a:avLst/>
          </a:prstGeom>
        </p:spPr>
      </p:pic>
      <p:sp>
        <p:nvSpPr>
          <p:cNvPr id="16" name="TextBox 15">
            <a:extLst>
              <a:ext uri="{FF2B5EF4-FFF2-40B4-BE49-F238E27FC236}">
                <a16:creationId xmlns:a16="http://schemas.microsoft.com/office/drawing/2014/main" id="{96CF5381-AD7E-6CA8-D5C5-DCD42E0359E8}"/>
              </a:ext>
            </a:extLst>
          </p:cNvPr>
          <p:cNvSpPr txBox="1"/>
          <p:nvPr/>
        </p:nvSpPr>
        <p:spPr>
          <a:xfrm>
            <a:off x="838200" y="5416062"/>
            <a:ext cx="10246199"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 6. Most significant module detected by MCODE, containing 34 nodes and 539 edges; Venn diagram illustrating five common hub genes shared across MCC, MNC, and Degree centrality methods.</a:t>
            </a:r>
          </a:p>
        </p:txBody>
      </p:sp>
    </p:spTree>
    <p:extLst>
      <p:ext uri="{BB962C8B-B14F-4D97-AF65-F5344CB8AC3E}">
        <p14:creationId xmlns:p14="http://schemas.microsoft.com/office/powerpoint/2010/main" val="2952748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15085DB-F857-B658-25C1-BD0FCC7A9A15}"/>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299EC1D-AE14-EC9E-0DBC-5B7822AB2DF6}"/>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6414" y="-12881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E896168B-760A-E424-2669-7DECE9FD8CE7}"/>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54271660-1407-4162-1E48-A28A74FF2B10}"/>
              </a:ext>
            </a:extLst>
          </p:cNvPr>
          <p:cNvSpPr/>
          <p:nvPr/>
        </p:nvSpPr>
        <p:spPr>
          <a:xfrm>
            <a:off x="11555180" y="6251410"/>
            <a:ext cx="670956" cy="461665"/>
          </a:xfrm>
          <a:prstGeom prst="rect">
            <a:avLst/>
          </a:prstGeom>
        </p:spPr>
        <p:txBody>
          <a:bodyPr wrap="square">
            <a:spAutoFit/>
          </a:bodyPr>
          <a:lstStyle/>
          <a:p>
            <a:r>
              <a:rPr lang="en-US" sz="2400" b="1" dirty="0">
                <a:solidFill>
                  <a:schemeClr val="tx1">
                    <a:lumMod val="50000"/>
                    <a:lumOff val="50000"/>
                  </a:schemeClr>
                </a:solidFill>
              </a:rPr>
              <a:t>21</a:t>
            </a:r>
          </a:p>
        </p:txBody>
      </p:sp>
      <p:pic>
        <p:nvPicPr>
          <p:cNvPr id="8" name="Picture 7">
            <a:extLst>
              <a:ext uri="{FF2B5EF4-FFF2-40B4-BE49-F238E27FC236}">
                <a16:creationId xmlns:a16="http://schemas.microsoft.com/office/drawing/2014/main" id="{6755575E-2AA0-50AE-0DE1-3B6D7AA17E10}"/>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44A13E6A-58C7-49D6-F021-F14CF38FBC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B42F6AC0-757E-57FE-0F73-4DEFA37E8BFD}"/>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87B37FC5-8736-E154-9C1C-A3B97E436E79}"/>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Validation of Hub genes</a:t>
            </a:r>
          </a:p>
        </p:txBody>
      </p:sp>
      <p:sp>
        <p:nvSpPr>
          <p:cNvPr id="3" name="Date Placeholder 2">
            <a:extLst>
              <a:ext uri="{FF2B5EF4-FFF2-40B4-BE49-F238E27FC236}">
                <a16:creationId xmlns:a16="http://schemas.microsoft.com/office/drawing/2014/main" id="{1EEB15C1-D643-B129-A5C3-80D8FB8BE829}"/>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4AD356A7-FCAD-1827-B26C-E7865DB5FDD2}"/>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7" name="TextBox 6">
            <a:extLst>
              <a:ext uri="{FF2B5EF4-FFF2-40B4-BE49-F238E27FC236}">
                <a16:creationId xmlns:a16="http://schemas.microsoft.com/office/drawing/2014/main" id="{D42400D7-2919-2F7E-9B0A-3C127CFCB5E1}"/>
              </a:ext>
            </a:extLst>
          </p:cNvPr>
          <p:cNvSpPr txBox="1"/>
          <p:nvPr/>
        </p:nvSpPr>
        <p:spPr>
          <a:xfrm>
            <a:off x="1055077" y="1669196"/>
            <a:ext cx="8060788" cy="400110"/>
          </a:xfrm>
          <a:prstGeom prst="rect">
            <a:avLst/>
          </a:prstGeom>
          <a:noFill/>
        </p:spPr>
        <p:txBody>
          <a:bodyPr wrap="square" rtlCol="0">
            <a:spAutoFit/>
          </a:bodyPr>
          <a:lstStyle/>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There are 3 types of analysis to validate the identified hub genes</a:t>
            </a:r>
          </a:p>
        </p:txBody>
      </p:sp>
      <p:sp>
        <p:nvSpPr>
          <p:cNvPr id="13" name="TextBox 12">
            <a:extLst>
              <a:ext uri="{FF2B5EF4-FFF2-40B4-BE49-F238E27FC236}">
                <a16:creationId xmlns:a16="http://schemas.microsoft.com/office/drawing/2014/main" id="{D3D57A78-01AB-F8CB-1F6E-C50C5260D287}"/>
              </a:ext>
            </a:extLst>
          </p:cNvPr>
          <p:cNvSpPr txBox="1"/>
          <p:nvPr/>
        </p:nvSpPr>
        <p:spPr>
          <a:xfrm>
            <a:off x="2391508" y="2493226"/>
            <a:ext cx="5950634" cy="1292662"/>
          </a:xfrm>
          <a:prstGeom prst="rect">
            <a:avLst/>
          </a:prstGeom>
          <a:noFill/>
        </p:spPr>
        <p:txBody>
          <a:bodyPr wrap="square" rtlCol="0">
            <a:spAutoFit/>
          </a:bodyPr>
          <a:lstStyle/>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Diagnostic potential evaluation of the hub genes</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mRNA expression level analysis </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Survival analysis </a:t>
            </a:r>
          </a:p>
          <a:p>
            <a:pPr marL="285750" indent="-285750">
              <a:buFont typeface="Courier New" panose="02070309020205020404" pitchFamily="49" charset="0"/>
              <a:buChar char="o"/>
            </a:pPr>
            <a:endParaRPr lang="en-US" dirty="0"/>
          </a:p>
        </p:txBody>
      </p:sp>
    </p:spTree>
    <p:extLst>
      <p:ext uri="{BB962C8B-B14F-4D97-AF65-F5344CB8AC3E}">
        <p14:creationId xmlns:p14="http://schemas.microsoft.com/office/powerpoint/2010/main" val="4172493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5A7DF67-9B31-ADAA-EE93-28F87F7ABF45}"/>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3368ECD-15F5-6B38-224C-B4D96E2CC8FC}"/>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6414" y="-12881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D22A3563-B4A6-097C-4BC7-F71BC88952FB}"/>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F6BE4862-784F-2BF7-B75C-51C431B264F0}"/>
              </a:ext>
            </a:extLst>
          </p:cNvPr>
          <p:cNvSpPr/>
          <p:nvPr/>
        </p:nvSpPr>
        <p:spPr>
          <a:xfrm>
            <a:off x="11555180" y="6251410"/>
            <a:ext cx="670956" cy="461665"/>
          </a:xfrm>
          <a:prstGeom prst="rect">
            <a:avLst/>
          </a:prstGeom>
        </p:spPr>
        <p:txBody>
          <a:bodyPr wrap="square">
            <a:spAutoFit/>
          </a:bodyPr>
          <a:lstStyle/>
          <a:p>
            <a:r>
              <a:rPr lang="en-US" sz="2400" b="1" dirty="0">
                <a:solidFill>
                  <a:schemeClr val="tx1">
                    <a:lumMod val="50000"/>
                    <a:lumOff val="50000"/>
                  </a:schemeClr>
                </a:solidFill>
              </a:rPr>
              <a:t>22</a:t>
            </a:r>
          </a:p>
        </p:txBody>
      </p:sp>
      <p:pic>
        <p:nvPicPr>
          <p:cNvPr id="8" name="Picture 7">
            <a:extLst>
              <a:ext uri="{FF2B5EF4-FFF2-40B4-BE49-F238E27FC236}">
                <a16:creationId xmlns:a16="http://schemas.microsoft.com/office/drawing/2014/main" id="{0CE7C115-6E9C-0B98-6C67-8FE73AB371F1}"/>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F5D322E5-D01A-170C-A752-356BF4FD284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33914156-2065-01EC-E20A-E29522CB0E24}"/>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809D3B7E-4CC4-4C3A-4464-3431944E93E7}"/>
              </a:ext>
            </a:extLst>
          </p:cNvPr>
          <p:cNvSpPr/>
          <p:nvPr/>
        </p:nvSpPr>
        <p:spPr>
          <a:xfrm>
            <a:off x="838200" y="248410"/>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Diagnostic potential evaluation of the hub genes</a:t>
            </a:r>
          </a:p>
        </p:txBody>
      </p:sp>
      <p:sp>
        <p:nvSpPr>
          <p:cNvPr id="3" name="Date Placeholder 2">
            <a:extLst>
              <a:ext uri="{FF2B5EF4-FFF2-40B4-BE49-F238E27FC236}">
                <a16:creationId xmlns:a16="http://schemas.microsoft.com/office/drawing/2014/main" id="{7250DE89-9538-926B-2D4F-3D2A55D7C7C9}"/>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964EA7CF-D719-7BE1-889B-2DE2817596EA}"/>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7" name="Picture 6">
            <a:extLst>
              <a:ext uri="{FF2B5EF4-FFF2-40B4-BE49-F238E27FC236}">
                <a16:creationId xmlns:a16="http://schemas.microsoft.com/office/drawing/2014/main" id="{DD5981BE-E3F5-BB67-4E7B-74CB77E4050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9739" y="981935"/>
            <a:ext cx="5302214" cy="4418512"/>
          </a:xfrm>
          <a:prstGeom prst="rect">
            <a:avLst/>
          </a:prstGeom>
        </p:spPr>
      </p:pic>
      <p:pic>
        <p:nvPicPr>
          <p:cNvPr id="14" name="Picture 13">
            <a:extLst>
              <a:ext uri="{FF2B5EF4-FFF2-40B4-BE49-F238E27FC236}">
                <a16:creationId xmlns:a16="http://schemas.microsoft.com/office/drawing/2014/main" id="{0E53D92F-460F-9583-46E1-CA09220ED3F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21900" y="942512"/>
            <a:ext cx="5320065" cy="4433387"/>
          </a:xfrm>
          <a:prstGeom prst="rect">
            <a:avLst/>
          </a:prstGeom>
        </p:spPr>
      </p:pic>
      <p:sp>
        <p:nvSpPr>
          <p:cNvPr id="15" name="TextBox 14">
            <a:extLst>
              <a:ext uri="{FF2B5EF4-FFF2-40B4-BE49-F238E27FC236}">
                <a16:creationId xmlns:a16="http://schemas.microsoft.com/office/drawing/2014/main" id="{23645A0B-C72D-0511-0359-9CC07244B7BF}"/>
              </a:ext>
            </a:extLst>
          </p:cNvPr>
          <p:cNvSpPr txBox="1"/>
          <p:nvPr/>
        </p:nvSpPr>
        <p:spPr>
          <a:xfrm>
            <a:off x="499739" y="5288950"/>
            <a:ext cx="11262173"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 7. The diagnostic accuracy of the candidate genes was thoroughly evaluated using ROC curve analysis. (a) ROC curves for the common hub genes in the GSE33532 dataset; (b) ROC curves for the same genes in the GSE40791 dataset. The analysis demonstrates the ability of these genes to distinguish between tumor and normal samples, supporting their potential as robust diagnostic biomarkers.</a:t>
            </a:r>
          </a:p>
        </p:txBody>
      </p:sp>
    </p:spTree>
    <p:extLst>
      <p:ext uri="{BB962C8B-B14F-4D97-AF65-F5344CB8AC3E}">
        <p14:creationId xmlns:p14="http://schemas.microsoft.com/office/powerpoint/2010/main" val="2535780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DE31FE2-9A41-6E42-F8F0-BD3D32B2B44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47D3906-58DB-8A14-4B5D-BCBCDBC8E11C}"/>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 y="4830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AE5AFA86-E5DB-FBE2-AA32-B2DC6F648692}"/>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E36FA573-4983-F655-38FE-5265EF1995F4}"/>
              </a:ext>
            </a:extLst>
          </p:cNvPr>
          <p:cNvSpPr/>
          <p:nvPr/>
        </p:nvSpPr>
        <p:spPr>
          <a:xfrm>
            <a:off x="11543742" y="6249259"/>
            <a:ext cx="698041" cy="461665"/>
          </a:xfrm>
          <a:prstGeom prst="rect">
            <a:avLst/>
          </a:prstGeom>
        </p:spPr>
        <p:txBody>
          <a:bodyPr wrap="square">
            <a:spAutoFit/>
          </a:bodyPr>
          <a:lstStyle/>
          <a:p>
            <a:r>
              <a:rPr lang="en-US" sz="2400" b="1" dirty="0">
                <a:solidFill>
                  <a:schemeClr val="tx1">
                    <a:lumMod val="50000"/>
                    <a:lumOff val="50000"/>
                  </a:schemeClr>
                </a:solidFill>
              </a:rPr>
              <a:t>23</a:t>
            </a:r>
          </a:p>
        </p:txBody>
      </p:sp>
      <p:pic>
        <p:nvPicPr>
          <p:cNvPr id="8" name="Picture 7">
            <a:extLst>
              <a:ext uri="{FF2B5EF4-FFF2-40B4-BE49-F238E27FC236}">
                <a16:creationId xmlns:a16="http://schemas.microsoft.com/office/drawing/2014/main" id="{9BB90A2E-A29A-5DEF-CF18-78712535B266}"/>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3FB81302-29E5-D97C-5F96-8A5654ACE44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96DF7C67-24E0-39C8-DD86-556A98CAD804}"/>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B247194E-AECE-5D94-8F9A-21B397EF0E1B}"/>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dirty="0">
                <a:latin typeface="Times New Roman" panose="02020603050405020304" pitchFamily="18" charset="0"/>
                <a:cs typeface="Times New Roman" panose="02020603050405020304" pitchFamily="18" charset="0"/>
              </a:rPr>
              <a:t>           mRNA expression level analysis </a:t>
            </a:r>
          </a:p>
        </p:txBody>
      </p:sp>
      <p:sp>
        <p:nvSpPr>
          <p:cNvPr id="3" name="Date Placeholder 2">
            <a:extLst>
              <a:ext uri="{FF2B5EF4-FFF2-40B4-BE49-F238E27FC236}">
                <a16:creationId xmlns:a16="http://schemas.microsoft.com/office/drawing/2014/main" id="{60BE5662-AFBA-CCBD-EAE1-86165AB0D07C}"/>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575DFB01-D148-9757-C7C4-A4A8CC09D3A6}"/>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3" name="Picture 12">
            <a:extLst>
              <a:ext uri="{FF2B5EF4-FFF2-40B4-BE49-F238E27FC236}">
                <a16:creationId xmlns:a16="http://schemas.microsoft.com/office/drawing/2014/main" id="{6E6F111D-2EF6-04A3-6FD5-978EF3E23BD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3754" y="1095568"/>
            <a:ext cx="2238452" cy="3357678"/>
          </a:xfrm>
          <a:prstGeom prst="rect">
            <a:avLst/>
          </a:prstGeom>
        </p:spPr>
      </p:pic>
      <p:pic>
        <p:nvPicPr>
          <p:cNvPr id="15" name="Picture 14">
            <a:extLst>
              <a:ext uri="{FF2B5EF4-FFF2-40B4-BE49-F238E27FC236}">
                <a16:creationId xmlns:a16="http://schemas.microsoft.com/office/drawing/2014/main" id="{FFA5AE6F-8CFE-1F1A-314A-7BADC8DA6C0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454282" y="1125693"/>
            <a:ext cx="2218369" cy="3327553"/>
          </a:xfrm>
          <a:prstGeom prst="rect">
            <a:avLst/>
          </a:prstGeom>
        </p:spPr>
      </p:pic>
      <p:sp>
        <p:nvSpPr>
          <p:cNvPr id="18" name="TextBox 17">
            <a:extLst>
              <a:ext uri="{FF2B5EF4-FFF2-40B4-BE49-F238E27FC236}">
                <a16:creationId xmlns:a16="http://schemas.microsoft.com/office/drawing/2014/main" id="{BBFF90F6-39D3-B3A6-FABC-46E0D8D0197B}"/>
              </a:ext>
            </a:extLst>
          </p:cNvPr>
          <p:cNvSpPr txBox="1"/>
          <p:nvPr/>
        </p:nvSpPr>
        <p:spPr>
          <a:xfrm>
            <a:off x="1226656" y="4650247"/>
            <a:ext cx="105507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CCNB1</a:t>
            </a:r>
          </a:p>
        </p:txBody>
      </p:sp>
      <p:sp>
        <p:nvSpPr>
          <p:cNvPr id="19" name="TextBox 18">
            <a:extLst>
              <a:ext uri="{FF2B5EF4-FFF2-40B4-BE49-F238E27FC236}">
                <a16:creationId xmlns:a16="http://schemas.microsoft.com/office/drawing/2014/main" id="{6170BDDC-CACA-9EF8-314C-68E1AC995B0A}"/>
              </a:ext>
            </a:extLst>
          </p:cNvPr>
          <p:cNvSpPr txBox="1"/>
          <p:nvPr/>
        </p:nvSpPr>
        <p:spPr>
          <a:xfrm>
            <a:off x="4094965" y="4667536"/>
            <a:ext cx="93700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CDCA8</a:t>
            </a:r>
          </a:p>
        </p:txBody>
      </p:sp>
      <p:pic>
        <p:nvPicPr>
          <p:cNvPr id="21" name="Picture 20">
            <a:extLst>
              <a:ext uri="{FF2B5EF4-FFF2-40B4-BE49-F238E27FC236}">
                <a16:creationId xmlns:a16="http://schemas.microsoft.com/office/drawing/2014/main" id="{5F29949F-ABF5-7581-922B-3582326FA3D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349080" y="1110630"/>
            <a:ext cx="2218368" cy="3327553"/>
          </a:xfrm>
          <a:prstGeom prst="rect">
            <a:avLst/>
          </a:prstGeom>
        </p:spPr>
      </p:pic>
      <p:sp>
        <p:nvSpPr>
          <p:cNvPr id="22" name="TextBox 21">
            <a:extLst>
              <a:ext uri="{FF2B5EF4-FFF2-40B4-BE49-F238E27FC236}">
                <a16:creationId xmlns:a16="http://schemas.microsoft.com/office/drawing/2014/main" id="{1A95E486-4CCA-34B1-6C26-C8177631CDA9}"/>
              </a:ext>
            </a:extLst>
          </p:cNvPr>
          <p:cNvSpPr txBox="1"/>
          <p:nvPr/>
        </p:nvSpPr>
        <p:spPr>
          <a:xfrm>
            <a:off x="7027984" y="4683057"/>
            <a:ext cx="112541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CDK1</a:t>
            </a:r>
          </a:p>
        </p:txBody>
      </p:sp>
      <p:pic>
        <p:nvPicPr>
          <p:cNvPr id="24" name="Picture 23">
            <a:extLst>
              <a:ext uri="{FF2B5EF4-FFF2-40B4-BE49-F238E27FC236}">
                <a16:creationId xmlns:a16="http://schemas.microsoft.com/office/drawing/2014/main" id="{DBA1A187-5510-9436-2DC1-2F2B3AEBF64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202661" y="1095568"/>
            <a:ext cx="2218368" cy="3327552"/>
          </a:xfrm>
          <a:prstGeom prst="rect">
            <a:avLst/>
          </a:prstGeom>
        </p:spPr>
      </p:pic>
      <p:sp>
        <p:nvSpPr>
          <p:cNvPr id="25" name="TextBox 24">
            <a:extLst>
              <a:ext uri="{FF2B5EF4-FFF2-40B4-BE49-F238E27FC236}">
                <a16:creationId xmlns:a16="http://schemas.microsoft.com/office/drawing/2014/main" id="{1950C547-AA37-2C4C-D01A-277D530D62FE}"/>
              </a:ext>
            </a:extLst>
          </p:cNvPr>
          <p:cNvSpPr txBox="1"/>
          <p:nvPr/>
        </p:nvSpPr>
        <p:spPr>
          <a:xfrm>
            <a:off x="9839929" y="4650247"/>
            <a:ext cx="112541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DLGAP5</a:t>
            </a:r>
          </a:p>
        </p:txBody>
      </p:sp>
      <p:sp>
        <p:nvSpPr>
          <p:cNvPr id="34" name="TextBox 33">
            <a:extLst>
              <a:ext uri="{FF2B5EF4-FFF2-40B4-BE49-F238E27FC236}">
                <a16:creationId xmlns:a16="http://schemas.microsoft.com/office/drawing/2014/main" id="{68B4E646-1417-A738-170B-7210B1EFC677}"/>
              </a:ext>
            </a:extLst>
          </p:cNvPr>
          <p:cNvSpPr txBox="1"/>
          <p:nvPr/>
        </p:nvSpPr>
        <p:spPr>
          <a:xfrm>
            <a:off x="623754" y="5012142"/>
            <a:ext cx="10797275" cy="1323439"/>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Fig. 8: Comparison of mRNA expression levels between LUAD tumor tissues (T, n = 483) and adjacent normal tissues (N,</a:t>
            </a:r>
          </a:p>
          <a:p>
            <a:pPr algn="just"/>
            <a:r>
              <a:rPr lang="en-US" sz="1600" dirty="0">
                <a:latin typeface="Times New Roman" panose="02020603050405020304" pitchFamily="18" charset="0"/>
                <a:cs typeface="Times New Roman" panose="02020603050405020304" pitchFamily="18" charset="0"/>
              </a:rPr>
              <a:t>n = 347) for the identified hub genes. (a) CCNB1, (b) CDCA8, (c) CDK1, (d) DLGAP5, (e) KIF11, (f) MELK, and (g) TOP2A. The analysis demonstrates significantly higher expression of tumor samples and normal tissues, supporting their potential roles in lung adenocarcinoma development and progression. Statistical significance was determined using appropriate differential expression analysis methods.</a:t>
            </a:r>
          </a:p>
        </p:txBody>
      </p:sp>
    </p:spTree>
    <p:extLst>
      <p:ext uri="{BB962C8B-B14F-4D97-AF65-F5344CB8AC3E}">
        <p14:creationId xmlns:p14="http://schemas.microsoft.com/office/powerpoint/2010/main" val="3753214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F06B105-0855-AD73-3A96-1E0190A1ED02}"/>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5AE8CFE-BD42-79DF-75E9-41493DD3486A}"/>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B02F6B3E-2700-9794-2B87-E65EAD2C51F7}"/>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19B9ECB4-0DC0-4180-7C14-011F2D66E910}"/>
              </a:ext>
            </a:extLst>
          </p:cNvPr>
          <p:cNvSpPr/>
          <p:nvPr/>
        </p:nvSpPr>
        <p:spPr>
          <a:xfrm>
            <a:off x="11564083" y="6259810"/>
            <a:ext cx="670956" cy="461665"/>
          </a:xfrm>
          <a:prstGeom prst="rect">
            <a:avLst/>
          </a:prstGeom>
        </p:spPr>
        <p:txBody>
          <a:bodyPr wrap="square">
            <a:spAutoFit/>
          </a:bodyPr>
          <a:lstStyle/>
          <a:p>
            <a:r>
              <a:rPr lang="en-US" sz="2400" b="1" dirty="0">
                <a:solidFill>
                  <a:schemeClr val="tx1">
                    <a:lumMod val="50000"/>
                    <a:lumOff val="50000"/>
                  </a:schemeClr>
                </a:solidFill>
              </a:rPr>
              <a:t>24</a:t>
            </a:r>
          </a:p>
        </p:txBody>
      </p:sp>
      <p:pic>
        <p:nvPicPr>
          <p:cNvPr id="8" name="Picture 7">
            <a:extLst>
              <a:ext uri="{FF2B5EF4-FFF2-40B4-BE49-F238E27FC236}">
                <a16:creationId xmlns:a16="http://schemas.microsoft.com/office/drawing/2014/main" id="{847A21D6-0D1D-08B3-5507-8BDEE859D8C2}"/>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461E6D19-ADEF-A08F-3DF3-9BFA6D184B2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35FE47C9-5ECC-8AB7-C50A-B7BA41C16093}"/>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0143AAFF-3B46-A647-8828-A7756405DBDB}"/>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New Roman" panose="02020603050405020304" pitchFamily="18" charset="0"/>
                <a:cs typeface="Times New Roman" panose="02020603050405020304" pitchFamily="18" charset="0"/>
              </a:rPr>
              <a:t>mRNA expression </a:t>
            </a:r>
            <a:r>
              <a:rPr lang="en-US" sz="4000" dirty="0" err="1">
                <a:latin typeface="Times New Roman" panose="02020603050405020304" pitchFamily="18" charset="0"/>
                <a:cs typeface="Times New Roman" panose="02020603050405020304" pitchFamily="18" charset="0"/>
              </a:rPr>
              <a:t>Cont</a:t>
            </a:r>
            <a:r>
              <a:rPr lang="en-US" sz="4000" dirty="0">
                <a:latin typeface="Times New Roman" panose="02020603050405020304" pitchFamily="18" charset="0"/>
                <a:cs typeface="Times New Roman" panose="02020603050405020304" pitchFamily="18" charset="0"/>
              </a:rPr>
              <a:t>…</a:t>
            </a:r>
            <a:endParaRPr lang="en-US" sz="4000" b="1" dirty="0">
              <a:solidFill>
                <a:schemeClr val="bg1"/>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32F13DD-E35E-3C54-FA94-C84E2291D2AA}"/>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1D3844DC-8541-0B17-E6E3-D088C9E98DC2}"/>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3" name="Picture 12">
            <a:extLst>
              <a:ext uri="{FF2B5EF4-FFF2-40B4-BE49-F238E27FC236}">
                <a16:creationId xmlns:a16="http://schemas.microsoft.com/office/drawing/2014/main" id="{5DA3B9E7-43B9-BC3A-C285-A15F2DB1768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09834" y="1068686"/>
            <a:ext cx="2321391" cy="3482087"/>
          </a:xfrm>
          <a:prstGeom prst="rect">
            <a:avLst/>
          </a:prstGeom>
        </p:spPr>
      </p:pic>
      <p:pic>
        <p:nvPicPr>
          <p:cNvPr id="15" name="Picture 14">
            <a:extLst>
              <a:ext uri="{FF2B5EF4-FFF2-40B4-BE49-F238E27FC236}">
                <a16:creationId xmlns:a16="http://schemas.microsoft.com/office/drawing/2014/main" id="{E7E40776-EA78-2B0C-D437-6181AABF7C8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153399" y="1104679"/>
            <a:ext cx="2321391" cy="3482087"/>
          </a:xfrm>
          <a:prstGeom prst="rect">
            <a:avLst/>
          </a:prstGeom>
        </p:spPr>
      </p:pic>
      <p:pic>
        <p:nvPicPr>
          <p:cNvPr id="17" name="Picture 16">
            <a:extLst>
              <a:ext uri="{FF2B5EF4-FFF2-40B4-BE49-F238E27FC236}">
                <a16:creationId xmlns:a16="http://schemas.microsoft.com/office/drawing/2014/main" id="{FD7D9E72-BBA0-53D1-DD8A-75BA4F7ECBB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15214" y="1068686"/>
            <a:ext cx="2321392" cy="3482088"/>
          </a:xfrm>
          <a:prstGeom prst="rect">
            <a:avLst/>
          </a:prstGeom>
        </p:spPr>
      </p:pic>
      <p:sp>
        <p:nvSpPr>
          <p:cNvPr id="18" name="TextBox 17">
            <a:extLst>
              <a:ext uri="{FF2B5EF4-FFF2-40B4-BE49-F238E27FC236}">
                <a16:creationId xmlns:a16="http://schemas.microsoft.com/office/drawing/2014/main" id="{A473098A-5A65-A7BC-BACF-2478F93C0806}"/>
              </a:ext>
            </a:extLst>
          </p:cNvPr>
          <p:cNvSpPr txBox="1"/>
          <p:nvPr/>
        </p:nvSpPr>
        <p:spPr>
          <a:xfrm>
            <a:off x="1569720" y="4691291"/>
            <a:ext cx="128016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KIF11</a:t>
            </a:r>
          </a:p>
        </p:txBody>
      </p:sp>
      <p:sp>
        <p:nvSpPr>
          <p:cNvPr id="19" name="TextBox 18">
            <a:extLst>
              <a:ext uri="{FF2B5EF4-FFF2-40B4-BE49-F238E27FC236}">
                <a16:creationId xmlns:a16="http://schemas.microsoft.com/office/drawing/2014/main" id="{2ACE8D7F-9AD9-DE60-955C-6E6A110AB8FB}"/>
              </a:ext>
            </a:extLst>
          </p:cNvPr>
          <p:cNvSpPr txBox="1"/>
          <p:nvPr/>
        </p:nvSpPr>
        <p:spPr>
          <a:xfrm>
            <a:off x="5134762" y="4691291"/>
            <a:ext cx="151920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MELK</a:t>
            </a:r>
          </a:p>
        </p:txBody>
      </p:sp>
      <p:sp>
        <p:nvSpPr>
          <p:cNvPr id="21" name="TextBox 20">
            <a:extLst>
              <a:ext uri="{FF2B5EF4-FFF2-40B4-BE49-F238E27FC236}">
                <a16:creationId xmlns:a16="http://schemas.microsoft.com/office/drawing/2014/main" id="{94D8B1D6-19C9-575B-DA62-7E3FF90EDB82}"/>
              </a:ext>
            </a:extLst>
          </p:cNvPr>
          <p:cNvSpPr txBox="1"/>
          <p:nvPr/>
        </p:nvSpPr>
        <p:spPr>
          <a:xfrm>
            <a:off x="8823958" y="4667536"/>
            <a:ext cx="139856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TOP2A</a:t>
            </a:r>
          </a:p>
        </p:txBody>
      </p:sp>
      <p:sp>
        <p:nvSpPr>
          <p:cNvPr id="22" name="TextBox 21">
            <a:extLst>
              <a:ext uri="{FF2B5EF4-FFF2-40B4-BE49-F238E27FC236}">
                <a16:creationId xmlns:a16="http://schemas.microsoft.com/office/drawing/2014/main" id="{7569CAD1-801D-BE06-5DEC-E91EFC96B503}"/>
              </a:ext>
            </a:extLst>
          </p:cNvPr>
          <p:cNvSpPr txBox="1"/>
          <p:nvPr/>
        </p:nvSpPr>
        <p:spPr>
          <a:xfrm>
            <a:off x="838200" y="5060623"/>
            <a:ext cx="10515600" cy="1600438"/>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Fig. 8: Comparison of mRNA expression levels between LUAD tumor tissues (T, n = 483) and adjacent normal tissues (N, n = 347) for the identified hub genes. (a) CCNB1, (b) CDCA8, (c) CDK1, (d) DLGAP5, (e) KIF11, (f) MELK, and (g) TOP2A. The analysis demonstrates significantly higher expression of tumor samples and normal tissues, supporting their potential roles in lung adenocarcinoma development and progression. Statistical significance was determined using appropriate differential expression analysis methods.</a:t>
            </a:r>
          </a:p>
          <a:p>
            <a:endParaRPr lang="en-US" dirty="0"/>
          </a:p>
        </p:txBody>
      </p:sp>
    </p:spTree>
    <p:extLst>
      <p:ext uri="{BB962C8B-B14F-4D97-AF65-F5344CB8AC3E}">
        <p14:creationId xmlns:p14="http://schemas.microsoft.com/office/powerpoint/2010/main" val="4173311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3A9AD56-C28B-6F7F-754D-ECFE7D3FF733}"/>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D9C58F6-AE6B-2006-48C8-944D910B353F}"/>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 y="4830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B6DAC683-822B-B556-CF90-DAF4AE4A9A2E}"/>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65FED538-8657-D3E4-8D7A-82D420FB04B0}"/>
              </a:ext>
            </a:extLst>
          </p:cNvPr>
          <p:cNvSpPr/>
          <p:nvPr/>
        </p:nvSpPr>
        <p:spPr>
          <a:xfrm>
            <a:off x="11543742" y="6249259"/>
            <a:ext cx="698041" cy="461665"/>
          </a:xfrm>
          <a:prstGeom prst="rect">
            <a:avLst/>
          </a:prstGeom>
        </p:spPr>
        <p:txBody>
          <a:bodyPr wrap="square">
            <a:spAutoFit/>
          </a:bodyPr>
          <a:lstStyle/>
          <a:p>
            <a:r>
              <a:rPr lang="en-US" sz="2400" b="1" dirty="0">
                <a:solidFill>
                  <a:schemeClr val="tx1">
                    <a:lumMod val="50000"/>
                    <a:lumOff val="50000"/>
                  </a:schemeClr>
                </a:solidFill>
              </a:rPr>
              <a:t>25</a:t>
            </a:r>
          </a:p>
        </p:txBody>
      </p:sp>
      <p:pic>
        <p:nvPicPr>
          <p:cNvPr id="8" name="Picture 7">
            <a:extLst>
              <a:ext uri="{FF2B5EF4-FFF2-40B4-BE49-F238E27FC236}">
                <a16:creationId xmlns:a16="http://schemas.microsoft.com/office/drawing/2014/main" id="{9DCE0BDB-C56F-37A2-3DE2-BED0E35FD20B}"/>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833D7CE2-A266-9944-A616-297EE0343F1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73ACD40C-BA01-7622-33E5-CD79F78C5054}"/>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9106D527-4AD8-D7EA-BCD0-80907261CBBF}"/>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New Roman" panose="02020603050405020304" pitchFamily="18" charset="0"/>
                <a:cs typeface="Times New Roman" panose="02020603050405020304" pitchFamily="18" charset="0"/>
              </a:rPr>
              <a:t>           Survival analysis </a:t>
            </a:r>
          </a:p>
        </p:txBody>
      </p:sp>
      <p:sp>
        <p:nvSpPr>
          <p:cNvPr id="3" name="Date Placeholder 2">
            <a:extLst>
              <a:ext uri="{FF2B5EF4-FFF2-40B4-BE49-F238E27FC236}">
                <a16:creationId xmlns:a16="http://schemas.microsoft.com/office/drawing/2014/main" id="{B26A8263-7529-BBDF-0264-C49D52486D97}"/>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793E1FC8-6F05-03DD-270F-914C202A3D9F}"/>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18" name="TextBox 17">
            <a:extLst>
              <a:ext uri="{FF2B5EF4-FFF2-40B4-BE49-F238E27FC236}">
                <a16:creationId xmlns:a16="http://schemas.microsoft.com/office/drawing/2014/main" id="{5606225E-D45A-B336-311E-F09C55050D91}"/>
              </a:ext>
            </a:extLst>
          </p:cNvPr>
          <p:cNvSpPr txBox="1"/>
          <p:nvPr/>
        </p:nvSpPr>
        <p:spPr>
          <a:xfrm>
            <a:off x="1154723" y="4504851"/>
            <a:ext cx="105507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CCNB1</a:t>
            </a:r>
          </a:p>
        </p:txBody>
      </p:sp>
      <p:sp>
        <p:nvSpPr>
          <p:cNvPr id="19" name="TextBox 18">
            <a:extLst>
              <a:ext uri="{FF2B5EF4-FFF2-40B4-BE49-F238E27FC236}">
                <a16:creationId xmlns:a16="http://schemas.microsoft.com/office/drawing/2014/main" id="{DE08616A-6BC0-47EE-57D6-D54FD4C9A7EE}"/>
              </a:ext>
            </a:extLst>
          </p:cNvPr>
          <p:cNvSpPr txBox="1"/>
          <p:nvPr/>
        </p:nvSpPr>
        <p:spPr>
          <a:xfrm>
            <a:off x="4073143" y="4549131"/>
            <a:ext cx="93700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CDCA8</a:t>
            </a:r>
          </a:p>
        </p:txBody>
      </p:sp>
      <p:sp>
        <p:nvSpPr>
          <p:cNvPr id="22" name="TextBox 21">
            <a:extLst>
              <a:ext uri="{FF2B5EF4-FFF2-40B4-BE49-F238E27FC236}">
                <a16:creationId xmlns:a16="http://schemas.microsoft.com/office/drawing/2014/main" id="{FC6BF4EB-9708-D7F4-4D31-869D4156342D}"/>
              </a:ext>
            </a:extLst>
          </p:cNvPr>
          <p:cNvSpPr txBox="1"/>
          <p:nvPr/>
        </p:nvSpPr>
        <p:spPr>
          <a:xfrm>
            <a:off x="7181858" y="4513425"/>
            <a:ext cx="112541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CDK1</a:t>
            </a:r>
          </a:p>
        </p:txBody>
      </p:sp>
      <p:sp>
        <p:nvSpPr>
          <p:cNvPr id="25" name="TextBox 24">
            <a:extLst>
              <a:ext uri="{FF2B5EF4-FFF2-40B4-BE49-F238E27FC236}">
                <a16:creationId xmlns:a16="http://schemas.microsoft.com/office/drawing/2014/main" id="{D7804681-9831-4166-4382-BA6D22EE1387}"/>
              </a:ext>
            </a:extLst>
          </p:cNvPr>
          <p:cNvSpPr txBox="1"/>
          <p:nvPr/>
        </p:nvSpPr>
        <p:spPr>
          <a:xfrm>
            <a:off x="9958984" y="4549131"/>
            <a:ext cx="112541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DLGAP5</a:t>
            </a:r>
          </a:p>
        </p:txBody>
      </p:sp>
      <p:pic>
        <p:nvPicPr>
          <p:cNvPr id="7" name="Picture 6">
            <a:extLst>
              <a:ext uri="{FF2B5EF4-FFF2-40B4-BE49-F238E27FC236}">
                <a16:creationId xmlns:a16="http://schemas.microsoft.com/office/drawing/2014/main" id="{5D45635F-333B-8140-0747-C507469DF56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35300" y="1114610"/>
            <a:ext cx="2807888" cy="3390241"/>
          </a:xfrm>
          <a:prstGeom prst="rect">
            <a:avLst/>
          </a:prstGeom>
        </p:spPr>
      </p:pic>
      <p:pic>
        <p:nvPicPr>
          <p:cNvPr id="16" name="Picture 15">
            <a:extLst>
              <a:ext uri="{FF2B5EF4-FFF2-40B4-BE49-F238E27FC236}">
                <a16:creationId xmlns:a16="http://schemas.microsoft.com/office/drawing/2014/main" id="{D5462C8F-AA2F-B903-2CBE-9D29948FECC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103155" y="1114609"/>
            <a:ext cx="2807888" cy="3416401"/>
          </a:xfrm>
          <a:prstGeom prst="rect">
            <a:avLst/>
          </a:prstGeom>
        </p:spPr>
      </p:pic>
      <p:pic>
        <p:nvPicPr>
          <p:cNvPr id="20" name="Picture 19">
            <a:extLst>
              <a:ext uri="{FF2B5EF4-FFF2-40B4-BE49-F238E27FC236}">
                <a16:creationId xmlns:a16="http://schemas.microsoft.com/office/drawing/2014/main" id="{0D564E4A-EC85-E982-897C-48699D1BDBC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095998" y="1114609"/>
            <a:ext cx="2836077" cy="3375951"/>
          </a:xfrm>
          <a:prstGeom prst="rect">
            <a:avLst/>
          </a:prstGeom>
        </p:spPr>
      </p:pic>
      <p:pic>
        <p:nvPicPr>
          <p:cNvPr id="26" name="Picture 25">
            <a:extLst>
              <a:ext uri="{FF2B5EF4-FFF2-40B4-BE49-F238E27FC236}">
                <a16:creationId xmlns:a16="http://schemas.microsoft.com/office/drawing/2014/main" id="{F2D0C695-A0C3-FB60-7950-E4A551089FD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158003" y="1140787"/>
            <a:ext cx="2649959" cy="3372638"/>
          </a:xfrm>
          <a:prstGeom prst="rect">
            <a:avLst/>
          </a:prstGeom>
        </p:spPr>
      </p:pic>
      <p:sp>
        <p:nvSpPr>
          <p:cNvPr id="27" name="TextBox 26">
            <a:extLst>
              <a:ext uri="{FF2B5EF4-FFF2-40B4-BE49-F238E27FC236}">
                <a16:creationId xmlns:a16="http://schemas.microsoft.com/office/drawing/2014/main" id="{258510C2-8071-6468-DD50-6CDC26D9A7E8}"/>
              </a:ext>
            </a:extLst>
          </p:cNvPr>
          <p:cNvSpPr txBox="1"/>
          <p:nvPr/>
        </p:nvSpPr>
        <p:spPr>
          <a:xfrm>
            <a:off x="320100" y="4967747"/>
            <a:ext cx="11572662" cy="1077218"/>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Fig.9: Survival analysis was conducted on the selected hub genes in patients with LUAD: (a) CCNB1, (b) CDCA8, (c) CDK1, (d) DLGAP5, (e) KIF11, (f) MELK, and (g) TOP2A. Kaplan–Meier survival curves were used to assess the prognostic value of each gene based on overall survival in lung adenocarcinoma patients. Elevated expression levels of these genes were typically linked to worse survival outcomes, highlighting their potential as prognostic biomarkers in LUAD.</a:t>
            </a:r>
          </a:p>
        </p:txBody>
      </p:sp>
    </p:spTree>
    <p:extLst>
      <p:ext uri="{BB962C8B-B14F-4D97-AF65-F5344CB8AC3E}">
        <p14:creationId xmlns:p14="http://schemas.microsoft.com/office/powerpoint/2010/main" val="1101701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2912EB7D-3959-229A-DE1E-49C6EFCBACB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3D0ABC7-9FDA-0669-6CE2-0915B4012C59}"/>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4304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D894DE8E-3ACD-5807-5423-402D7D3F8F16}"/>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566D1530-27F4-951C-8B91-5F90B4F36FC1}"/>
              </a:ext>
            </a:extLst>
          </p:cNvPr>
          <p:cNvSpPr/>
          <p:nvPr/>
        </p:nvSpPr>
        <p:spPr>
          <a:xfrm>
            <a:off x="11564083" y="6259810"/>
            <a:ext cx="670956" cy="461665"/>
          </a:xfrm>
          <a:prstGeom prst="rect">
            <a:avLst/>
          </a:prstGeom>
        </p:spPr>
        <p:txBody>
          <a:bodyPr wrap="square">
            <a:spAutoFit/>
          </a:bodyPr>
          <a:lstStyle/>
          <a:p>
            <a:r>
              <a:rPr lang="en-US" sz="2400" b="1" dirty="0">
                <a:solidFill>
                  <a:schemeClr val="tx1">
                    <a:lumMod val="50000"/>
                    <a:lumOff val="50000"/>
                  </a:schemeClr>
                </a:solidFill>
              </a:rPr>
              <a:t>26</a:t>
            </a:r>
          </a:p>
        </p:txBody>
      </p:sp>
      <p:pic>
        <p:nvPicPr>
          <p:cNvPr id="8" name="Picture 7">
            <a:extLst>
              <a:ext uri="{FF2B5EF4-FFF2-40B4-BE49-F238E27FC236}">
                <a16:creationId xmlns:a16="http://schemas.microsoft.com/office/drawing/2014/main" id="{6E594D3E-4CEC-EB4A-043F-02F32325A795}"/>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0A2277D6-523A-AD6F-BA7C-120876760A9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D6755B7C-CB32-CEF7-15E2-74A0D08A45F1}"/>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418AAA85-31DA-E509-069F-710A03162072}"/>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New Roman" panose="02020603050405020304" pitchFamily="18" charset="0"/>
                <a:cs typeface="Times New Roman" panose="02020603050405020304" pitchFamily="18" charset="0"/>
              </a:rPr>
              <a:t>Survival Analysis </a:t>
            </a:r>
            <a:r>
              <a:rPr lang="en-US" sz="4000" dirty="0" err="1">
                <a:latin typeface="Times New Roman" panose="02020603050405020304" pitchFamily="18" charset="0"/>
                <a:cs typeface="Times New Roman" panose="02020603050405020304" pitchFamily="18" charset="0"/>
              </a:rPr>
              <a:t>Cont</a:t>
            </a:r>
            <a:r>
              <a:rPr lang="en-US" sz="4000" dirty="0">
                <a:latin typeface="Times New Roman" panose="02020603050405020304" pitchFamily="18" charset="0"/>
                <a:cs typeface="Times New Roman" panose="02020603050405020304" pitchFamily="18" charset="0"/>
              </a:rPr>
              <a:t>…</a:t>
            </a:r>
            <a:endParaRPr lang="en-US" sz="4000" b="1" dirty="0">
              <a:solidFill>
                <a:schemeClr val="bg1"/>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837D894A-8DF1-C83A-D0EB-E3226040511E}"/>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8B14F68D-4942-BB60-7B6E-AD75D46F8C61}"/>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18" name="TextBox 17">
            <a:extLst>
              <a:ext uri="{FF2B5EF4-FFF2-40B4-BE49-F238E27FC236}">
                <a16:creationId xmlns:a16="http://schemas.microsoft.com/office/drawing/2014/main" id="{4C763E6C-F73B-645C-3971-163075578C8D}"/>
              </a:ext>
            </a:extLst>
          </p:cNvPr>
          <p:cNvSpPr txBox="1"/>
          <p:nvPr/>
        </p:nvSpPr>
        <p:spPr>
          <a:xfrm>
            <a:off x="1641653" y="4768898"/>
            <a:ext cx="128016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KIF11</a:t>
            </a:r>
          </a:p>
        </p:txBody>
      </p:sp>
      <p:sp>
        <p:nvSpPr>
          <p:cNvPr id="19" name="TextBox 18">
            <a:extLst>
              <a:ext uri="{FF2B5EF4-FFF2-40B4-BE49-F238E27FC236}">
                <a16:creationId xmlns:a16="http://schemas.microsoft.com/office/drawing/2014/main" id="{404A7EA8-0980-7CD3-0D15-65BA5D689136}"/>
              </a:ext>
            </a:extLst>
          </p:cNvPr>
          <p:cNvSpPr txBox="1"/>
          <p:nvPr/>
        </p:nvSpPr>
        <p:spPr>
          <a:xfrm>
            <a:off x="5402479" y="4768898"/>
            <a:ext cx="151920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MELK</a:t>
            </a:r>
          </a:p>
        </p:txBody>
      </p:sp>
      <p:sp>
        <p:nvSpPr>
          <p:cNvPr id="21" name="TextBox 20">
            <a:extLst>
              <a:ext uri="{FF2B5EF4-FFF2-40B4-BE49-F238E27FC236}">
                <a16:creationId xmlns:a16="http://schemas.microsoft.com/office/drawing/2014/main" id="{44D7FDCE-8A32-4F63-57BE-8A3920407DA0}"/>
              </a:ext>
            </a:extLst>
          </p:cNvPr>
          <p:cNvSpPr txBox="1"/>
          <p:nvPr/>
        </p:nvSpPr>
        <p:spPr>
          <a:xfrm>
            <a:off x="9335084" y="4711474"/>
            <a:ext cx="139856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TOP2A</a:t>
            </a:r>
          </a:p>
        </p:txBody>
      </p:sp>
      <p:pic>
        <p:nvPicPr>
          <p:cNvPr id="7" name="Picture 6">
            <a:extLst>
              <a:ext uri="{FF2B5EF4-FFF2-40B4-BE49-F238E27FC236}">
                <a16:creationId xmlns:a16="http://schemas.microsoft.com/office/drawing/2014/main" id="{D65815A8-1DFE-0FFC-05E3-6E228CE7D75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098" y="1116987"/>
            <a:ext cx="3223404" cy="3550549"/>
          </a:xfrm>
          <a:prstGeom prst="rect">
            <a:avLst/>
          </a:prstGeom>
        </p:spPr>
      </p:pic>
      <p:pic>
        <p:nvPicPr>
          <p:cNvPr id="16" name="Picture 15">
            <a:extLst>
              <a:ext uri="{FF2B5EF4-FFF2-40B4-BE49-F238E27FC236}">
                <a16:creationId xmlns:a16="http://schemas.microsoft.com/office/drawing/2014/main" id="{11A06ACA-7799-11F0-3D44-583FCC7443A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376560" y="1116986"/>
            <a:ext cx="3223403" cy="3550549"/>
          </a:xfrm>
          <a:prstGeom prst="rect">
            <a:avLst/>
          </a:prstGeom>
        </p:spPr>
      </p:pic>
      <p:pic>
        <p:nvPicPr>
          <p:cNvPr id="22" name="Picture 21">
            <a:extLst>
              <a:ext uri="{FF2B5EF4-FFF2-40B4-BE49-F238E27FC236}">
                <a16:creationId xmlns:a16="http://schemas.microsoft.com/office/drawing/2014/main" id="{C8C411F1-5B81-7199-427F-D040F6EE1A8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153399" y="1116986"/>
            <a:ext cx="3223403" cy="3550549"/>
          </a:xfrm>
          <a:prstGeom prst="rect">
            <a:avLst/>
          </a:prstGeom>
        </p:spPr>
      </p:pic>
      <p:sp>
        <p:nvSpPr>
          <p:cNvPr id="23" name="TextBox 22">
            <a:extLst>
              <a:ext uri="{FF2B5EF4-FFF2-40B4-BE49-F238E27FC236}">
                <a16:creationId xmlns:a16="http://schemas.microsoft.com/office/drawing/2014/main" id="{0B951A52-AEA8-DBDC-7825-C917E9606350}"/>
              </a:ext>
            </a:extLst>
          </p:cNvPr>
          <p:cNvSpPr txBox="1"/>
          <p:nvPr/>
        </p:nvSpPr>
        <p:spPr>
          <a:xfrm>
            <a:off x="505268" y="4973333"/>
            <a:ext cx="10965985" cy="1077218"/>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Fig.9: Survival analysis was conducted on the selected hub genes in patients with LUAD: (a) CCNB1, (b) CDCA8, (c) CDK1, (d) DLGAP5, (e) KIF11, (f) MELK, and (g) TOP2A. Kaplan–Meier survival curves were used to assess the prognostic value of each gene based on overall survival in lung adenocarcinoma patients. Elevated expression levels of these genes were typically linked to worse survival outcomes, highlighting their potential as prognostic biomarkers in LUAD.</a:t>
            </a:r>
          </a:p>
        </p:txBody>
      </p:sp>
    </p:spTree>
    <p:extLst>
      <p:ext uri="{BB962C8B-B14F-4D97-AF65-F5344CB8AC3E}">
        <p14:creationId xmlns:p14="http://schemas.microsoft.com/office/powerpoint/2010/main" val="141090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88E43D3-65FB-0031-1FA9-9CBD3F774319}"/>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A85AF9A-6C44-2DF7-D386-E25571A29088}"/>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386ABC75-1C1F-7ED9-C6A1-D63450CBD494}"/>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2CB7379E-DB8C-90BD-C909-21E19058EC83}"/>
              </a:ext>
            </a:extLst>
          </p:cNvPr>
          <p:cNvSpPr/>
          <p:nvPr/>
        </p:nvSpPr>
        <p:spPr>
          <a:xfrm>
            <a:off x="11564083" y="6259810"/>
            <a:ext cx="670956" cy="461665"/>
          </a:xfrm>
          <a:prstGeom prst="rect">
            <a:avLst/>
          </a:prstGeom>
        </p:spPr>
        <p:txBody>
          <a:bodyPr wrap="square">
            <a:spAutoFit/>
          </a:bodyPr>
          <a:lstStyle/>
          <a:p>
            <a:r>
              <a:rPr lang="en-US" sz="2400" b="1" dirty="0">
                <a:solidFill>
                  <a:schemeClr val="tx1">
                    <a:lumMod val="50000"/>
                    <a:lumOff val="50000"/>
                  </a:schemeClr>
                </a:solidFill>
              </a:rPr>
              <a:t>27</a:t>
            </a:r>
          </a:p>
        </p:txBody>
      </p:sp>
      <p:pic>
        <p:nvPicPr>
          <p:cNvPr id="8" name="Picture 7">
            <a:extLst>
              <a:ext uri="{FF2B5EF4-FFF2-40B4-BE49-F238E27FC236}">
                <a16:creationId xmlns:a16="http://schemas.microsoft.com/office/drawing/2014/main" id="{8471E707-C8D3-CD9A-0729-6FD52897882E}"/>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67B8CC82-5CE1-CAED-6914-B0C5AD7CB61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B00B8ED3-843A-A5AA-25E0-BDB347E431D0}"/>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018F4F4E-DD6D-97C1-36E1-F1098DC64F41}"/>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Times New Roman" panose="02020603050405020304" pitchFamily="18" charset="0"/>
                <a:cs typeface="Times New Roman" panose="02020603050405020304" pitchFamily="18" charset="0"/>
              </a:rPr>
              <a:t>Gene-regulatory network</a:t>
            </a:r>
          </a:p>
        </p:txBody>
      </p:sp>
      <p:sp>
        <p:nvSpPr>
          <p:cNvPr id="3" name="Date Placeholder 2">
            <a:extLst>
              <a:ext uri="{FF2B5EF4-FFF2-40B4-BE49-F238E27FC236}">
                <a16:creationId xmlns:a16="http://schemas.microsoft.com/office/drawing/2014/main" id="{10B8698A-6470-C477-7FD1-F812BE86D576}"/>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BE9B8ED5-180B-7647-B682-820D2F83A29A}"/>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3" name="Picture 12">
            <a:extLst>
              <a:ext uri="{FF2B5EF4-FFF2-40B4-BE49-F238E27FC236}">
                <a16:creationId xmlns:a16="http://schemas.microsoft.com/office/drawing/2014/main" id="{696F3061-1963-35EA-B602-F260B08164F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1131" y="1061348"/>
            <a:ext cx="5021877" cy="4214800"/>
          </a:xfrm>
          <a:prstGeom prst="rect">
            <a:avLst/>
          </a:prstGeom>
        </p:spPr>
      </p:pic>
      <p:pic>
        <p:nvPicPr>
          <p:cNvPr id="15" name="Picture 14">
            <a:extLst>
              <a:ext uri="{FF2B5EF4-FFF2-40B4-BE49-F238E27FC236}">
                <a16:creationId xmlns:a16="http://schemas.microsoft.com/office/drawing/2014/main" id="{95BC1138-0F71-FEA3-31A9-20C17D72F59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13527" y="1072016"/>
            <a:ext cx="5273518" cy="4214800"/>
          </a:xfrm>
          <a:prstGeom prst="rect">
            <a:avLst/>
          </a:prstGeom>
        </p:spPr>
      </p:pic>
      <p:sp>
        <p:nvSpPr>
          <p:cNvPr id="16" name="TextBox 15">
            <a:extLst>
              <a:ext uri="{FF2B5EF4-FFF2-40B4-BE49-F238E27FC236}">
                <a16:creationId xmlns:a16="http://schemas.microsoft.com/office/drawing/2014/main" id="{D1FED9DC-9597-0D0F-D8D1-810197C6B9A7}"/>
              </a:ext>
            </a:extLst>
          </p:cNvPr>
          <p:cNvSpPr txBox="1"/>
          <p:nvPr/>
        </p:nvSpPr>
        <p:spPr>
          <a:xfrm>
            <a:off x="591131" y="5276148"/>
            <a:ext cx="11044793"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Fig.10: Gene regulatory network analysis of common hub genes. (a) Gene–miRNA interaction network showing regulatory relationships between hub genes and their associated microRNAs. (b) Transcription factor (TF)–gene interaction network illustrating key TFs predicted to regulate the expression of the identified hub genes. These networks highlight the post-transcriptional and transcriptional regulation involved in lung.</a:t>
            </a:r>
          </a:p>
        </p:txBody>
      </p:sp>
    </p:spTree>
    <p:extLst>
      <p:ext uri="{BB962C8B-B14F-4D97-AF65-F5344CB8AC3E}">
        <p14:creationId xmlns:p14="http://schemas.microsoft.com/office/powerpoint/2010/main" val="678514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DFFF47C8-43DC-FEAE-510F-BC4CC5192675}"/>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E657AFE-5B45-C2EB-7ED6-C6407DDABDEB}"/>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 y="48304"/>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3B646CD6-6E3F-F4AF-9CE3-6C504D6D3536}"/>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B822B793-87AC-8AE7-8567-0D994D5C8BFF}"/>
              </a:ext>
            </a:extLst>
          </p:cNvPr>
          <p:cNvSpPr/>
          <p:nvPr/>
        </p:nvSpPr>
        <p:spPr>
          <a:xfrm>
            <a:off x="11543742" y="6249259"/>
            <a:ext cx="698041" cy="461665"/>
          </a:xfrm>
          <a:prstGeom prst="rect">
            <a:avLst/>
          </a:prstGeom>
        </p:spPr>
        <p:txBody>
          <a:bodyPr wrap="square">
            <a:spAutoFit/>
          </a:bodyPr>
          <a:lstStyle/>
          <a:p>
            <a:r>
              <a:rPr lang="en-US" sz="2400" b="1" dirty="0">
                <a:solidFill>
                  <a:schemeClr val="tx1">
                    <a:lumMod val="50000"/>
                    <a:lumOff val="50000"/>
                  </a:schemeClr>
                </a:solidFill>
              </a:rPr>
              <a:t>28</a:t>
            </a:r>
          </a:p>
        </p:txBody>
      </p:sp>
      <p:pic>
        <p:nvPicPr>
          <p:cNvPr id="8" name="Picture 7">
            <a:extLst>
              <a:ext uri="{FF2B5EF4-FFF2-40B4-BE49-F238E27FC236}">
                <a16:creationId xmlns:a16="http://schemas.microsoft.com/office/drawing/2014/main" id="{65C30390-541D-DC63-1714-E3AD060FA0C6}"/>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19C3B6DC-11AB-AD7D-9591-158EA3E63D3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D45B97FB-4B64-24A1-35B3-B1540C387705}"/>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CA384C4F-46B7-5E98-D73F-B0A1D56D2891}"/>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New Roman" panose="02020603050405020304" pitchFamily="18" charset="0"/>
                <a:cs typeface="Times New Roman" panose="02020603050405020304" pitchFamily="18" charset="0"/>
              </a:rPr>
              <a:t>           Molecular docking</a:t>
            </a:r>
          </a:p>
        </p:txBody>
      </p:sp>
      <p:sp>
        <p:nvSpPr>
          <p:cNvPr id="3" name="Date Placeholder 2">
            <a:extLst>
              <a:ext uri="{FF2B5EF4-FFF2-40B4-BE49-F238E27FC236}">
                <a16:creationId xmlns:a16="http://schemas.microsoft.com/office/drawing/2014/main" id="{FC50822B-2FA6-2746-F303-6B779F8E04DA}"/>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4737AE38-1D28-735C-94F9-B450DC5751B2}"/>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18" name="TextBox 17">
            <a:extLst>
              <a:ext uri="{FF2B5EF4-FFF2-40B4-BE49-F238E27FC236}">
                <a16:creationId xmlns:a16="http://schemas.microsoft.com/office/drawing/2014/main" id="{A65A4615-9D43-760D-DD00-6542DECCE607}"/>
              </a:ext>
            </a:extLst>
          </p:cNvPr>
          <p:cNvSpPr txBox="1"/>
          <p:nvPr/>
        </p:nvSpPr>
        <p:spPr>
          <a:xfrm>
            <a:off x="710397" y="4493265"/>
            <a:ext cx="105507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CCNB1</a:t>
            </a:r>
          </a:p>
        </p:txBody>
      </p:sp>
      <p:sp>
        <p:nvSpPr>
          <p:cNvPr id="19" name="TextBox 18">
            <a:extLst>
              <a:ext uri="{FF2B5EF4-FFF2-40B4-BE49-F238E27FC236}">
                <a16:creationId xmlns:a16="http://schemas.microsoft.com/office/drawing/2014/main" id="{468874CD-0318-C411-9707-C61A997A993F}"/>
              </a:ext>
            </a:extLst>
          </p:cNvPr>
          <p:cNvSpPr txBox="1"/>
          <p:nvPr/>
        </p:nvSpPr>
        <p:spPr>
          <a:xfrm>
            <a:off x="3662691" y="4491495"/>
            <a:ext cx="93700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CDCA8</a:t>
            </a:r>
          </a:p>
        </p:txBody>
      </p:sp>
      <p:sp>
        <p:nvSpPr>
          <p:cNvPr id="22" name="TextBox 21">
            <a:extLst>
              <a:ext uri="{FF2B5EF4-FFF2-40B4-BE49-F238E27FC236}">
                <a16:creationId xmlns:a16="http://schemas.microsoft.com/office/drawing/2014/main" id="{BAC07C05-068C-9A18-98B5-1D9E0EE202E2}"/>
              </a:ext>
            </a:extLst>
          </p:cNvPr>
          <p:cNvSpPr txBox="1"/>
          <p:nvPr/>
        </p:nvSpPr>
        <p:spPr>
          <a:xfrm>
            <a:off x="6689610" y="4481293"/>
            <a:ext cx="112541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CDK1</a:t>
            </a:r>
          </a:p>
        </p:txBody>
      </p:sp>
      <p:sp>
        <p:nvSpPr>
          <p:cNvPr id="25" name="TextBox 24">
            <a:extLst>
              <a:ext uri="{FF2B5EF4-FFF2-40B4-BE49-F238E27FC236}">
                <a16:creationId xmlns:a16="http://schemas.microsoft.com/office/drawing/2014/main" id="{93809BB7-7C5E-B5D8-CE68-CCF98AC139BA}"/>
              </a:ext>
            </a:extLst>
          </p:cNvPr>
          <p:cNvSpPr txBox="1"/>
          <p:nvPr/>
        </p:nvSpPr>
        <p:spPr>
          <a:xfrm>
            <a:off x="9904943" y="4502415"/>
            <a:ext cx="112541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DLGAP5</a:t>
            </a:r>
          </a:p>
        </p:txBody>
      </p:sp>
      <p:pic>
        <p:nvPicPr>
          <p:cNvPr id="13" name="Picture 12">
            <a:extLst>
              <a:ext uri="{FF2B5EF4-FFF2-40B4-BE49-F238E27FC236}">
                <a16:creationId xmlns:a16="http://schemas.microsoft.com/office/drawing/2014/main" id="{269B25B8-F337-5714-99BF-B0CDDBE3CAF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0357" y="1364566"/>
            <a:ext cx="2685804" cy="2992174"/>
          </a:xfrm>
          <a:prstGeom prst="rect">
            <a:avLst/>
          </a:prstGeom>
        </p:spPr>
      </p:pic>
      <p:pic>
        <p:nvPicPr>
          <p:cNvPr id="15" name="Picture 14">
            <a:extLst>
              <a:ext uri="{FF2B5EF4-FFF2-40B4-BE49-F238E27FC236}">
                <a16:creationId xmlns:a16="http://schemas.microsoft.com/office/drawing/2014/main" id="{17EC6FEB-7070-89DA-26E2-52C9FA272F3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40530" y="1380644"/>
            <a:ext cx="2796508" cy="2942655"/>
          </a:xfrm>
          <a:prstGeom prst="rect">
            <a:avLst/>
          </a:prstGeom>
        </p:spPr>
      </p:pic>
      <p:pic>
        <p:nvPicPr>
          <p:cNvPr id="21" name="Picture 20">
            <a:extLst>
              <a:ext uri="{FF2B5EF4-FFF2-40B4-BE49-F238E27FC236}">
                <a16:creationId xmlns:a16="http://schemas.microsoft.com/office/drawing/2014/main" id="{144264B6-3C38-73FB-926B-8F863379F5B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934300" y="1364566"/>
            <a:ext cx="2892464" cy="2992174"/>
          </a:xfrm>
          <a:prstGeom prst="rect">
            <a:avLst/>
          </a:prstGeom>
        </p:spPr>
      </p:pic>
      <p:pic>
        <p:nvPicPr>
          <p:cNvPr id="24" name="Picture 23">
            <a:extLst>
              <a:ext uri="{FF2B5EF4-FFF2-40B4-BE49-F238E27FC236}">
                <a16:creationId xmlns:a16="http://schemas.microsoft.com/office/drawing/2014/main" id="{9BC1659D-1991-0AA3-9580-E54C0BD56C2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924028" y="1364567"/>
            <a:ext cx="2924118" cy="3020874"/>
          </a:xfrm>
          <a:prstGeom prst="rect">
            <a:avLst/>
          </a:prstGeom>
        </p:spPr>
      </p:pic>
      <p:sp>
        <p:nvSpPr>
          <p:cNvPr id="27" name="TextBox 26">
            <a:extLst>
              <a:ext uri="{FF2B5EF4-FFF2-40B4-BE49-F238E27FC236}">
                <a16:creationId xmlns:a16="http://schemas.microsoft.com/office/drawing/2014/main" id="{1F4AF8F3-F290-1147-423D-8A28F4172003}"/>
              </a:ext>
            </a:extLst>
          </p:cNvPr>
          <p:cNvSpPr txBox="1"/>
          <p:nvPr/>
        </p:nvSpPr>
        <p:spPr>
          <a:xfrm>
            <a:off x="447819" y="5161421"/>
            <a:ext cx="11296357"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Fig.11: Molecular docking configuration of six identified hub genes with the FDA-approved drug Adagrasib. (a) CCNB1; (b) CDCA8; (c) CDK1; (d) DLGAP5; (e) KIF11; (f) MELK; (g) TOP2A. Protein structures are displayed in green, and the docked ligand (Adagrasib) is shown in blue.</a:t>
            </a:r>
          </a:p>
        </p:txBody>
      </p:sp>
    </p:spTree>
    <p:extLst>
      <p:ext uri="{BB962C8B-B14F-4D97-AF65-F5344CB8AC3E}">
        <p14:creationId xmlns:p14="http://schemas.microsoft.com/office/powerpoint/2010/main" val="2222489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6A134B7-1EAC-A370-52B1-439A47C96DEF}"/>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5DC1034-B436-D814-6A3E-10EC6DFD08D5}"/>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4304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1859C10F-C8D8-CF00-FC5B-F730CB15C9F6}"/>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48A69B29-5EB8-BA66-498D-BF953720296F}"/>
              </a:ext>
            </a:extLst>
          </p:cNvPr>
          <p:cNvSpPr/>
          <p:nvPr/>
        </p:nvSpPr>
        <p:spPr>
          <a:xfrm>
            <a:off x="11564083" y="6259810"/>
            <a:ext cx="670956" cy="461665"/>
          </a:xfrm>
          <a:prstGeom prst="rect">
            <a:avLst/>
          </a:prstGeom>
        </p:spPr>
        <p:txBody>
          <a:bodyPr wrap="square">
            <a:spAutoFit/>
          </a:bodyPr>
          <a:lstStyle/>
          <a:p>
            <a:r>
              <a:rPr lang="en-US" sz="2400" b="1" dirty="0">
                <a:solidFill>
                  <a:schemeClr val="tx1">
                    <a:lumMod val="50000"/>
                    <a:lumOff val="50000"/>
                  </a:schemeClr>
                </a:solidFill>
              </a:rPr>
              <a:t>29</a:t>
            </a:r>
          </a:p>
        </p:txBody>
      </p:sp>
      <p:pic>
        <p:nvPicPr>
          <p:cNvPr id="8" name="Picture 7">
            <a:extLst>
              <a:ext uri="{FF2B5EF4-FFF2-40B4-BE49-F238E27FC236}">
                <a16:creationId xmlns:a16="http://schemas.microsoft.com/office/drawing/2014/main" id="{547ACC15-BF5A-CE55-6347-7116F143BFC7}"/>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5A2058AE-83EE-A975-6D08-75F201D91F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3D46F47F-610E-8146-D072-A462AD448568}"/>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967AF1ED-26EC-4653-9288-27290C4E30D5}"/>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New Roman" panose="02020603050405020304" pitchFamily="18" charset="0"/>
                <a:cs typeface="Times New Roman" panose="02020603050405020304" pitchFamily="18" charset="0"/>
              </a:rPr>
              <a:t> Docking </a:t>
            </a:r>
            <a:r>
              <a:rPr lang="en-US" sz="4000" dirty="0" err="1">
                <a:latin typeface="Times New Roman" panose="02020603050405020304" pitchFamily="18" charset="0"/>
                <a:cs typeface="Times New Roman" panose="02020603050405020304" pitchFamily="18" charset="0"/>
              </a:rPr>
              <a:t>Cont</a:t>
            </a:r>
            <a:r>
              <a:rPr lang="en-US" sz="4000" dirty="0">
                <a:latin typeface="Times New Roman" panose="02020603050405020304" pitchFamily="18" charset="0"/>
                <a:cs typeface="Times New Roman" panose="02020603050405020304" pitchFamily="18" charset="0"/>
              </a:rPr>
              <a:t>…</a:t>
            </a:r>
            <a:endParaRPr lang="en-US" sz="4000" b="1" dirty="0">
              <a:solidFill>
                <a:schemeClr val="bg1"/>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A57D055C-9CB7-4DE3-0B73-DB28919CF53B}"/>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E579071B-828E-90A6-C19C-CCA8C5E654F3}"/>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18" name="TextBox 17">
            <a:extLst>
              <a:ext uri="{FF2B5EF4-FFF2-40B4-BE49-F238E27FC236}">
                <a16:creationId xmlns:a16="http://schemas.microsoft.com/office/drawing/2014/main" id="{D2E044EE-2E6A-D453-474B-4CD0E0BDE00C}"/>
              </a:ext>
            </a:extLst>
          </p:cNvPr>
          <p:cNvSpPr txBox="1"/>
          <p:nvPr/>
        </p:nvSpPr>
        <p:spPr>
          <a:xfrm>
            <a:off x="1569720" y="4282854"/>
            <a:ext cx="128016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KIF11</a:t>
            </a:r>
          </a:p>
        </p:txBody>
      </p:sp>
      <p:sp>
        <p:nvSpPr>
          <p:cNvPr id="19" name="TextBox 18">
            <a:extLst>
              <a:ext uri="{FF2B5EF4-FFF2-40B4-BE49-F238E27FC236}">
                <a16:creationId xmlns:a16="http://schemas.microsoft.com/office/drawing/2014/main" id="{B9A87089-7451-887C-B142-6126B15774B0}"/>
              </a:ext>
            </a:extLst>
          </p:cNvPr>
          <p:cNvSpPr txBox="1"/>
          <p:nvPr/>
        </p:nvSpPr>
        <p:spPr>
          <a:xfrm>
            <a:off x="5263656" y="4279156"/>
            <a:ext cx="151920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MELK</a:t>
            </a:r>
          </a:p>
        </p:txBody>
      </p:sp>
      <p:sp>
        <p:nvSpPr>
          <p:cNvPr id="21" name="TextBox 20">
            <a:extLst>
              <a:ext uri="{FF2B5EF4-FFF2-40B4-BE49-F238E27FC236}">
                <a16:creationId xmlns:a16="http://schemas.microsoft.com/office/drawing/2014/main" id="{6E5F8572-9BB4-3123-19B7-8A1617C98729}"/>
              </a:ext>
            </a:extLst>
          </p:cNvPr>
          <p:cNvSpPr txBox="1"/>
          <p:nvPr/>
        </p:nvSpPr>
        <p:spPr>
          <a:xfrm>
            <a:off x="9447625" y="4279156"/>
            <a:ext cx="139856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TOP2A</a:t>
            </a:r>
          </a:p>
        </p:txBody>
      </p:sp>
      <p:pic>
        <p:nvPicPr>
          <p:cNvPr id="13" name="Picture 12">
            <a:extLst>
              <a:ext uri="{FF2B5EF4-FFF2-40B4-BE49-F238E27FC236}">
                <a16:creationId xmlns:a16="http://schemas.microsoft.com/office/drawing/2014/main" id="{10543A42-6D33-02EF-C5BF-A236E23660C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02157" y="1414682"/>
            <a:ext cx="3701999" cy="2662983"/>
          </a:xfrm>
          <a:prstGeom prst="rect">
            <a:avLst/>
          </a:prstGeom>
        </p:spPr>
      </p:pic>
      <p:pic>
        <p:nvPicPr>
          <p:cNvPr id="15" name="Picture 14">
            <a:extLst>
              <a:ext uri="{FF2B5EF4-FFF2-40B4-BE49-F238E27FC236}">
                <a16:creationId xmlns:a16="http://schemas.microsoft.com/office/drawing/2014/main" id="{E13BBDF9-6A50-88EB-789A-14F5C517B96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63272" y="1458348"/>
            <a:ext cx="3576583" cy="2619317"/>
          </a:xfrm>
          <a:prstGeom prst="rect">
            <a:avLst/>
          </a:prstGeom>
        </p:spPr>
      </p:pic>
      <p:pic>
        <p:nvPicPr>
          <p:cNvPr id="20" name="Picture 19">
            <a:extLst>
              <a:ext uri="{FF2B5EF4-FFF2-40B4-BE49-F238E27FC236}">
                <a16:creationId xmlns:a16="http://schemas.microsoft.com/office/drawing/2014/main" id="{62003DA9-5B23-BA0F-42FC-AA04EA3D404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105962" y="1531570"/>
            <a:ext cx="3702000" cy="2619317"/>
          </a:xfrm>
          <a:prstGeom prst="rect">
            <a:avLst/>
          </a:prstGeom>
        </p:spPr>
      </p:pic>
      <p:sp>
        <p:nvSpPr>
          <p:cNvPr id="23" name="TextBox 22">
            <a:extLst>
              <a:ext uri="{FF2B5EF4-FFF2-40B4-BE49-F238E27FC236}">
                <a16:creationId xmlns:a16="http://schemas.microsoft.com/office/drawing/2014/main" id="{FBE8D651-9A5F-A048-1F60-E24D8E54BE20}"/>
              </a:ext>
            </a:extLst>
          </p:cNvPr>
          <p:cNvSpPr txBox="1"/>
          <p:nvPr/>
        </p:nvSpPr>
        <p:spPr>
          <a:xfrm>
            <a:off x="343096" y="5006168"/>
            <a:ext cx="11505805"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Fig.11: Molecular docking configuration of six identified hub genes with the FDA-approved drug Adagrasib. (a) CCNB1; (b) CDCA8; (c) CDK1; (d) DLGAP5; (e) KIF11; (f) MELK; (g) TOP2A. Protein structures are displayed in green, and the docked ligand (Adagrasib) is shown in blue.</a:t>
            </a:r>
          </a:p>
        </p:txBody>
      </p:sp>
    </p:spTree>
    <p:extLst>
      <p:ext uri="{BB962C8B-B14F-4D97-AF65-F5344CB8AC3E}">
        <p14:creationId xmlns:p14="http://schemas.microsoft.com/office/powerpoint/2010/main" val="1503503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2A51DE3-337E-6438-674F-672068F19B7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A10A8C01-7D6F-7C79-74E2-97B67B465EAA}"/>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1D48D6D5-1724-46CA-1B69-C3BBB3184179}"/>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C0683483-765E-2354-8826-69DFB1386B46}"/>
              </a:ext>
            </a:extLst>
          </p:cNvPr>
          <p:cNvSpPr/>
          <p:nvPr/>
        </p:nvSpPr>
        <p:spPr>
          <a:xfrm>
            <a:off x="11564083" y="6259810"/>
            <a:ext cx="670956" cy="461665"/>
          </a:xfrm>
          <a:prstGeom prst="rect">
            <a:avLst/>
          </a:prstGeom>
        </p:spPr>
        <p:txBody>
          <a:bodyPr wrap="square">
            <a:spAutoFit/>
          </a:bodyPr>
          <a:lstStyle/>
          <a:p>
            <a:r>
              <a:rPr lang="en-US" sz="2400" b="1" dirty="0">
                <a:solidFill>
                  <a:schemeClr val="tx1">
                    <a:lumMod val="50000"/>
                    <a:lumOff val="50000"/>
                  </a:schemeClr>
                </a:solidFill>
              </a:rPr>
              <a:t>30</a:t>
            </a:r>
          </a:p>
        </p:txBody>
      </p:sp>
      <p:pic>
        <p:nvPicPr>
          <p:cNvPr id="8" name="Picture 7">
            <a:extLst>
              <a:ext uri="{FF2B5EF4-FFF2-40B4-BE49-F238E27FC236}">
                <a16:creationId xmlns:a16="http://schemas.microsoft.com/office/drawing/2014/main" id="{D125339A-3923-1DBE-395B-A7CE2805EB44}"/>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9536D01D-4C72-EABD-B7A3-6BDFA49A595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3E0C7115-5E3E-8DBE-14C3-01D06584A3A2}"/>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BA727DD5-CD9E-207B-98D5-D67201A128A2}"/>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Times New Roman" panose="02020603050405020304" pitchFamily="18" charset="0"/>
                <a:cs typeface="Times New Roman" panose="02020603050405020304" pitchFamily="18" charset="0"/>
              </a:rPr>
              <a:t>Docking Results</a:t>
            </a:r>
          </a:p>
        </p:txBody>
      </p:sp>
      <p:sp>
        <p:nvSpPr>
          <p:cNvPr id="3" name="Date Placeholder 2">
            <a:extLst>
              <a:ext uri="{FF2B5EF4-FFF2-40B4-BE49-F238E27FC236}">
                <a16:creationId xmlns:a16="http://schemas.microsoft.com/office/drawing/2014/main" id="{D8EEC6D0-DE0C-1F9B-795B-DB1E0F957F89}"/>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ED2FE575-A278-B82A-6241-20EAE982C45A}"/>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7" name="TextBox 6">
            <a:extLst>
              <a:ext uri="{FF2B5EF4-FFF2-40B4-BE49-F238E27FC236}">
                <a16:creationId xmlns:a16="http://schemas.microsoft.com/office/drawing/2014/main" id="{125AB9FC-F011-A6EE-D53F-F83CAACDDD0B}"/>
              </a:ext>
            </a:extLst>
          </p:cNvPr>
          <p:cNvSpPr txBox="1"/>
          <p:nvPr/>
        </p:nvSpPr>
        <p:spPr>
          <a:xfrm>
            <a:off x="838200" y="5336498"/>
            <a:ext cx="10749240"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Table.2: Binding affinities between the FDA-approved lung cancer drug Adagrasib and the seven common hub proteins CCNB1, CDCA8, CDK1, DLGAP5, KIF11, MELK, and TOP2A were evaluated through molecular docking analysis to explore their potential as therapeutic targets.</a:t>
            </a:r>
          </a:p>
        </p:txBody>
      </p:sp>
      <p:pic>
        <p:nvPicPr>
          <p:cNvPr id="14" name="Picture 13">
            <a:extLst>
              <a:ext uri="{FF2B5EF4-FFF2-40B4-BE49-F238E27FC236}">
                <a16:creationId xmlns:a16="http://schemas.microsoft.com/office/drawing/2014/main" id="{1E122E8A-DC3A-C441-EB9F-7D98FD3061E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55226" y="1177024"/>
            <a:ext cx="7878274" cy="4111170"/>
          </a:xfrm>
          <a:prstGeom prst="rect">
            <a:avLst/>
          </a:prstGeom>
        </p:spPr>
      </p:pic>
    </p:spTree>
    <p:extLst>
      <p:ext uri="{BB962C8B-B14F-4D97-AF65-F5344CB8AC3E}">
        <p14:creationId xmlns:p14="http://schemas.microsoft.com/office/powerpoint/2010/main" val="30773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C99B373-FF0D-F056-E97D-89CE73545D0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19B1C51B-27AB-B8E1-E767-4971737CC59D}"/>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43040" y="-63473"/>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94448584-8F20-35BA-2ECA-BAE9F854379A}"/>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EA9AE4BE-5125-8DCD-4C19-78853CBEE52C}"/>
              </a:ext>
            </a:extLst>
          </p:cNvPr>
          <p:cNvSpPr/>
          <p:nvPr/>
        </p:nvSpPr>
        <p:spPr>
          <a:xfrm>
            <a:off x="11564083" y="6259810"/>
            <a:ext cx="670956" cy="461665"/>
          </a:xfrm>
          <a:prstGeom prst="rect">
            <a:avLst/>
          </a:prstGeom>
        </p:spPr>
        <p:txBody>
          <a:bodyPr wrap="square">
            <a:spAutoFit/>
          </a:bodyPr>
          <a:lstStyle/>
          <a:p>
            <a:r>
              <a:rPr lang="en-US" sz="2400" b="1" dirty="0">
                <a:solidFill>
                  <a:schemeClr val="tx1">
                    <a:lumMod val="50000"/>
                    <a:lumOff val="50000"/>
                  </a:schemeClr>
                </a:solidFill>
              </a:rPr>
              <a:t>31</a:t>
            </a:r>
          </a:p>
        </p:txBody>
      </p:sp>
      <p:pic>
        <p:nvPicPr>
          <p:cNvPr id="8" name="Picture 7">
            <a:extLst>
              <a:ext uri="{FF2B5EF4-FFF2-40B4-BE49-F238E27FC236}">
                <a16:creationId xmlns:a16="http://schemas.microsoft.com/office/drawing/2014/main" id="{8A40E3BB-0EF7-ABF9-C8AE-10F197A0B0CF}"/>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A8F3C80D-3AEF-9184-47DE-EAADC737269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F89064A2-491D-290A-CF55-D09F895A920B}"/>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A70F3F36-58AE-84C9-6928-DA6B088F6AE0}"/>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Times New Roman" panose="02020603050405020304" pitchFamily="18" charset="0"/>
                <a:cs typeface="Times New Roman" panose="02020603050405020304" pitchFamily="18" charset="0"/>
              </a:rPr>
              <a:t>Machine Learning Models</a:t>
            </a:r>
          </a:p>
        </p:txBody>
      </p:sp>
      <p:sp>
        <p:nvSpPr>
          <p:cNvPr id="3" name="Date Placeholder 2">
            <a:extLst>
              <a:ext uri="{FF2B5EF4-FFF2-40B4-BE49-F238E27FC236}">
                <a16:creationId xmlns:a16="http://schemas.microsoft.com/office/drawing/2014/main" id="{9790A6E9-4CD7-09E2-939A-5FDB2FDDC082}"/>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D9E96208-AE8C-39C7-B0D2-5DAA31D24559}"/>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3" name="Picture 12">
            <a:extLst>
              <a:ext uri="{FF2B5EF4-FFF2-40B4-BE49-F238E27FC236}">
                <a16:creationId xmlns:a16="http://schemas.microsoft.com/office/drawing/2014/main" id="{EC84A110-0A56-6C67-3440-926D9AC2F06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24066" y="1128392"/>
            <a:ext cx="8994098" cy="3923294"/>
          </a:xfrm>
          <a:prstGeom prst="rect">
            <a:avLst/>
          </a:prstGeom>
        </p:spPr>
      </p:pic>
      <p:sp>
        <p:nvSpPr>
          <p:cNvPr id="14" name="TextBox 13">
            <a:extLst>
              <a:ext uri="{FF2B5EF4-FFF2-40B4-BE49-F238E27FC236}">
                <a16:creationId xmlns:a16="http://schemas.microsoft.com/office/drawing/2014/main" id="{0C83C962-16E0-6978-A0E7-EF3289242419}"/>
              </a:ext>
            </a:extLst>
          </p:cNvPr>
          <p:cNvSpPr txBox="1"/>
          <p:nvPr/>
        </p:nvSpPr>
        <p:spPr>
          <a:xfrm>
            <a:off x="838200" y="5149759"/>
            <a:ext cx="10749240" cy="147732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Table.3: Performance comparison of machine learning models for lung cancer staging using gene expression data. The staging classifications combine different stages and measure performance. Models evaluated include SVM, RF,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AdaBoost, and Multilayer Perceptron. Performance metrics reported are Accuracy, Precision, Recall, F1-score, and Specificity. The MLP model consistently shows superior performance across most staging classifications.</a:t>
            </a:r>
          </a:p>
        </p:txBody>
      </p:sp>
    </p:spTree>
    <p:extLst>
      <p:ext uri="{BB962C8B-B14F-4D97-AF65-F5344CB8AC3E}">
        <p14:creationId xmlns:p14="http://schemas.microsoft.com/office/powerpoint/2010/main" val="5111618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233D005B-BE31-E69F-D641-46B87E824403}"/>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BE23C2C-6CBA-5A93-A619-2DEC85AF652E}"/>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66456B6B-2316-4599-DA2E-03292B93CBB9}"/>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283F53B5-5D2F-FC53-3DFD-ACF05E5D531E}"/>
              </a:ext>
            </a:extLst>
          </p:cNvPr>
          <p:cNvSpPr/>
          <p:nvPr/>
        </p:nvSpPr>
        <p:spPr>
          <a:xfrm>
            <a:off x="11564083" y="6259810"/>
            <a:ext cx="670956" cy="461665"/>
          </a:xfrm>
          <a:prstGeom prst="rect">
            <a:avLst/>
          </a:prstGeom>
        </p:spPr>
        <p:txBody>
          <a:bodyPr wrap="square">
            <a:spAutoFit/>
          </a:bodyPr>
          <a:lstStyle/>
          <a:p>
            <a:r>
              <a:rPr lang="en-US" sz="2400" b="1" dirty="0">
                <a:solidFill>
                  <a:schemeClr val="tx1">
                    <a:lumMod val="50000"/>
                    <a:lumOff val="50000"/>
                  </a:schemeClr>
                </a:solidFill>
              </a:rPr>
              <a:t>32</a:t>
            </a:r>
          </a:p>
        </p:txBody>
      </p:sp>
      <p:pic>
        <p:nvPicPr>
          <p:cNvPr id="8" name="Picture 7">
            <a:extLst>
              <a:ext uri="{FF2B5EF4-FFF2-40B4-BE49-F238E27FC236}">
                <a16:creationId xmlns:a16="http://schemas.microsoft.com/office/drawing/2014/main" id="{827DE42A-F613-7813-33F8-F0E77034B1F1}"/>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FD115059-CDE5-9EDD-42E5-E482BBD86ED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BF80AFB3-B3C2-FD72-D257-EFA402E3F036}"/>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E0B6B86A-C79A-825A-BCFD-664ED204F25B}"/>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Times New Roman" panose="02020603050405020304" pitchFamily="18" charset="0"/>
                <a:cs typeface="Times New Roman" panose="02020603050405020304" pitchFamily="18" charset="0"/>
              </a:rPr>
              <a:t>Model Results</a:t>
            </a:r>
          </a:p>
        </p:txBody>
      </p:sp>
      <p:sp>
        <p:nvSpPr>
          <p:cNvPr id="3" name="Date Placeholder 2">
            <a:extLst>
              <a:ext uri="{FF2B5EF4-FFF2-40B4-BE49-F238E27FC236}">
                <a16:creationId xmlns:a16="http://schemas.microsoft.com/office/drawing/2014/main" id="{B0648111-A340-6B82-2661-D25BE62A3E1F}"/>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1A3DD920-B318-D403-1208-05B51CD46F56}"/>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pic>
        <p:nvPicPr>
          <p:cNvPr id="13" name="Picture 12">
            <a:extLst>
              <a:ext uri="{FF2B5EF4-FFF2-40B4-BE49-F238E27FC236}">
                <a16:creationId xmlns:a16="http://schemas.microsoft.com/office/drawing/2014/main" id="{212E4B82-ED35-8C96-F838-9665C88B47B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92125" y="1118033"/>
            <a:ext cx="5413042" cy="3712971"/>
          </a:xfrm>
          <a:prstGeom prst="rect">
            <a:avLst/>
          </a:prstGeom>
        </p:spPr>
      </p:pic>
      <p:pic>
        <p:nvPicPr>
          <p:cNvPr id="15" name="Picture 14">
            <a:extLst>
              <a:ext uri="{FF2B5EF4-FFF2-40B4-BE49-F238E27FC236}">
                <a16:creationId xmlns:a16="http://schemas.microsoft.com/office/drawing/2014/main" id="{21AD5FBC-5F6D-58D5-FADC-350B1EE2124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979561" y="1119768"/>
            <a:ext cx="5920314" cy="3712971"/>
          </a:xfrm>
          <a:prstGeom prst="rect">
            <a:avLst/>
          </a:prstGeom>
        </p:spPr>
      </p:pic>
      <p:sp>
        <p:nvSpPr>
          <p:cNvPr id="16" name="TextBox 15">
            <a:extLst>
              <a:ext uri="{FF2B5EF4-FFF2-40B4-BE49-F238E27FC236}">
                <a16:creationId xmlns:a16="http://schemas.microsoft.com/office/drawing/2014/main" id="{CE420021-D7C4-D212-FAB3-C4FA74F94BA2}"/>
              </a:ext>
            </a:extLst>
          </p:cNvPr>
          <p:cNvSpPr txBox="1"/>
          <p:nvPr/>
        </p:nvSpPr>
        <p:spPr>
          <a:xfrm>
            <a:off x="395512" y="5125769"/>
            <a:ext cx="11585082"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Fig.12: Bar plots illustrating the performance of different machine learning models—SVM, Random Forest (RF),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AdaBoost, and Multilayer Perceptron (MLP)—in classifying lung cancer stages across three grouping schemes: (a) I–II, III, IV; (b) I, II–III, IV; and (c) I, II, III–IV. Each bar represents the score (%) for Accuracy, Precision, Recall, F1-score, and Specificity. The MLP model shows consistently high performance across all metrics and stage groupings.</a:t>
            </a:r>
          </a:p>
        </p:txBody>
      </p:sp>
    </p:spTree>
    <p:extLst>
      <p:ext uri="{BB962C8B-B14F-4D97-AF65-F5344CB8AC3E}">
        <p14:creationId xmlns:p14="http://schemas.microsoft.com/office/powerpoint/2010/main" val="8591798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0BEDDC8E-2150-B62B-1255-1D29593873A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893B05E-4662-9835-2E6C-ADE10EA5D15B}"/>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0E3D7CF0-AC38-5467-7237-402EE10C9F95}"/>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6FA31D2D-5777-B316-744E-59A4B063115D}"/>
              </a:ext>
            </a:extLst>
          </p:cNvPr>
          <p:cNvSpPr/>
          <p:nvPr/>
        </p:nvSpPr>
        <p:spPr>
          <a:xfrm>
            <a:off x="11564083" y="6259810"/>
            <a:ext cx="670956" cy="461665"/>
          </a:xfrm>
          <a:prstGeom prst="rect">
            <a:avLst/>
          </a:prstGeom>
        </p:spPr>
        <p:txBody>
          <a:bodyPr wrap="square">
            <a:spAutoFit/>
          </a:bodyPr>
          <a:lstStyle/>
          <a:p>
            <a:r>
              <a:rPr lang="en-US" sz="2400" b="1" dirty="0">
                <a:solidFill>
                  <a:schemeClr val="tx1">
                    <a:lumMod val="50000"/>
                    <a:lumOff val="50000"/>
                  </a:schemeClr>
                </a:solidFill>
              </a:rPr>
              <a:t>33</a:t>
            </a:r>
          </a:p>
        </p:txBody>
      </p:sp>
      <p:pic>
        <p:nvPicPr>
          <p:cNvPr id="8" name="Picture 7">
            <a:extLst>
              <a:ext uri="{FF2B5EF4-FFF2-40B4-BE49-F238E27FC236}">
                <a16:creationId xmlns:a16="http://schemas.microsoft.com/office/drawing/2014/main" id="{3D316A8D-6CEB-B49C-F721-88A01E9E2163}"/>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14D48750-2F52-3DDD-DCD6-31706E87C5B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2110327D-E772-9FC1-CED6-EAAB0E7B16D2}"/>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2D035EB1-04BF-437F-7557-0E329AB0168B}"/>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Times New Roman" panose="02020603050405020304" pitchFamily="18" charset="0"/>
                <a:cs typeface="Times New Roman" panose="02020603050405020304" pitchFamily="18" charset="0"/>
              </a:rPr>
              <a:t>Results </a:t>
            </a:r>
            <a:r>
              <a:rPr lang="en-US" sz="4000" b="1" dirty="0" err="1">
                <a:solidFill>
                  <a:schemeClr val="bg1"/>
                </a:solidFill>
                <a:latin typeface="Times New Roman" panose="02020603050405020304" pitchFamily="18" charset="0"/>
                <a:cs typeface="Times New Roman" panose="02020603050405020304" pitchFamily="18" charset="0"/>
              </a:rPr>
              <a:t>Cont</a:t>
            </a:r>
            <a:r>
              <a:rPr lang="en-US" sz="4000" b="1" dirty="0">
                <a:solidFill>
                  <a:schemeClr val="bg1"/>
                </a:solidFill>
                <a:latin typeface="Times New Roman" panose="02020603050405020304" pitchFamily="18" charset="0"/>
                <a:cs typeface="Times New Roman" panose="02020603050405020304" pitchFamily="18" charset="0"/>
              </a:rPr>
              <a:t>…</a:t>
            </a:r>
          </a:p>
        </p:txBody>
      </p:sp>
      <p:sp>
        <p:nvSpPr>
          <p:cNvPr id="3" name="Date Placeholder 2">
            <a:extLst>
              <a:ext uri="{FF2B5EF4-FFF2-40B4-BE49-F238E27FC236}">
                <a16:creationId xmlns:a16="http://schemas.microsoft.com/office/drawing/2014/main" id="{2ECF06A7-492C-74F8-65E0-D2ED98A403F1}"/>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10A24209-7112-CCA4-892C-F313D63ACA6F}"/>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
        <p:nvSpPr>
          <p:cNvPr id="16" name="TextBox 15">
            <a:extLst>
              <a:ext uri="{FF2B5EF4-FFF2-40B4-BE49-F238E27FC236}">
                <a16:creationId xmlns:a16="http://schemas.microsoft.com/office/drawing/2014/main" id="{30AA0008-ADF2-17FF-3BC3-50D0C992E91D}"/>
              </a:ext>
            </a:extLst>
          </p:cNvPr>
          <p:cNvSpPr txBox="1"/>
          <p:nvPr/>
        </p:nvSpPr>
        <p:spPr>
          <a:xfrm>
            <a:off x="314479" y="5157736"/>
            <a:ext cx="11585082" cy="1077218"/>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Fig.12: Bar plots illustrating the performance of different machine learning models—SVM, Random Forest (RF),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AdaBoost, and Multilayer Perceptron (MLP)—in classifying lung cancer stages across three grouping schemes: (a) I–II, III, IV; (b) I, II–III, IV; and (c) I, II, III–IV. Each bar represents the score (%) for Accuracy, Precision, Recall, F1-score, and Specificity. The MLP model shows consistently high performance across all metrics and stage groupings.</a:t>
            </a:r>
          </a:p>
        </p:txBody>
      </p:sp>
      <p:pic>
        <p:nvPicPr>
          <p:cNvPr id="7" name="Picture 6">
            <a:extLst>
              <a:ext uri="{FF2B5EF4-FFF2-40B4-BE49-F238E27FC236}">
                <a16:creationId xmlns:a16="http://schemas.microsoft.com/office/drawing/2014/main" id="{A71DB5A7-8BD9-DFBC-65D7-D33092910E0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66940" y="1040561"/>
            <a:ext cx="7854846" cy="3892507"/>
          </a:xfrm>
          <a:prstGeom prst="rect">
            <a:avLst/>
          </a:prstGeom>
        </p:spPr>
      </p:pic>
    </p:spTree>
    <p:extLst>
      <p:ext uri="{BB962C8B-B14F-4D97-AF65-F5344CB8AC3E}">
        <p14:creationId xmlns:p14="http://schemas.microsoft.com/office/powerpoint/2010/main" val="3640967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1481516-6367-13B8-DF64-C4013DCD815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48F2B57-3FDE-3A2F-218D-DD6A3821A3A8}"/>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63129" y="-63473"/>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706E9AB7-34AF-5B20-2E54-0BAAB1873CBD}"/>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587440" y="6299126"/>
            <a:ext cx="44104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F9256FDC-6EDE-E62E-1ADF-A3054158A684}"/>
              </a:ext>
            </a:extLst>
          </p:cNvPr>
          <p:cNvSpPr/>
          <p:nvPr/>
        </p:nvSpPr>
        <p:spPr>
          <a:xfrm>
            <a:off x="11538497" y="6259810"/>
            <a:ext cx="600831" cy="461665"/>
          </a:xfrm>
          <a:prstGeom prst="rect">
            <a:avLst/>
          </a:prstGeom>
        </p:spPr>
        <p:txBody>
          <a:bodyPr wrap="square">
            <a:spAutoFit/>
          </a:bodyPr>
          <a:lstStyle/>
          <a:p>
            <a:r>
              <a:rPr lang="en-US" sz="2400" b="1" dirty="0">
                <a:solidFill>
                  <a:schemeClr val="tx1">
                    <a:lumMod val="50000"/>
                    <a:lumOff val="50000"/>
                  </a:schemeClr>
                </a:solidFill>
              </a:rPr>
              <a:t>34</a:t>
            </a:r>
          </a:p>
        </p:txBody>
      </p:sp>
      <p:pic>
        <p:nvPicPr>
          <p:cNvPr id="8" name="Picture 7">
            <a:extLst>
              <a:ext uri="{FF2B5EF4-FFF2-40B4-BE49-F238E27FC236}">
                <a16:creationId xmlns:a16="http://schemas.microsoft.com/office/drawing/2014/main" id="{B6DCBA88-578C-2395-4C2E-9A53BAA21425}"/>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88C77C40-861F-20FF-0DE9-BF6A098982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C24401D9-B4A3-7F36-5C35-8043E215C23F}"/>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a:extLst>
              <a:ext uri="{FF2B5EF4-FFF2-40B4-BE49-F238E27FC236}">
                <a16:creationId xmlns:a16="http://schemas.microsoft.com/office/drawing/2014/main" id="{97B2E91A-51F5-5FD4-7CAF-6D2FB6BA4BBA}"/>
              </a:ext>
            </a:extLst>
          </p:cNvPr>
          <p:cNvSpPr/>
          <p:nvPr/>
        </p:nvSpPr>
        <p:spPr>
          <a:xfrm>
            <a:off x="1055077" y="305492"/>
            <a:ext cx="9678572"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Times New Roman" panose="02020603050405020304" pitchFamily="18" charset="0"/>
                <a:cs typeface="Times New Roman" panose="02020603050405020304" pitchFamily="18" charset="0"/>
              </a:rPr>
              <a:t> Conclusion</a:t>
            </a:r>
          </a:p>
        </p:txBody>
      </p:sp>
      <p:sp>
        <p:nvSpPr>
          <p:cNvPr id="2" name="TextBox 1">
            <a:extLst>
              <a:ext uri="{FF2B5EF4-FFF2-40B4-BE49-F238E27FC236}">
                <a16:creationId xmlns:a16="http://schemas.microsoft.com/office/drawing/2014/main" id="{1C7EAE57-6449-0C78-8A2B-F60F4A9E68A6}"/>
              </a:ext>
            </a:extLst>
          </p:cNvPr>
          <p:cNvSpPr txBox="1"/>
          <p:nvPr/>
        </p:nvSpPr>
        <p:spPr>
          <a:xfrm>
            <a:off x="423358" y="1599065"/>
            <a:ext cx="11109138" cy="4708981"/>
          </a:xfrm>
          <a:prstGeom prst="rect">
            <a:avLst/>
          </a:prstGeom>
          <a:noFill/>
        </p:spPr>
        <p:txBody>
          <a:bodyPr wrap="square" rtlCol="0">
            <a:spAutoFit/>
          </a:bodyPr>
          <a:lstStyle/>
          <a:p>
            <a:pPr marL="469900" lvl="0" indent="-342900" algn="just">
              <a:buClr>
                <a:schemeClr val="dk1"/>
              </a:buClr>
              <a:buSzPts val="1600"/>
              <a:buFont typeface="Wingdings" panose="05000000000000000000" pitchFamily="2" charset="2"/>
              <a:buChar char="q"/>
            </a:pPr>
            <a:r>
              <a:rPr lang="en-US" sz="2000" dirty="0">
                <a:solidFill>
                  <a:schemeClr val="dk1"/>
                </a:solidFill>
                <a:latin typeface="Times New Roman"/>
                <a:cs typeface="Times New Roman"/>
                <a:sym typeface="Times New Roman"/>
              </a:rPr>
              <a:t>This research has successfully developed and validated a comprehensive Bio-ML framework that integrates bioinformatics analyses with machine learning techniques to identify key biomarkers, molecular pathways, and clinical stages of lung cancer.</a:t>
            </a:r>
          </a:p>
          <a:p>
            <a:pPr marL="469900" lvl="0" indent="-342900" algn="just">
              <a:buClr>
                <a:schemeClr val="dk1"/>
              </a:buClr>
              <a:buSzPts val="1600"/>
              <a:buFont typeface="Wingdings" panose="05000000000000000000" pitchFamily="2" charset="2"/>
              <a:buChar char="q"/>
            </a:pPr>
            <a:endParaRPr lang="en-US" sz="2000" dirty="0">
              <a:solidFill>
                <a:schemeClr val="dk1"/>
              </a:solidFill>
              <a:latin typeface="Times New Roman"/>
              <a:cs typeface="Times New Roman"/>
              <a:sym typeface="Times New Roman"/>
            </a:endParaRPr>
          </a:p>
          <a:p>
            <a:pPr marL="469900" lvl="0" indent="-342900" algn="just">
              <a:buClr>
                <a:schemeClr val="dk1"/>
              </a:buClr>
              <a:buSzPts val="1600"/>
              <a:buFont typeface="Wingdings" panose="05000000000000000000" pitchFamily="2" charset="2"/>
              <a:buChar char="q"/>
            </a:pPr>
            <a:r>
              <a:rPr lang="en-US" sz="2000" dirty="0">
                <a:solidFill>
                  <a:schemeClr val="dk1"/>
                </a:solidFill>
                <a:latin typeface="Times New Roman"/>
                <a:cs typeface="Times New Roman"/>
                <a:sym typeface="Times New Roman"/>
              </a:rPr>
              <a:t>Advanced feature selection techniques such as differential expression analysis, </a:t>
            </a:r>
            <a:r>
              <a:rPr lang="en-US" sz="2000" dirty="0" err="1">
                <a:solidFill>
                  <a:schemeClr val="dk1"/>
                </a:solidFill>
                <a:latin typeface="Times New Roman"/>
                <a:cs typeface="Times New Roman"/>
                <a:sym typeface="Times New Roman"/>
              </a:rPr>
              <a:t>mRMR</a:t>
            </a:r>
            <a:r>
              <a:rPr lang="en-US" sz="2000" dirty="0">
                <a:solidFill>
                  <a:schemeClr val="dk1"/>
                </a:solidFill>
                <a:latin typeface="Times New Roman"/>
                <a:cs typeface="Times New Roman"/>
                <a:sym typeface="Times New Roman"/>
              </a:rPr>
              <a:t>, SVM-RFE, and WGCNA enabled the extraction of biologically relevant genes, which were further validated through PPI network construction, hub gene analysis, and functional enrichment.</a:t>
            </a:r>
          </a:p>
          <a:p>
            <a:pPr marL="127000" lvl="0" algn="just">
              <a:buClr>
                <a:schemeClr val="dk1"/>
              </a:buClr>
              <a:buSzPts val="1600"/>
            </a:pPr>
            <a:endParaRPr lang="en-US" sz="2000" dirty="0">
              <a:solidFill>
                <a:schemeClr val="dk1"/>
              </a:solidFill>
              <a:latin typeface="Times New Roman"/>
              <a:cs typeface="Times New Roman"/>
              <a:sym typeface="Times New Roman"/>
            </a:endParaRPr>
          </a:p>
          <a:p>
            <a:pPr marL="469900" lvl="0" indent="-342900" algn="just">
              <a:buClr>
                <a:schemeClr val="dk1"/>
              </a:buClr>
              <a:buSzPts val="1600"/>
              <a:buFont typeface="Wingdings" panose="05000000000000000000" pitchFamily="2" charset="2"/>
              <a:buChar char="q"/>
            </a:pPr>
            <a:r>
              <a:rPr lang="en-US" sz="2000" dirty="0">
                <a:solidFill>
                  <a:schemeClr val="dk1"/>
                </a:solidFill>
                <a:latin typeface="Times New Roman"/>
                <a:cs typeface="Times New Roman"/>
                <a:sym typeface="Times New Roman"/>
              </a:rPr>
              <a:t>The prognostic value of hub genes was confirmed using survival analysis, while molecular docking simulations explored potential therapeutic targets.</a:t>
            </a:r>
          </a:p>
          <a:p>
            <a:pPr marL="127000" lvl="0" algn="just">
              <a:buClr>
                <a:schemeClr val="dk1"/>
              </a:buClr>
              <a:buSzPts val="1600"/>
            </a:pPr>
            <a:endParaRPr lang="en-US" sz="2000" dirty="0">
              <a:solidFill>
                <a:schemeClr val="dk1"/>
              </a:solidFill>
              <a:latin typeface="Times New Roman"/>
              <a:cs typeface="Times New Roman"/>
              <a:sym typeface="Times New Roman"/>
            </a:endParaRPr>
          </a:p>
          <a:p>
            <a:pPr marL="469900" lvl="0" indent="-342900" algn="just">
              <a:buClr>
                <a:schemeClr val="dk1"/>
              </a:buClr>
              <a:buSzPts val="1600"/>
              <a:buFont typeface="Wingdings" panose="05000000000000000000" pitchFamily="2" charset="2"/>
              <a:buChar char="q"/>
            </a:pPr>
            <a:r>
              <a:rPr lang="en-US" sz="2000" dirty="0">
                <a:solidFill>
                  <a:schemeClr val="dk1"/>
                </a:solidFill>
                <a:latin typeface="Times New Roman"/>
                <a:cs typeface="Times New Roman"/>
                <a:sym typeface="Times New Roman"/>
              </a:rPr>
              <a:t>In parallel, five machine learning models were trained to classify cancer stages, with the MLP model achieving a high accuracy of 89.36%.</a:t>
            </a:r>
          </a:p>
          <a:p>
            <a:pPr marL="469900" lvl="0" indent="-342900" algn="just">
              <a:buClr>
                <a:schemeClr val="dk1"/>
              </a:buClr>
              <a:buSzPts val="160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469900" lvl="0" indent="-342900" algn="just">
              <a:buClr>
                <a:schemeClr val="dk1"/>
              </a:buClr>
              <a:buSzPts val="160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23278C5F-814C-6C1F-59F8-A49C92ACD968}"/>
              </a:ext>
            </a:extLst>
          </p:cNvPr>
          <p:cNvSpPr>
            <a:spLocks noGrp="1"/>
          </p:cNvSpPr>
          <p:nvPr>
            <p:ph type="dt" sz="half" idx="10"/>
          </p:nvPr>
        </p:nvSpPr>
        <p:spPr/>
        <p:txBody>
          <a:bodyPr/>
          <a:lstStyle/>
          <a:p>
            <a:fld id="{B82AC935-0482-4729-AF24-EC4E139FF928}" type="datetime1">
              <a:rPr lang="en-US" sz="1600" smtClean="0">
                <a:latin typeface="Times New Roman" panose="02020603050405020304" pitchFamily="18" charset="0"/>
                <a:cs typeface="Times New Roman" panose="02020603050405020304" pitchFamily="18" charset="0"/>
              </a:rPr>
              <a:t>9/13/2025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892F2206-F7AF-DDC1-65A6-C76930A707BA}"/>
              </a:ext>
            </a:extLst>
          </p:cNvPr>
          <p:cNvSpPr>
            <a:spLocks noGrp="1"/>
          </p:cNvSpPr>
          <p:nvPr>
            <p:ph type="ftr" sz="quarter" idx="11"/>
          </p:nvPr>
        </p:nvSpPr>
        <p:spPr>
          <a:xfrm>
            <a:off x="4038599" y="644457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a:p>
            <a:endParaRPr lang="en-US" dirty="0"/>
          </a:p>
        </p:txBody>
      </p:sp>
    </p:spTree>
    <p:extLst>
      <p:ext uri="{BB962C8B-B14F-4D97-AF65-F5344CB8AC3E}">
        <p14:creationId xmlns:p14="http://schemas.microsoft.com/office/powerpoint/2010/main" val="2375506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1" y="0"/>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451102" y="6299126"/>
            <a:ext cx="577382"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451103" y="6231988"/>
            <a:ext cx="573654" cy="461665"/>
          </a:xfrm>
          <a:prstGeom prst="rect">
            <a:avLst/>
          </a:prstGeom>
        </p:spPr>
        <p:txBody>
          <a:bodyPr wrap="square">
            <a:spAutoFit/>
          </a:bodyPr>
          <a:lstStyle/>
          <a:p>
            <a:r>
              <a:rPr lang="en-US" sz="2400" b="1" dirty="0">
                <a:solidFill>
                  <a:schemeClr val="tx1">
                    <a:lumMod val="50000"/>
                    <a:lumOff val="50000"/>
                  </a:schemeClr>
                </a:solidFill>
              </a:rPr>
              <a:t>35</a:t>
            </a:r>
          </a:p>
        </p:txBody>
      </p:sp>
      <p:pic>
        <p:nvPicPr>
          <p:cNvPr id="8" name="Picture 7"/>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2" name="Rounded Rectangle 11"/>
          <p:cNvSpPr/>
          <p:nvPr/>
        </p:nvSpPr>
        <p:spPr>
          <a:xfrm>
            <a:off x="4334150" y="305492"/>
            <a:ext cx="3357568" cy="646433"/>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Times New Roman" panose="02020603050405020304" pitchFamily="18" charset="0"/>
                <a:cs typeface="Times New Roman" panose="02020603050405020304" pitchFamily="18" charset="0"/>
              </a:rPr>
              <a:t>References</a:t>
            </a:r>
            <a:endParaRPr lang="en-US" sz="4000"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246970" y="391374"/>
            <a:ext cx="11785184" cy="6463308"/>
          </a:xfrm>
          <a:prstGeom prst="rect">
            <a:avLst/>
          </a:prstGeom>
          <a:noFill/>
        </p:spPr>
        <p:txBody>
          <a:bodyPr wrap="square" rtlCol="0">
            <a:spAutoFit/>
          </a:bodyPr>
          <a:lstStyle/>
          <a:p>
            <a:pPr marL="342900" indent="-342900" algn="just">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[1]  Sung, H., </a:t>
            </a:r>
            <a:r>
              <a:rPr lang="en-US" dirty="0" err="1">
                <a:latin typeface="Times New Roman" panose="02020603050405020304" pitchFamily="18" charset="0"/>
                <a:cs typeface="Times New Roman" panose="02020603050405020304" pitchFamily="18" charset="0"/>
              </a:rPr>
              <a:t>Ferlay</a:t>
            </a:r>
            <a:r>
              <a:rPr lang="en-US" dirty="0">
                <a:latin typeface="Times New Roman" panose="02020603050405020304" pitchFamily="18" charset="0"/>
                <a:cs typeface="Times New Roman" panose="02020603050405020304" pitchFamily="18" charset="0"/>
              </a:rPr>
              <a:t>, J., Siegel, R.L., </a:t>
            </a:r>
            <a:r>
              <a:rPr lang="en-US" dirty="0" err="1">
                <a:latin typeface="Times New Roman" panose="02020603050405020304" pitchFamily="18" charset="0"/>
                <a:cs typeface="Times New Roman" panose="02020603050405020304" pitchFamily="18" charset="0"/>
              </a:rPr>
              <a:t>Laversanne</a:t>
            </a:r>
            <a:r>
              <a:rPr lang="en-US" dirty="0">
                <a:latin typeface="Times New Roman" panose="02020603050405020304" pitchFamily="18" charset="0"/>
                <a:cs typeface="Times New Roman" panose="02020603050405020304" pitchFamily="18" charset="0"/>
              </a:rPr>
              <a:t>, M., </a:t>
            </a:r>
            <a:r>
              <a:rPr lang="en-US" dirty="0" err="1">
                <a:latin typeface="Times New Roman" panose="02020603050405020304" pitchFamily="18" charset="0"/>
                <a:cs typeface="Times New Roman" panose="02020603050405020304" pitchFamily="18" charset="0"/>
              </a:rPr>
              <a:t>Soerjomataram</a:t>
            </a:r>
            <a:r>
              <a:rPr lang="en-US" dirty="0">
                <a:latin typeface="Times New Roman" panose="02020603050405020304" pitchFamily="18" charset="0"/>
                <a:cs typeface="Times New Roman" panose="02020603050405020304" pitchFamily="18" charset="0"/>
              </a:rPr>
              <a:t>, I., Jemal, A. and Bray, F., 2021. Global cancer statistics 2020: GLOBOCAN estimates of incidence and mortality worldwide for 36 cancers in 185 countries. CA: a cancer journal for clinicians, 71(3), pp.209-249.</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[2]Lung cancer on the rise in Bangladesh: Report, Accessed: June 26, 2024 [Online], Available:  https://www.tbsnews.net/bangladesh/health/lung-cancer-rise-bangladesh-report-191032.</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[3]  https://ncci.canceraustralia.gov.au/outcomes/relative-survival-rate/relative-survival-stage-diagnosis-lung-cancer</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[4]  </a:t>
            </a:r>
            <a:r>
              <a:rPr lang="en-US" dirty="0" err="1">
                <a:latin typeface="Times New Roman" panose="02020603050405020304" pitchFamily="18" charset="0"/>
                <a:cs typeface="Times New Roman" panose="02020603050405020304" pitchFamily="18" charset="0"/>
              </a:rPr>
              <a:t>Rojiani</a:t>
            </a:r>
            <a:r>
              <a:rPr lang="en-US" dirty="0">
                <a:latin typeface="Times New Roman" panose="02020603050405020304" pitchFamily="18" charset="0"/>
                <a:cs typeface="Times New Roman" panose="02020603050405020304" pitchFamily="18" charset="0"/>
              </a:rPr>
              <a:t>, M.V. and </a:t>
            </a:r>
            <a:r>
              <a:rPr lang="en-US" dirty="0" err="1">
                <a:latin typeface="Times New Roman" panose="02020603050405020304" pitchFamily="18" charset="0"/>
                <a:cs typeface="Times New Roman" panose="02020603050405020304" pitchFamily="18" charset="0"/>
              </a:rPr>
              <a:t>Rojiani</a:t>
            </a:r>
            <a:r>
              <a:rPr lang="en-US" dirty="0">
                <a:latin typeface="Times New Roman" panose="02020603050405020304" pitchFamily="18" charset="0"/>
                <a:cs typeface="Times New Roman" panose="02020603050405020304" pitchFamily="18" charset="0"/>
              </a:rPr>
              <a:t>, A.M., 2024. Non-Small Cell Lung Cancer—Tumor Biology. Cancers, 16(4), p.716.</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[5] </a:t>
            </a:r>
            <a:r>
              <a:rPr lang="en-US" dirty="0" err="1">
                <a:latin typeface="Times New Roman" panose="02020603050405020304" pitchFamily="18" charset="0"/>
                <a:cs typeface="Times New Roman" panose="02020603050405020304" pitchFamily="18" charset="0"/>
              </a:rPr>
              <a:t>Kasinathan</a:t>
            </a:r>
            <a:r>
              <a:rPr lang="en-US" dirty="0">
                <a:latin typeface="Times New Roman" panose="02020603050405020304" pitchFamily="18" charset="0"/>
                <a:cs typeface="Times New Roman" panose="02020603050405020304" pitchFamily="18" charset="0"/>
              </a:rPr>
              <a:t>, G. and </a:t>
            </a:r>
            <a:r>
              <a:rPr lang="en-US" dirty="0" err="1">
                <a:latin typeface="Times New Roman" panose="02020603050405020304" pitchFamily="18" charset="0"/>
                <a:cs typeface="Times New Roman" panose="02020603050405020304" pitchFamily="18" charset="0"/>
              </a:rPr>
              <a:t>Jayakumar</a:t>
            </a:r>
            <a:r>
              <a:rPr lang="en-US" dirty="0">
                <a:latin typeface="Times New Roman" panose="02020603050405020304" pitchFamily="18" charset="0"/>
                <a:cs typeface="Times New Roman" panose="02020603050405020304" pitchFamily="18" charset="0"/>
              </a:rPr>
              <a:t>, S., 2022. Research Article Cloud-Based Lung Tumor Detection and Stage Classification Using Deep Learning Techniques.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[6]  Maqsood, S., </a:t>
            </a:r>
            <a:r>
              <a:rPr lang="en-US" dirty="0" err="1">
                <a:latin typeface="Times New Roman" panose="02020603050405020304" pitchFamily="18" charset="0"/>
                <a:cs typeface="Times New Roman" panose="02020603050405020304" pitchFamily="18" charset="0"/>
              </a:rPr>
              <a:t>Damaševičius</a:t>
            </a:r>
            <a:r>
              <a:rPr lang="en-US" dirty="0">
                <a:latin typeface="Times New Roman" panose="02020603050405020304" pitchFamily="18" charset="0"/>
                <a:cs typeface="Times New Roman" panose="02020603050405020304" pitchFamily="18" charset="0"/>
              </a:rPr>
              <a:t>, R. and </a:t>
            </a:r>
            <a:r>
              <a:rPr lang="en-US" dirty="0" err="1">
                <a:latin typeface="Times New Roman" panose="02020603050405020304" pitchFamily="18" charset="0"/>
                <a:cs typeface="Times New Roman" panose="02020603050405020304" pitchFamily="18" charset="0"/>
              </a:rPr>
              <a:t>Maskeliūnas</a:t>
            </a:r>
            <a:r>
              <a:rPr lang="en-US" dirty="0">
                <a:latin typeface="Times New Roman" panose="02020603050405020304" pitchFamily="18" charset="0"/>
                <a:cs typeface="Times New Roman" panose="02020603050405020304" pitchFamily="18" charset="0"/>
              </a:rPr>
              <a:t>, R., 2022. TTCNN: A breast cancer detection and classification towards computer-aided diagnosis using digital mammography in early stages. Applied Sciences, 12(7), p.3273.</a:t>
            </a:r>
          </a:p>
          <a:p>
            <a:pPr algn="just"/>
            <a:r>
              <a:rPr lang="en-US" dirty="0">
                <a:latin typeface="Times New Roman" panose="02020603050405020304" pitchFamily="18" charset="0"/>
                <a:cs typeface="Times New Roman" panose="02020603050405020304" pitchFamily="18" charset="0"/>
              </a:rPr>
              <a:t>[7]  Su, Y., Tian, X., Gao, R., Guo, W., Chen, C., Chen, C., Jia, D., Li, H. and </a:t>
            </a:r>
            <a:r>
              <a:rPr lang="en-US" dirty="0" err="1">
                <a:latin typeface="Times New Roman" panose="02020603050405020304" pitchFamily="18" charset="0"/>
                <a:cs typeface="Times New Roman" panose="02020603050405020304" pitchFamily="18" charset="0"/>
              </a:rPr>
              <a:t>Lv</a:t>
            </a:r>
            <a:r>
              <a:rPr lang="en-US" dirty="0">
                <a:latin typeface="Times New Roman" panose="02020603050405020304" pitchFamily="18" charset="0"/>
                <a:cs typeface="Times New Roman" panose="02020603050405020304" pitchFamily="18" charset="0"/>
              </a:rPr>
              <a:t>, X., 2022. Colon cancer diagnosis and staging classification based on machine learning and bioinformatics analysis. Computers in biology and medicine, 145, p.105409.</a:t>
            </a:r>
          </a:p>
          <a:p>
            <a:pPr algn="just"/>
            <a:r>
              <a:rPr lang="en-US" dirty="0">
                <a:latin typeface="Times New Roman" panose="02020603050405020304" pitchFamily="18" charset="0"/>
                <a:cs typeface="Times New Roman" panose="02020603050405020304" pitchFamily="18" charset="0"/>
              </a:rPr>
              <a:t>[8] Hyer, J.D. and </a:t>
            </a:r>
            <a:r>
              <a:rPr lang="en-US" dirty="0" err="1">
                <a:latin typeface="Times New Roman" panose="02020603050405020304" pitchFamily="18" charset="0"/>
                <a:cs typeface="Times New Roman" panose="02020603050405020304" pitchFamily="18" charset="0"/>
              </a:rPr>
              <a:t>Silvestri</a:t>
            </a:r>
            <a:r>
              <a:rPr lang="en-US" dirty="0">
                <a:latin typeface="Times New Roman" panose="02020603050405020304" pitchFamily="18" charset="0"/>
                <a:cs typeface="Times New Roman" panose="02020603050405020304" pitchFamily="18" charset="0"/>
              </a:rPr>
              <a:t>, G., 2000. Diagnosis and staging of lung cancer. Clinics in chest medicine, 21(1), pp.95-106.</a:t>
            </a:r>
          </a:p>
          <a:p>
            <a:pPr marL="342900" indent="-342900" algn="just">
              <a:buFont typeface="+mj-lt"/>
              <a:buAutoNum type="arabicPeriod"/>
            </a:pPr>
            <a:endParaRPr lang="en-US" u="sng" dirty="0">
              <a:solidFill>
                <a:schemeClr val="accent5"/>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3AA1857-08A7-A64D-8BF3-28A2880E9F20}"/>
              </a:ext>
            </a:extLst>
          </p:cNvPr>
          <p:cNvSpPr>
            <a:spLocks noGrp="1"/>
          </p:cNvSpPr>
          <p:nvPr>
            <p:ph type="dt" sz="half" idx="10"/>
          </p:nvPr>
        </p:nvSpPr>
        <p:spPr>
          <a:xfrm>
            <a:off x="448667" y="6402181"/>
            <a:ext cx="2743200" cy="365125"/>
          </a:xfrm>
        </p:spPr>
        <p:txBody>
          <a:bodyPr/>
          <a:lstStyle/>
          <a:p>
            <a:fld id="{BC1CA26D-59D5-4A0C-8B34-F9F156639071}" type="datetime1">
              <a:rPr lang="en-US" sz="1600" smtClean="0">
                <a:latin typeface="Times New Roman" panose="02020603050405020304" pitchFamily="18" charset="0"/>
                <a:cs typeface="Times New Roman" panose="02020603050405020304" pitchFamily="18" charset="0"/>
              </a:rPr>
              <a:t>9/13/2025</a:t>
            </a:fld>
            <a:endParaRPr lang="en-US" sz="1600"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0AEDD80F-5846-1CA9-0D3A-F23659B60E02}"/>
              </a:ext>
            </a:extLst>
          </p:cNvPr>
          <p:cNvSpPr>
            <a:spLocks noGrp="1"/>
          </p:cNvSpPr>
          <p:nvPr>
            <p:ph type="ftr" sz="quarter" idx="11"/>
          </p:nvPr>
        </p:nvSpPr>
        <p:spPr>
          <a:xfrm>
            <a:off x="4038600" y="6411951"/>
            <a:ext cx="4114800" cy="365125"/>
          </a:xfrm>
        </p:spPr>
        <p:txBody>
          <a:bodyPr/>
          <a:lstStyle/>
          <a:p>
            <a:r>
              <a:rPr lang="en-US" sz="1600" dirty="0">
                <a:latin typeface="Times New Roman" panose="02020603050405020304" pitchFamily="18" charset="0"/>
                <a:cs typeface="Times New Roman" panose="02020603050405020304" pitchFamily="18" charset="0"/>
              </a:rPr>
              <a:t>Md. Abul Basar, IT-21619</a:t>
            </a:r>
          </a:p>
        </p:txBody>
      </p:sp>
    </p:spTree>
    <p:extLst>
      <p:ext uri="{BB962C8B-B14F-4D97-AF65-F5344CB8AC3E}">
        <p14:creationId xmlns:p14="http://schemas.microsoft.com/office/powerpoint/2010/main" val="2614026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18" name="Picture 17"/>
          <p:cNvPicPr>
            <a:picLocks noChangeAspect="1"/>
          </p:cNvPicPr>
          <p:nvPr/>
        </p:nvPicPr>
        <p:blipFill>
          <a:blip r:embed="rId3" cstate="print">
            <a:lum bright="70000" contrast="-70000"/>
            <a:extLst>
              <a:ext uri="{BEBA8EAE-BF5A-486C-A8C5-ECC9F3942E4B}">
                <a14:imgProps xmlns:a14="http://schemas.microsoft.com/office/drawing/2010/main">
                  <a14:imgLayer r:embed="rId4">
                    <a14:imgEffect>
                      <a14:saturation sat="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4193674" y="2896881"/>
            <a:ext cx="3691370" cy="1064239"/>
          </a:xfrm>
          <a:prstGeom prst="roundRect">
            <a:avLst>
              <a:gd name="adj" fmla="val 50000"/>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4" name="Picture 3"/>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11338560" y="6299126"/>
            <a:ext cx="68992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p:cNvSpPr/>
          <p:nvPr/>
        </p:nvSpPr>
        <p:spPr>
          <a:xfrm>
            <a:off x="11437033" y="6274191"/>
            <a:ext cx="644403" cy="461665"/>
          </a:xfrm>
          <a:prstGeom prst="rect">
            <a:avLst/>
          </a:prstGeom>
        </p:spPr>
        <p:txBody>
          <a:bodyPr wrap="square">
            <a:spAutoFit/>
          </a:bodyPr>
          <a:lstStyle/>
          <a:p>
            <a:r>
              <a:rPr lang="en-US" sz="2400" b="1" dirty="0">
                <a:solidFill>
                  <a:schemeClr val="tx1">
                    <a:lumMod val="50000"/>
                    <a:lumOff val="50000"/>
                  </a:schemeClr>
                </a:solidFill>
              </a:rPr>
              <a:t>36</a:t>
            </a:r>
          </a:p>
        </p:txBody>
      </p:sp>
      <p:pic>
        <p:nvPicPr>
          <p:cNvPr id="8" name="Picture 7"/>
          <p:cNvPicPr>
            <a:picLocks noChangeAspect="1"/>
          </p:cNvPicPr>
          <p:nvPr/>
        </p:nvPicPr>
        <p:blipFill>
          <a:blip r:embed="rId6" cstate="print">
            <a:lum bright="70000" contrast="-70000"/>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C52EA260-4911-424A-87C2-3D62E196E92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p:cNvPicPr>
            <a:picLocks noChangeAspect="1"/>
          </p:cNvPicPr>
          <p:nvPr/>
        </p:nvPicPr>
        <p:blipFill>
          <a:blip r:embed="rId9"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15" name="Rectangle 14"/>
          <p:cNvSpPr/>
          <p:nvPr/>
        </p:nvSpPr>
        <p:spPr>
          <a:xfrm>
            <a:off x="4837519" y="3121224"/>
            <a:ext cx="2516963" cy="615553"/>
          </a:xfrm>
          <a:prstGeom prst="rect">
            <a:avLst/>
          </a:prstGeom>
        </p:spPr>
        <p:txBody>
          <a:bodyPr wrap="square">
            <a:spAutoFit/>
          </a:bodyPr>
          <a:lstStyle/>
          <a:p>
            <a:r>
              <a:rPr lang="en-US" sz="3400" b="1" dirty="0">
                <a:latin typeface="Times New Roman" panose="02020603050405020304" pitchFamily="18" charset="0"/>
                <a:cs typeface="Times New Roman" panose="02020603050405020304" pitchFamily="18" charset="0"/>
              </a:rPr>
              <a:t> Thank You</a:t>
            </a:r>
          </a:p>
        </p:txBody>
      </p:sp>
      <p:pic>
        <p:nvPicPr>
          <p:cNvPr id="19" name="Picture 18"/>
          <p:cNvPicPr>
            <a:picLocks noChangeAspect="1"/>
          </p:cNvPicPr>
          <p:nvPr/>
        </p:nvPicPr>
        <p:blipFill>
          <a:blip r:embed="rId10"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3947727" y="3200400"/>
            <a:ext cx="576359" cy="457200"/>
          </a:xfrm>
          <a:prstGeom prst="roundRect">
            <a:avLst>
              <a:gd name="adj" fmla="val 5000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0" name="Picture 19"/>
          <p:cNvPicPr>
            <a:picLocks noChangeAspect="1"/>
          </p:cNvPicPr>
          <p:nvPr/>
        </p:nvPicPr>
        <p:blipFill>
          <a:blip r:embed="rId10"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598705" y="3200400"/>
            <a:ext cx="576359" cy="457200"/>
          </a:xfrm>
          <a:prstGeom prst="roundRect">
            <a:avLst>
              <a:gd name="adj" fmla="val 5000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Date Placeholder 1">
            <a:extLst>
              <a:ext uri="{FF2B5EF4-FFF2-40B4-BE49-F238E27FC236}">
                <a16:creationId xmlns:a16="http://schemas.microsoft.com/office/drawing/2014/main" id="{35A4394C-7E76-4906-5845-C68CED8EA605}"/>
              </a:ext>
            </a:extLst>
          </p:cNvPr>
          <p:cNvSpPr>
            <a:spLocks noGrp="1"/>
          </p:cNvSpPr>
          <p:nvPr>
            <p:ph type="dt" sz="half" idx="10"/>
          </p:nvPr>
        </p:nvSpPr>
        <p:spPr/>
        <p:txBody>
          <a:bodyPr/>
          <a:lstStyle/>
          <a:p>
            <a:fld id="{BCF73189-E54C-4106-8045-7929C9FA351F}" type="datetime1">
              <a:rPr lang="en-US" sz="1600" smtClean="0">
                <a:latin typeface="Times New Roman" panose="02020603050405020304" pitchFamily="18" charset="0"/>
                <a:cs typeface="Times New Roman" panose="02020603050405020304" pitchFamily="18" charset="0"/>
              </a:rPr>
              <a:t>9/13/2025</a:t>
            </a:fld>
            <a:endParaRPr lang="en-US" sz="16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59E21B4-7F8E-9930-FC27-8A4C0EBD6AEA}"/>
              </a:ext>
            </a:extLst>
          </p:cNvPr>
          <p:cNvSpPr>
            <a:spLocks noGrp="1"/>
          </p:cNvSpPr>
          <p:nvPr>
            <p:ph type="ftr" sz="quarter" idx="11"/>
          </p:nvPr>
        </p:nvSpPr>
        <p:spPr/>
        <p:txBody>
          <a:bodyPr/>
          <a:lstStyle/>
          <a:p>
            <a:r>
              <a:rPr lang="en-US" sz="1600" dirty="0">
                <a:latin typeface="Times New Roman" panose="02020603050405020304" pitchFamily="18" charset="0"/>
                <a:cs typeface="Times New Roman" panose="02020603050405020304" pitchFamily="18" charset="0"/>
              </a:rPr>
              <a:t>Md. Abul Basar, IT-21619</a:t>
            </a:r>
          </a:p>
        </p:txBody>
      </p:sp>
    </p:spTree>
    <p:extLst>
      <p:ext uri="{BB962C8B-B14F-4D97-AF65-F5344CB8AC3E}">
        <p14:creationId xmlns:p14="http://schemas.microsoft.com/office/powerpoint/2010/main" val="10154055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D9273B06-931E-E0CD-AAD9-B74584903D25}"/>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5FC805EB-C347-69B5-813B-7EA6A857D0A7}"/>
              </a:ext>
            </a:extLst>
          </p:cNvPr>
          <p:cNvPicPr>
            <a:picLocks noChangeAspect="1"/>
          </p:cNvPicPr>
          <p:nvPr/>
        </p:nvPicPr>
        <p:blipFill rotWithShape="1">
          <a:blip r:embed="rId2">
            <a:duotone>
              <a:prstClr val="black"/>
              <a:schemeClr val="bg1">
                <a:lumMod val="75000"/>
                <a:tint val="45000"/>
                <a:satMod val="400000"/>
              </a:schemeClr>
            </a:duotone>
            <a:extLst>
              <a:ext uri="{28A0092B-C50C-407E-A947-70E740481C1C}">
                <a14:useLocalDpi xmlns:a14="http://schemas.microsoft.com/office/drawing/2010/main" val="0"/>
              </a:ext>
            </a:extLst>
          </a:blip>
          <a:srcRect l="1306" t="14706" r="3399" b="9019"/>
          <a:stretch/>
        </p:blipFill>
        <p:spPr>
          <a:xfrm>
            <a:off x="0" y="-15169"/>
            <a:ext cx="12191999" cy="6873169"/>
          </a:xfrm>
          <a:prstGeom prst="rect">
            <a:avLst/>
          </a:prstGeom>
          <a:ln w="190500" cap="sq">
            <a:solidFill>
              <a:schemeClr val="accent6">
                <a:lumMod val="40000"/>
                <a:lumOff val="6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CC9A3F33-5BE6-2197-328B-84A368475AA9}"/>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338560" y="6299126"/>
            <a:ext cx="689924" cy="41394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Rectangle 4">
            <a:extLst>
              <a:ext uri="{FF2B5EF4-FFF2-40B4-BE49-F238E27FC236}">
                <a16:creationId xmlns:a16="http://schemas.microsoft.com/office/drawing/2014/main" id="{ED604880-CFE2-B21F-27C3-FB766805F25E}"/>
              </a:ext>
            </a:extLst>
          </p:cNvPr>
          <p:cNvSpPr/>
          <p:nvPr/>
        </p:nvSpPr>
        <p:spPr>
          <a:xfrm>
            <a:off x="11437033" y="6274191"/>
            <a:ext cx="644403" cy="461665"/>
          </a:xfrm>
          <a:prstGeom prst="rect">
            <a:avLst/>
          </a:prstGeom>
        </p:spPr>
        <p:txBody>
          <a:bodyPr wrap="square">
            <a:spAutoFit/>
          </a:bodyPr>
          <a:lstStyle/>
          <a:p>
            <a:r>
              <a:rPr lang="en-US" sz="2400" b="1" dirty="0">
                <a:solidFill>
                  <a:schemeClr val="tx1">
                    <a:lumMod val="50000"/>
                    <a:lumOff val="50000"/>
                  </a:schemeClr>
                </a:solidFill>
              </a:rPr>
              <a:t>37</a:t>
            </a:r>
          </a:p>
        </p:txBody>
      </p:sp>
      <p:pic>
        <p:nvPicPr>
          <p:cNvPr id="8" name="Picture 7">
            <a:extLst>
              <a:ext uri="{FF2B5EF4-FFF2-40B4-BE49-F238E27FC236}">
                <a16:creationId xmlns:a16="http://schemas.microsoft.com/office/drawing/2014/main" id="{9CB74C17-A87E-C53A-0ED6-D91385EB1E12}"/>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11032841" y="141888"/>
            <a:ext cx="999313" cy="872179"/>
          </a:xfrm>
          <a:prstGeom prst="roundRect">
            <a:avLst>
              <a:gd name="adj" fmla="val 4167"/>
            </a:avLst>
          </a:prstGeom>
          <a:solidFill>
            <a:srgbClr val="FFFFFF"/>
          </a:solidFill>
          <a:ln w="76200" cap="sq">
            <a:solidFill>
              <a:schemeClr val="accent6">
                <a:lumMod val="60000"/>
                <a:lumOff val="4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B06EB441-D08F-E9BF-097A-62491712DB1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84399" y="181102"/>
            <a:ext cx="896195" cy="781050"/>
          </a:xfrm>
          <a:prstGeom prst="rect">
            <a:avLst/>
          </a:prstGeom>
        </p:spPr>
      </p:pic>
      <p:pic>
        <p:nvPicPr>
          <p:cNvPr id="10" name="Picture 9">
            <a:extLst>
              <a:ext uri="{FF2B5EF4-FFF2-40B4-BE49-F238E27FC236}">
                <a16:creationId xmlns:a16="http://schemas.microsoft.com/office/drawing/2014/main" id="{FE940819-6FF2-3D14-AA87-6DC869E651C1}"/>
              </a:ext>
            </a:extLst>
          </p:cNvPr>
          <p:cNvPicPr>
            <a:picLocks noChangeAspect="1"/>
          </p:cNvPicPr>
          <p:nvPr/>
        </p:nvPicPr>
        <p:blipFill>
          <a:blip r:embed="rId7" cstate="print">
            <a:duotone>
              <a:prstClr val="black"/>
              <a:schemeClr val="accent6">
                <a:tint val="45000"/>
                <a:satMod val="400000"/>
              </a:schemeClr>
            </a:duotone>
          </a:blip>
          <a:stretch>
            <a:fillRect/>
          </a:stretch>
        </p:blipFill>
        <p:spPr>
          <a:xfrm>
            <a:off x="0" y="4667536"/>
            <a:ext cx="4563467" cy="2190464"/>
          </a:xfrm>
          <a:prstGeom prst="rect">
            <a:avLst/>
          </a:prstGeom>
        </p:spPr>
      </p:pic>
      <p:sp>
        <p:nvSpPr>
          <p:cNvPr id="2" name="Date Placeholder 1">
            <a:extLst>
              <a:ext uri="{FF2B5EF4-FFF2-40B4-BE49-F238E27FC236}">
                <a16:creationId xmlns:a16="http://schemas.microsoft.com/office/drawing/2014/main" id="{ADBEF955-B7A2-0AE3-5929-4721F0A683C6}"/>
              </a:ext>
            </a:extLst>
          </p:cNvPr>
          <p:cNvSpPr>
            <a:spLocks noGrp="1"/>
          </p:cNvSpPr>
          <p:nvPr>
            <p:ph type="dt" sz="half" idx="10"/>
          </p:nvPr>
        </p:nvSpPr>
        <p:spPr/>
        <p:txBody>
          <a:bodyPr/>
          <a:lstStyle/>
          <a:p>
            <a:fld id="{BCF73189-E54C-4106-8045-7929C9FA351F}" type="datetime1">
              <a:rPr lang="en-US" sz="1600" smtClean="0">
                <a:latin typeface="Times New Roman" panose="02020603050405020304" pitchFamily="18" charset="0"/>
                <a:cs typeface="Times New Roman" panose="02020603050405020304" pitchFamily="18" charset="0"/>
              </a:rPr>
              <a:t>9/13/2025</a:t>
            </a:fld>
            <a:endParaRPr lang="en-US" sz="16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B8DB0917-DA76-DDC2-0EF8-1540FD956361}"/>
              </a:ext>
            </a:extLst>
          </p:cNvPr>
          <p:cNvSpPr>
            <a:spLocks noGrp="1"/>
          </p:cNvSpPr>
          <p:nvPr>
            <p:ph type="ftr" sz="quarter" idx="11"/>
          </p:nvPr>
        </p:nvSpPr>
        <p:spPr/>
        <p:txBody>
          <a:bodyPr/>
          <a:lstStyle/>
          <a:p>
            <a:r>
              <a:rPr lang="en-US" sz="1600" dirty="0">
                <a:latin typeface="Times New Roman" panose="02020603050405020304" pitchFamily="18" charset="0"/>
                <a:cs typeface="Times New Roman" panose="02020603050405020304" pitchFamily="18" charset="0"/>
              </a:rPr>
              <a:t>Md. Abul Basar, IT-21619</a:t>
            </a:r>
          </a:p>
        </p:txBody>
      </p:sp>
      <p:pic>
        <p:nvPicPr>
          <p:cNvPr id="14" name="Picture 13">
            <a:extLst>
              <a:ext uri="{FF2B5EF4-FFF2-40B4-BE49-F238E27FC236}">
                <a16:creationId xmlns:a16="http://schemas.microsoft.com/office/drawing/2014/main" id="{423D6D2D-32AF-337D-2F9C-9C668BD8F4E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1289518">
            <a:off x="3198299" y="402963"/>
            <a:ext cx="5153037" cy="5163363"/>
          </a:xfrm>
          <a:prstGeom prst="rect">
            <a:avLst/>
          </a:prstGeom>
        </p:spPr>
      </p:pic>
    </p:spTree>
    <p:extLst>
      <p:ext uri="{BB962C8B-B14F-4D97-AF65-F5344CB8AC3E}">
        <p14:creationId xmlns:p14="http://schemas.microsoft.com/office/powerpoint/2010/main" val="29436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12422</TotalTime>
  <Words>3297</Words>
  <Application>Microsoft Office PowerPoint</Application>
  <PresentationFormat>Widescreen</PresentationFormat>
  <Paragraphs>419</Paragraphs>
  <Slides>37</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Jahid Tanvir</dc:creator>
  <cp:lastModifiedBy>Md. Abul Basar</cp:lastModifiedBy>
  <cp:revision>247</cp:revision>
  <dcterms:created xsi:type="dcterms:W3CDTF">2022-10-24T07:49:52Z</dcterms:created>
  <dcterms:modified xsi:type="dcterms:W3CDTF">2025-09-13T07:18:03Z</dcterms:modified>
</cp:coreProperties>
</file>