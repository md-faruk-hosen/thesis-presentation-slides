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85" r:id="rId2"/>
    <p:sldId id="286" r:id="rId3"/>
    <p:sldId id="287" r:id="rId4"/>
    <p:sldId id="261" r:id="rId5"/>
    <p:sldId id="288" r:id="rId6"/>
    <p:sldId id="289" r:id="rId7"/>
    <p:sldId id="313" r:id="rId8"/>
    <p:sldId id="291" r:id="rId9"/>
    <p:sldId id="312" r:id="rId10"/>
    <p:sldId id="293" r:id="rId11"/>
    <p:sldId id="315" r:id="rId12"/>
    <p:sldId id="316" r:id="rId13"/>
    <p:sldId id="306" r:id="rId14"/>
    <p:sldId id="307" r:id="rId15"/>
    <p:sldId id="311" r:id="rId16"/>
    <p:sldId id="310" r:id="rId17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EEEE"/>
    <a:srgbClr val="00457C"/>
    <a:srgbClr val="F1F1F1"/>
    <a:srgbClr val="1D4999"/>
    <a:srgbClr val="DA91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434" autoAdjust="0"/>
  </p:normalViewPr>
  <p:slideViewPr>
    <p:cSldViewPr snapToGrid="0">
      <p:cViewPr varScale="1">
        <p:scale>
          <a:sx n="73" d="100"/>
          <a:sy n="73" d="100"/>
        </p:scale>
        <p:origin x="618" y="-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79484" y="1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9C30C1-792F-4E3B-B66C-38D73820F99B}" type="datetimeFigureOut">
              <a:rPr lang="en-US" smtClean="0"/>
              <a:t>12/5/2022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6B15CB-44BC-46F0-AB41-28A53569B3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7868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1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22345-990B-4A1A-8D67-804E692081A1}" type="datetimeFigureOut">
              <a:rPr lang="en-US" smtClean="0"/>
              <a:t>12/5/2022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3F6C12-7840-4A42-ACD4-0D4B6ABCEC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712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3F6C12-7840-4A42-ACD4-0D4B6ABCECA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2465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3F6C12-7840-4A42-ACD4-0D4B6ABCECA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7015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3F6C12-7840-4A42-ACD4-0D4B6ABCECA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0201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3F6C12-7840-4A42-ACD4-0D4B6ABCECA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0986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3F6C12-7840-4A42-ACD4-0D4B6ABCECA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2209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3F6C12-7840-4A42-ACD4-0D4B6ABCECA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9821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3F6C12-7840-4A42-ACD4-0D4B6ABCECA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4184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3F6C12-7840-4A42-ACD4-0D4B6ABCECA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226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3F6C12-7840-4A42-ACD4-0D4B6ABCECA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0399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3F6C12-7840-4A42-ACD4-0D4B6ABCECA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1146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3F6C12-7840-4A42-ACD4-0D4B6ABCECA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4723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3F6C12-7840-4A42-ACD4-0D4B6ABCECA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5877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3F6C12-7840-4A42-ACD4-0D4B6ABCECA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3113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3F6C12-7840-4A42-ACD4-0D4B6ABCECA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6037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3F6C12-7840-4A42-ACD4-0D4B6ABCECA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3368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3F6C12-7840-4A42-ACD4-0D4B6ABCECA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7321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27396-A247-4E84-84B7-6F1D09DDBB4F}" type="datetimeFigureOut">
              <a:rPr lang="en-US" smtClean="0"/>
              <a:t>12/5/2022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ADC1F-E41A-4ACC-A2D7-032E697A6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151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27396-A247-4E84-84B7-6F1D09DDBB4F}" type="datetimeFigureOut">
              <a:rPr lang="en-US" smtClean="0"/>
              <a:t>12/5/2022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ADC1F-E41A-4ACC-A2D7-032E697A6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918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27396-A247-4E84-84B7-6F1D09DDBB4F}" type="datetimeFigureOut">
              <a:rPr lang="en-US" smtClean="0"/>
              <a:t>12/5/2022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ADC1F-E41A-4ACC-A2D7-032E697A6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351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27396-A247-4E84-84B7-6F1D09DDBB4F}" type="datetimeFigureOut">
              <a:rPr lang="en-US" smtClean="0"/>
              <a:t>12/5/2022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ADC1F-E41A-4ACC-A2D7-032E697A6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057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27396-A247-4E84-84B7-6F1D09DDBB4F}" type="datetimeFigureOut">
              <a:rPr lang="en-US" smtClean="0"/>
              <a:t>12/5/2022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ADC1F-E41A-4ACC-A2D7-032E697A6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959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27396-A247-4E84-84B7-6F1D09DDBB4F}" type="datetimeFigureOut">
              <a:rPr lang="en-US" smtClean="0"/>
              <a:t>12/5/2022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ADC1F-E41A-4ACC-A2D7-032E697A6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049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27396-A247-4E84-84B7-6F1D09DDBB4F}" type="datetimeFigureOut">
              <a:rPr lang="en-US" smtClean="0"/>
              <a:t>12/5/2022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ADC1F-E41A-4ACC-A2D7-032E697A6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223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27396-A247-4E84-84B7-6F1D09DDBB4F}" type="datetimeFigureOut">
              <a:rPr lang="en-US" smtClean="0"/>
              <a:t>12/5/2022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ADC1F-E41A-4ACC-A2D7-032E697A6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427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27396-A247-4E84-84B7-6F1D09DDBB4F}" type="datetimeFigureOut">
              <a:rPr lang="en-US" smtClean="0"/>
              <a:t>12/5/2022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ADC1F-E41A-4ACC-A2D7-032E697A6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113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27396-A247-4E84-84B7-6F1D09DDBB4F}" type="datetimeFigureOut">
              <a:rPr lang="en-US" smtClean="0"/>
              <a:t>12/5/2022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ADC1F-E41A-4ACC-A2D7-032E697A6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000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27396-A247-4E84-84B7-6F1D09DDBB4F}" type="datetimeFigureOut">
              <a:rPr lang="en-US" smtClean="0"/>
              <a:t>12/5/2022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ADC1F-E41A-4ACC-A2D7-032E697A6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013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127396-A247-4E84-84B7-6F1D09DDBB4F}" type="datetimeFigureOut">
              <a:rPr lang="en-US" smtClean="0"/>
              <a:t>12/5/2022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0ADC1F-E41A-4ACC-A2D7-032E697A6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11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jp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.jp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.jp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.jp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11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microsoft.com/office/2007/relationships/hdphoto" Target="../media/hdphoto3.wdp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.jp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11" Type="http://schemas.microsoft.com/office/2007/relationships/hdphoto" Target="../media/hdphoto3.wdp"/><Relationship Id="rId5" Type="http://schemas.openxmlformats.org/officeDocument/2006/relationships/image" Target="../media/image7.png"/><Relationship Id="rId10" Type="http://schemas.openxmlformats.org/officeDocument/2006/relationships/image" Target="../media/image9.png"/><Relationship Id="rId4" Type="http://schemas.openxmlformats.org/officeDocument/2006/relationships/image" Target="../media/image2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.jp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11" Type="http://schemas.microsoft.com/office/2007/relationships/hdphoto" Target="../media/hdphoto3.wdp"/><Relationship Id="rId5" Type="http://schemas.openxmlformats.org/officeDocument/2006/relationships/image" Target="../media/image7.png"/><Relationship Id="rId10" Type="http://schemas.openxmlformats.org/officeDocument/2006/relationships/image" Target="../media/image9.png"/><Relationship Id="rId4" Type="http://schemas.openxmlformats.org/officeDocument/2006/relationships/image" Target="../media/image2.pn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.jp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11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microsoft.com/office/2007/relationships/hdphoto" Target="../media/hdphoto3.wdp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.jp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11" Type="http://schemas.microsoft.com/office/2007/relationships/hdphoto" Target="../media/hdphoto3.wdp"/><Relationship Id="rId5" Type="http://schemas.openxmlformats.org/officeDocument/2006/relationships/image" Target="../media/image7.png"/><Relationship Id="rId10" Type="http://schemas.openxmlformats.org/officeDocument/2006/relationships/image" Target="../media/image9.png"/><Relationship Id="rId4" Type="http://schemas.openxmlformats.org/officeDocument/2006/relationships/image" Target="../media/image2.png"/><Relationship Id="rId9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.jp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11" Type="http://schemas.microsoft.com/office/2007/relationships/hdphoto" Target="../media/hdphoto3.wdp"/><Relationship Id="rId5" Type="http://schemas.openxmlformats.org/officeDocument/2006/relationships/image" Target="../media/image7.png"/><Relationship Id="rId10" Type="http://schemas.openxmlformats.org/officeDocument/2006/relationships/image" Target="../media/image9.png"/><Relationship Id="rId4" Type="http://schemas.openxmlformats.org/officeDocument/2006/relationships/image" Target="../media/image2.png"/><Relationship Id="rId9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.jp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7.png"/><Relationship Id="rId10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.jp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11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microsoft.com/office/2007/relationships/hdphoto" Target="../media/hdphoto3.wdp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.jp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.jp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.jp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11" Type="http://schemas.openxmlformats.org/officeDocument/2006/relationships/slide" Target="slide6.xml"/><Relationship Id="rId5" Type="http://schemas.openxmlformats.org/officeDocument/2006/relationships/image" Target="../media/image7.png"/><Relationship Id="rId10" Type="http://schemas.openxmlformats.org/officeDocument/2006/relationships/slide" Target="slide4.xml"/><Relationship Id="rId4" Type="http://schemas.openxmlformats.org/officeDocument/2006/relationships/image" Target="../media/image2.png"/><Relationship Id="rId9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.jpg"/><Relationship Id="rId7" Type="http://schemas.openxmlformats.org/officeDocument/2006/relationships/image" Target="../media/image3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11" Type="http://schemas.microsoft.com/office/2007/relationships/hdphoto" Target="../media/hdphoto4.wdp"/><Relationship Id="rId5" Type="http://schemas.openxmlformats.org/officeDocument/2006/relationships/image" Target="../media/image7.png"/><Relationship Id="rId10" Type="http://schemas.openxmlformats.org/officeDocument/2006/relationships/image" Target="../media/image11.png"/><Relationship Id="rId4" Type="http://schemas.openxmlformats.org/officeDocument/2006/relationships/image" Target="../media/image2.png"/><Relationship Id="rId9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.jp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11" Type="http://schemas.microsoft.com/office/2007/relationships/hdphoto" Target="../media/hdphoto4.wdp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2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bg1">
                <a:lumMod val="7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6" t="14706" r="3399" b="9019"/>
          <a:stretch/>
        </p:blipFill>
        <p:spPr>
          <a:xfrm>
            <a:off x="0" y="39189"/>
            <a:ext cx="12187232" cy="6858000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7524196" y="127458"/>
            <a:ext cx="4563467" cy="2190464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5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171" y="600890"/>
            <a:ext cx="9222378" cy="1224633"/>
          </a:xfrm>
          <a:prstGeom prst="roundRect">
            <a:avLst>
              <a:gd name="adj" fmla="val 15075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3" name="Rectangle 22"/>
          <p:cNvSpPr/>
          <p:nvPr/>
        </p:nvSpPr>
        <p:spPr>
          <a:xfrm>
            <a:off x="1894115" y="714358"/>
            <a:ext cx="8582296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00050" indent="-400050" algn="just"/>
            <a:r>
              <a:rPr lang="en-US" sz="23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GB" sz="23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deep learning-based approach for accurate prediction </a:t>
            </a:r>
            <a:r>
              <a:rPr lang="en-GB" sz="2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GB" sz="23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protein</a:t>
            </a:r>
            <a:r>
              <a:rPr lang="en-GB" sz="2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3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ubiquitination </a:t>
            </a:r>
            <a:r>
              <a:rPr lang="en-GB" sz="2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sites using word embedding techniques</a:t>
            </a:r>
            <a:endParaRPr lang="en-US" sz="23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indent="-400050" algn="just"/>
            <a:endParaRPr lang="en-US" sz="23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5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1828" y="2044177"/>
            <a:ext cx="2011680" cy="440223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6" name="Rectangle 35"/>
          <p:cNvSpPr/>
          <p:nvPr/>
        </p:nvSpPr>
        <p:spPr>
          <a:xfrm>
            <a:off x="5184948" y="2064980"/>
            <a:ext cx="158889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 15, 2022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5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3204" y="537870"/>
            <a:ext cx="1326577" cy="1422109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5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4948" y="2938160"/>
            <a:ext cx="1616148" cy="1592986"/>
          </a:xfrm>
          <a:prstGeom prst="roundRect">
            <a:avLst>
              <a:gd name="adj" fmla="val 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6099" y="3060775"/>
            <a:ext cx="1353845" cy="1254893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5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0482" y="5187475"/>
            <a:ext cx="5866027" cy="433212"/>
          </a:xfrm>
          <a:prstGeom prst="roundRect">
            <a:avLst>
              <a:gd name="adj" fmla="val 29259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" name="Rectangle 1"/>
          <p:cNvSpPr/>
          <p:nvPr/>
        </p:nvSpPr>
        <p:spPr>
          <a:xfrm>
            <a:off x="3204419" y="5204687"/>
            <a:ext cx="57620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and Communication Technology</a:t>
            </a:r>
          </a:p>
        </p:txBody>
      </p:sp>
      <p:pic>
        <p:nvPicPr>
          <p:cNvPr id="45" name="Picture 44"/>
          <p:cNvPicPr>
            <a:picLocks noChangeAspect="1"/>
          </p:cNvPicPr>
          <p:nvPr/>
        </p:nvPicPr>
        <p:blipFill>
          <a:blip r:embed="rId5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5991" y="5681962"/>
            <a:ext cx="5326187" cy="433212"/>
          </a:xfrm>
          <a:prstGeom prst="roundRect">
            <a:avLst>
              <a:gd name="adj" fmla="val 29259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5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2129" y="6169531"/>
            <a:ext cx="3606404" cy="433212"/>
          </a:xfrm>
          <a:prstGeom prst="roundRect">
            <a:avLst>
              <a:gd name="adj" fmla="val 29259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" name="Rectangle 2"/>
          <p:cNvSpPr/>
          <p:nvPr/>
        </p:nvSpPr>
        <p:spPr>
          <a:xfrm>
            <a:off x="3451753" y="5701768"/>
            <a:ext cx="53004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Mawlana Bhashani Science and Technology University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403948" y="6201471"/>
            <a:ext cx="34473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Santosh, Tangail-1902, Bangladesh</a:t>
            </a:r>
          </a:p>
        </p:txBody>
      </p:sp>
      <p:pic>
        <p:nvPicPr>
          <p:cNvPr id="47" name="Picture 46"/>
          <p:cNvPicPr>
            <a:picLocks noChangeAspect="1"/>
          </p:cNvPicPr>
          <p:nvPr/>
        </p:nvPicPr>
        <p:blipFill>
          <a:blip r:embed="rId5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922" y="5009757"/>
            <a:ext cx="1616148" cy="1561046"/>
          </a:xfrm>
          <a:prstGeom prst="roundRect">
            <a:avLst>
              <a:gd name="adj" fmla="val 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8" name="Picture 47"/>
          <p:cNvPicPr>
            <a:picLocks noChangeAspect="1"/>
          </p:cNvPicPr>
          <p:nvPr/>
        </p:nvPicPr>
        <p:blipFill>
          <a:blip r:embed="rId5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6949" y="5009757"/>
            <a:ext cx="1616148" cy="1592986"/>
          </a:xfrm>
          <a:prstGeom prst="roundRect">
            <a:avLst>
              <a:gd name="adj" fmla="val 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51" name="Picture 50"/>
          <p:cNvPicPr>
            <a:picLocks noChangeAspect="1"/>
          </p:cNvPicPr>
          <p:nvPr/>
        </p:nvPicPr>
        <p:blipFill>
          <a:blip r:embed="rId5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922" y="564104"/>
            <a:ext cx="1277633" cy="1369640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21910" y="5233001"/>
            <a:ext cx="1190822" cy="120914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3406" y="5233002"/>
            <a:ext cx="1226242" cy="1076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708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bg1">
                <a:lumMod val="7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6" t="14706" r="3399" b="9019"/>
          <a:stretch/>
        </p:blipFill>
        <p:spPr>
          <a:xfrm>
            <a:off x="0" y="26126"/>
            <a:ext cx="12187232" cy="6858000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7524196" y="127458"/>
            <a:ext cx="4563467" cy="219046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21058" y="6258261"/>
            <a:ext cx="441044" cy="41394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16" name="Rectangle 15"/>
          <p:cNvSpPr/>
          <p:nvPr/>
        </p:nvSpPr>
        <p:spPr>
          <a:xfrm>
            <a:off x="11571501" y="6210545"/>
            <a:ext cx="3906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</a:t>
            </a: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7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6402" y="193474"/>
            <a:ext cx="1028107" cy="942253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8334" y="254709"/>
            <a:ext cx="734697" cy="680998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7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6176" y="320775"/>
            <a:ext cx="3877119" cy="813760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7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3489" y="1937451"/>
            <a:ext cx="3877119" cy="813760"/>
          </a:xfrm>
          <a:prstGeom prst="roundRect">
            <a:avLst>
              <a:gd name="adj" fmla="val 16951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8" name="Rectangle 27"/>
          <p:cNvSpPr/>
          <p:nvPr/>
        </p:nvSpPr>
        <p:spPr>
          <a:xfrm>
            <a:off x="4071034" y="437420"/>
            <a:ext cx="33874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Introduce Ourselves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51458" y="2046666"/>
            <a:ext cx="220118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  <a:endParaRPr 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7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3489" y="3057693"/>
            <a:ext cx="3877119" cy="1210245"/>
          </a:xfrm>
          <a:prstGeom prst="roundRect">
            <a:avLst>
              <a:gd name="adj" fmla="val 8889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1" name="Rectangle 30"/>
          <p:cNvSpPr/>
          <p:nvPr/>
        </p:nvSpPr>
        <p:spPr>
          <a:xfrm>
            <a:off x="2025702" y="3215817"/>
            <a:ext cx="2847767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Md. Faruk Hosen</a:t>
            </a:r>
          </a:p>
          <a:p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ID: IT-17035</a:t>
            </a:r>
          </a:p>
          <a:p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ICT, MBSTU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7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5120" y="2472910"/>
            <a:ext cx="4102359" cy="813760"/>
          </a:xfrm>
          <a:prstGeom prst="roundRect">
            <a:avLst>
              <a:gd name="adj" fmla="val 11993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7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5120" y="3578978"/>
            <a:ext cx="4102359" cy="1210245"/>
          </a:xfrm>
          <a:prstGeom prst="roundRect">
            <a:avLst>
              <a:gd name="adj" fmla="val 1000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42" name="Rectangle 41"/>
          <p:cNvSpPr/>
          <p:nvPr/>
        </p:nvSpPr>
        <p:spPr>
          <a:xfrm>
            <a:off x="6858001" y="3707046"/>
            <a:ext cx="377516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Muhammad </a:t>
            </a:r>
            <a:r>
              <a:rPr lang="en-US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Shahin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Uddin</a:t>
            </a:r>
            <a:endParaRPr lang="en-US" sz="2000" b="1" dirty="0" smtClean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Professor </a:t>
            </a:r>
          </a:p>
          <a:p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Department of ICT, MBSTU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7644521" y="2604899"/>
            <a:ext cx="238879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 By</a:t>
            </a:r>
            <a:endParaRPr 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0535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bg1">
                <a:lumMod val="7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6" t="14706" r="3399" b="9019"/>
          <a:stretch/>
        </p:blipFill>
        <p:spPr>
          <a:xfrm>
            <a:off x="0" y="0"/>
            <a:ext cx="12187232" cy="6858000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7524196" y="127458"/>
            <a:ext cx="4563467" cy="219046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4349" y="6253408"/>
            <a:ext cx="441044" cy="41394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16" name="Rectangle 15"/>
          <p:cNvSpPr/>
          <p:nvPr/>
        </p:nvSpPr>
        <p:spPr>
          <a:xfrm>
            <a:off x="11571501" y="6210545"/>
            <a:ext cx="3906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7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966" y="268591"/>
            <a:ext cx="2039928" cy="813760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9" name="Rectangle 18"/>
          <p:cNvSpPr/>
          <p:nvPr/>
        </p:nvSpPr>
        <p:spPr>
          <a:xfrm>
            <a:off x="552570" y="375080"/>
            <a:ext cx="157206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Outlines</a:t>
            </a:r>
            <a:endParaRPr 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7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3247" y="6524569"/>
            <a:ext cx="3416315" cy="353826"/>
          </a:xfrm>
          <a:prstGeom prst="roundRect">
            <a:avLst>
              <a:gd name="adj" fmla="val 50000"/>
            </a:avLst>
          </a:prstGeom>
          <a:ln>
            <a:solidFill>
              <a:schemeClr val="bg1">
                <a:lumMod val="65000"/>
              </a:schemeClr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5" name="Rectangle 24"/>
          <p:cNvSpPr/>
          <p:nvPr/>
        </p:nvSpPr>
        <p:spPr>
          <a:xfrm>
            <a:off x="4885508" y="6551463"/>
            <a:ext cx="2824053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By-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IT-17035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7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6402" y="193474"/>
            <a:ext cx="1028107" cy="942253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8334" y="254709"/>
            <a:ext cx="734697" cy="680998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7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4012" y="1640541"/>
            <a:ext cx="3956750" cy="721680"/>
          </a:xfrm>
          <a:prstGeom prst="roundRect">
            <a:avLst>
              <a:gd name="adj" fmla="val 1667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" name="Rectangle 1"/>
          <p:cNvSpPr/>
          <p:nvPr/>
        </p:nvSpPr>
        <p:spPr>
          <a:xfrm>
            <a:off x="3225985" y="1731285"/>
            <a:ext cx="22252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Introduction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7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4012" y="2548823"/>
            <a:ext cx="3956750" cy="721680"/>
          </a:xfrm>
          <a:prstGeom prst="roundRect">
            <a:avLst>
              <a:gd name="adj" fmla="val 1667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1" name="Rectangle 30"/>
          <p:cNvSpPr/>
          <p:nvPr/>
        </p:nvSpPr>
        <p:spPr>
          <a:xfrm>
            <a:off x="2795917" y="2659140"/>
            <a:ext cx="319993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Related Works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39" name="Picture 38"/>
          <p:cNvPicPr>
            <a:picLocks noChangeAspect="1"/>
          </p:cNvPicPr>
          <p:nvPr/>
        </p:nvPicPr>
        <p:blipFill>
          <a:blip r:embed="rId7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8843" y="3497393"/>
            <a:ext cx="3956750" cy="721680"/>
          </a:xfrm>
          <a:prstGeom prst="roundRect">
            <a:avLst>
              <a:gd name="adj" fmla="val 1667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9" name="Rectangle 28"/>
          <p:cNvSpPr/>
          <p:nvPr/>
        </p:nvSpPr>
        <p:spPr>
          <a:xfrm>
            <a:off x="2795916" y="3591774"/>
            <a:ext cx="319993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7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8843" y="4445963"/>
            <a:ext cx="3956750" cy="721680"/>
          </a:xfrm>
          <a:prstGeom prst="roundRect">
            <a:avLst>
              <a:gd name="adj" fmla="val 1667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" name="Rectangle 2"/>
          <p:cNvSpPr/>
          <p:nvPr/>
        </p:nvSpPr>
        <p:spPr>
          <a:xfrm>
            <a:off x="3357154" y="4558783"/>
            <a:ext cx="20900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References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7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3229" y="2001381"/>
            <a:ext cx="4099754" cy="721680"/>
          </a:xfrm>
          <a:prstGeom prst="roundRect">
            <a:avLst>
              <a:gd name="adj" fmla="val 1667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3" name="Rectangle 32"/>
          <p:cNvSpPr/>
          <p:nvPr/>
        </p:nvSpPr>
        <p:spPr>
          <a:xfrm>
            <a:off x="6603660" y="2121496"/>
            <a:ext cx="419932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Objectives &amp; Motivation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2" name="Picture 41"/>
          <p:cNvPicPr>
            <a:picLocks noChangeAspect="1"/>
          </p:cNvPicPr>
          <p:nvPr/>
        </p:nvPicPr>
        <p:blipFill>
          <a:blip r:embed="rId7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3229" y="2916777"/>
            <a:ext cx="3956750" cy="721680"/>
          </a:xfrm>
          <a:prstGeom prst="roundRect">
            <a:avLst>
              <a:gd name="adj" fmla="val 1667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5" name="Rectangle 34"/>
          <p:cNvSpPr/>
          <p:nvPr/>
        </p:nvSpPr>
        <p:spPr>
          <a:xfrm>
            <a:off x="6708398" y="2996822"/>
            <a:ext cx="37418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Experimental Results</a:t>
            </a:r>
          </a:p>
        </p:txBody>
      </p:sp>
      <p:pic>
        <p:nvPicPr>
          <p:cNvPr id="43" name="Picture 42"/>
          <p:cNvPicPr>
            <a:picLocks noChangeAspect="1"/>
          </p:cNvPicPr>
          <p:nvPr/>
        </p:nvPicPr>
        <p:blipFill>
          <a:blip r:embed="rId7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3229" y="3836654"/>
            <a:ext cx="3956750" cy="721680"/>
          </a:xfrm>
          <a:prstGeom prst="roundRect">
            <a:avLst>
              <a:gd name="adj" fmla="val 1667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4" name="Rectangle 3"/>
          <p:cNvSpPr/>
          <p:nvPr/>
        </p:nvSpPr>
        <p:spPr>
          <a:xfrm>
            <a:off x="6727125" y="3920398"/>
            <a:ext cx="393285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Conclusion</a:t>
            </a:r>
            <a:endParaRPr 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563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bg1">
                <a:lumMod val="7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6" t="14706" r="3399" b="9019"/>
          <a:stretch/>
        </p:blipFill>
        <p:spPr>
          <a:xfrm>
            <a:off x="0" y="0"/>
            <a:ext cx="12187232" cy="6858000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7524196" y="127458"/>
            <a:ext cx="4563467" cy="219046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4349" y="6253408"/>
            <a:ext cx="441044" cy="41394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16" name="Rectangle 15"/>
          <p:cNvSpPr/>
          <p:nvPr/>
        </p:nvSpPr>
        <p:spPr>
          <a:xfrm>
            <a:off x="11571501" y="6210545"/>
            <a:ext cx="3906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1214674" y="1573973"/>
            <a:ext cx="9938672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Ubiquitination is the biochemical process while ubiquitin protein is covalently linked it to lysine residue off target proteins [1].</a:t>
            </a:r>
          </a:p>
          <a:p>
            <a:pPr algn="just"/>
            <a:endParaRPr lang="en-US" sz="2000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Ubiquitination is responsible for many aspects of cellular molecular function, such as protein localization, metabolism, regulation and degradation [2-4]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participates in the regulation of various biological processes such as cell division and apoptosis, signal transduction, gene transcription, DNA repair and replication, intracellular transport and virus 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budding [2, 3].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2000" dirty="0"/>
              <a:t>Experimental and clinical studies have shown that abnormal ubiquitination status is involved in many diseases</a:t>
            </a:r>
            <a:r>
              <a:rPr lang="en-GB" sz="2000" dirty="0" smtClean="0"/>
              <a:t>.</a:t>
            </a:r>
          </a:p>
          <a:p>
            <a:pPr algn="just"/>
            <a:endParaRPr lang="en-GB" sz="2000" dirty="0"/>
          </a:p>
          <a:p>
            <a:pPr algn="just"/>
            <a:r>
              <a:rPr lang="en-GB" sz="2000" dirty="0"/>
              <a:t>Due to the roles of ubiquitination, the precise prediction of ubiquitination sites is particularly important.</a:t>
            </a:r>
            <a:endParaRPr lang="en-GB" sz="2000" dirty="0" smtClean="0"/>
          </a:p>
          <a:p>
            <a:pPr algn="just"/>
            <a:endParaRPr lang="en-US" sz="20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7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966" y="268591"/>
            <a:ext cx="2719346" cy="813760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9" name="Rectangle 18"/>
          <p:cNvSpPr/>
          <p:nvPr/>
        </p:nvSpPr>
        <p:spPr>
          <a:xfrm>
            <a:off x="552569" y="375080"/>
            <a:ext cx="243974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9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012" y="1624507"/>
            <a:ext cx="445662" cy="255611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9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500" y="2537053"/>
            <a:ext cx="445662" cy="255611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9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543" y="3483292"/>
            <a:ext cx="445662" cy="255611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9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543" y="4697526"/>
            <a:ext cx="445662" cy="255611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9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543" y="5575523"/>
            <a:ext cx="445662" cy="255611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7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3247" y="6524569"/>
            <a:ext cx="3416315" cy="353826"/>
          </a:xfrm>
          <a:prstGeom prst="roundRect">
            <a:avLst>
              <a:gd name="adj" fmla="val 50000"/>
            </a:avLst>
          </a:prstGeom>
          <a:ln>
            <a:solidFill>
              <a:schemeClr val="bg1">
                <a:lumMod val="65000"/>
              </a:schemeClr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5" name="Rectangle 24"/>
          <p:cNvSpPr/>
          <p:nvPr/>
        </p:nvSpPr>
        <p:spPr>
          <a:xfrm>
            <a:off x="4833256" y="6551463"/>
            <a:ext cx="2876305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By-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IT-17035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7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6402" y="193474"/>
            <a:ext cx="1028107" cy="942253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8334" y="254709"/>
            <a:ext cx="734697" cy="680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087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bg1">
                <a:lumMod val="7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6" t="14706" r="3399" b="9019"/>
          <a:stretch/>
        </p:blipFill>
        <p:spPr>
          <a:xfrm>
            <a:off x="0" y="0"/>
            <a:ext cx="12187232" cy="6858000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7524196" y="127458"/>
            <a:ext cx="4563467" cy="219046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4349" y="6253408"/>
            <a:ext cx="441044" cy="41394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16" name="Rectangle 15"/>
          <p:cNvSpPr/>
          <p:nvPr/>
        </p:nvSpPr>
        <p:spPr>
          <a:xfrm>
            <a:off x="11571501" y="6210545"/>
            <a:ext cx="3906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4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7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966" y="268591"/>
            <a:ext cx="3667022" cy="813760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9" name="Rectangle 18"/>
          <p:cNvSpPr/>
          <p:nvPr/>
        </p:nvSpPr>
        <p:spPr>
          <a:xfrm>
            <a:off x="552569" y="375080"/>
            <a:ext cx="321260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Cont..</a:t>
            </a:r>
            <a:endParaRPr 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7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3247" y="6524569"/>
            <a:ext cx="3416315" cy="353826"/>
          </a:xfrm>
          <a:prstGeom prst="roundRect">
            <a:avLst>
              <a:gd name="adj" fmla="val 50000"/>
            </a:avLst>
          </a:prstGeom>
          <a:ln>
            <a:solidFill>
              <a:schemeClr val="bg1">
                <a:lumMod val="65000"/>
              </a:schemeClr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5" name="Rectangle 24"/>
          <p:cNvSpPr/>
          <p:nvPr/>
        </p:nvSpPr>
        <p:spPr>
          <a:xfrm>
            <a:off x="4834894" y="6551463"/>
            <a:ext cx="2874667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By-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IT-17035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7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6402" y="193474"/>
            <a:ext cx="1028107" cy="942253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8334" y="254709"/>
            <a:ext cx="734697" cy="68099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344706" y="1723314"/>
            <a:ext cx="9614647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Traditionally, researchers identify protein ubiquitination sites through wet-lab experimental techniques, but they are cost-intensive and time consuming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it is an urgent need to develop a cost-effective prediction methods for accurately and rapidly identifying protein ubiquitination sites using machine learning.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0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0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10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044" y="1790391"/>
            <a:ext cx="445662" cy="255611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0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044" y="2687730"/>
            <a:ext cx="445662" cy="255611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714" y="4555218"/>
            <a:ext cx="4563467" cy="219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541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bg1">
                <a:lumMod val="7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6" t="14706" r="3399" b="9019"/>
          <a:stretch/>
        </p:blipFill>
        <p:spPr>
          <a:xfrm>
            <a:off x="0" y="0"/>
            <a:ext cx="12187232" cy="6858000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7524196" y="127458"/>
            <a:ext cx="4563467" cy="219046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4349" y="6253408"/>
            <a:ext cx="441044" cy="41394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16" name="Rectangle 15"/>
          <p:cNvSpPr/>
          <p:nvPr/>
        </p:nvSpPr>
        <p:spPr>
          <a:xfrm>
            <a:off x="11571501" y="6210545"/>
            <a:ext cx="3906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5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7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966" y="268591"/>
            <a:ext cx="2261228" cy="813760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9" name="Rectangle 18"/>
          <p:cNvSpPr/>
          <p:nvPr/>
        </p:nvSpPr>
        <p:spPr>
          <a:xfrm>
            <a:off x="552569" y="375080"/>
            <a:ext cx="342776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7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3247" y="6524569"/>
            <a:ext cx="3416315" cy="353826"/>
          </a:xfrm>
          <a:prstGeom prst="roundRect">
            <a:avLst>
              <a:gd name="adj" fmla="val 50000"/>
            </a:avLst>
          </a:prstGeom>
          <a:ln>
            <a:solidFill>
              <a:schemeClr val="bg1">
                <a:lumMod val="65000"/>
              </a:schemeClr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5" name="Rectangle 24"/>
          <p:cNvSpPr/>
          <p:nvPr/>
        </p:nvSpPr>
        <p:spPr>
          <a:xfrm>
            <a:off x="4859382" y="6551463"/>
            <a:ext cx="2850179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By-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IT-17035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7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6402" y="193474"/>
            <a:ext cx="1028107" cy="942253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8334" y="254709"/>
            <a:ext cx="734697" cy="68099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18628" y="1564742"/>
            <a:ext cx="9378962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novel predictor for protein ubiquitination sites prediction.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machine learning and deep learning methods which will provide a strong identification of protein ubiquitination sites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the performance of existing method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Also, try to apply different feature selection methods because feature selection increases the predictive power of machine learning algorithms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Finally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best features are provided to the CNN classifier for identifying protein ubiquitination sites.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10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112" y="1629555"/>
            <a:ext cx="445662" cy="255611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10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112" y="2275013"/>
            <a:ext cx="445662" cy="255611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10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112" y="3161524"/>
            <a:ext cx="445662" cy="255611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10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112" y="3792424"/>
            <a:ext cx="445662" cy="255611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10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112" y="4694312"/>
            <a:ext cx="445662" cy="255611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98379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bg1">
                <a:lumMod val="7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6" t="14706" r="3399" b="9019"/>
          <a:stretch/>
        </p:blipFill>
        <p:spPr>
          <a:xfrm>
            <a:off x="0" y="0"/>
            <a:ext cx="12187232" cy="6858000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7524196" y="127458"/>
            <a:ext cx="4563467" cy="219046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4349" y="6253408"/>
            <a:ext cx="441044" cy="41394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16" name="Rectangle 15"/>
          <p:cNvSpPr/>
          <p:nvPr/>
        </p:nvSpPr>
        <p:spPr>
          <a:xfrm>
            <a:off x="11571501" y="6210545"/>
            <a:ext cx="3906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1214674" y="1573973"/>
            <a:ext cx="9938672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Ubiquitination occurs on those proteins which are misfolded or toxic proteins or </a:t>
            </a:r>
            <a:r>
              <a:rPr lang="en-GB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 those proteins which are of no use in the cell</a:t>
            </a:r>
            <a:r>
              <a:rPr lang="en-GB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Ubiuitination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also happens to be part of some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signaling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pathways in order to switch on and switch off the pathways by the destruction of proteins so 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say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ubiquitination tags the protein for degradation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ubiquitination is a major field of bioinformatics research in recent years and becomes a new target for research and development of drugs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2000" dirty="0"/>
              <a:t>So it is important to identify which is a protein ubiquitination site or which is not a protein ubiquitination </a:t>
            </a:r>
            <a:r>
              <a:rPr lang="en-GB" sz="2000" dirty="0" smtClean="0"/>
              <a:t>site.</a:t>
            </a:r>
          </a:p>
          <a:p>
            <a:pPr algn="just"/>
            <a:endParaRPr lang="en-GB" sz="20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7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966" y="268591"/>
            <a:ext cx="2719346" cy="813760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9" name="Rectangle 18"/>
          <p:cNvSpPr/>
          <p:nvPr/>
        </p:nvSpPr>
        <p:spPr>
          <a:xfrm>
            <a:off x="552569" y="375080"/>
            <a:ext cx="243974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9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012" y="1624507"/>
            <a:ext cx="445662" cy="255611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9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500" y="2537053"/>
            <a:ext cx="445662" cy="255611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9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543" y="3784980"/>
            <a:ext cx="445662" cy="255611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9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543" y="4697526"/>
            <a:ext cx="445662" cy="255611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7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3247" y="6524569"/>
            <a:ext cx="3416315" cy="353826"/>
          </a:xfrm>
          <a:prstGeom prst="roundRect">
            <a:avLst>
              <a:gd name="adj" fmla="val 50000"/>
            </a:avLst>
          </a:prstGeom>
          <a:ln>
            <a:solidFill>
              <a:schemeClr val="bg1">
                <a:lumMod val="65000"/>
              </a:schemeClr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5" name="Rectangle 24"/>
          <p:cNvSpPr/>
          <p:nvPr/>
        </p:nvSpPr>
        <p:spPr>
          <a:xfrm>
            <a:off x="4833256" y="6551463"/>
            <a:ext cx="2876305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By-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IT-17035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7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6402" y="193474"/>
            <a:ext cx="1028107" cy="942253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8334" y="254709"/>
            <a:ext cx="734697" cy="680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121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bg1">
                <a:lumMod val="7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6" t="14706" r="3399" b="9019"/>
          <a:stretch/>
        </p:blipFill>
        <p:spPr>
          <a:xfrm>
            <a:off x="-92212" y="16628"/>
            <a:ext cx="12187232" cy="6858000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7524196" y="127458"/>
            <a:ext cx="4563467" cy="219046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4349" y="6253408"/>
            <a:ext cx="441044" cy="41394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16" name="Rectangle 15"/>
          <p:cNvSpPr/>
          <p:nvPr/>
        </p:nvSpPr>
        <p:spPr>
          <a:xfrm>
            <a:off x="11571501" y="6210545"/>
            <a:ext cx="3906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7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7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3247" y="6524569"/>
            <a:ext cx="3416315" cy="353826"/>
          </a:xfrm>
          <a:prstGeom prst="roundRect">
            <a:avLst>
              <a:gd name="adj" fmla="val 50000"/>
            </a:avLst>
          </a:prstGeom>
          <a:ln>
            <a:solidFill>
              <a:schemeClr val="bg1">
                <a:lumMod val="65000"/>
              </a:schemeClr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5" name="Rectangle 24"/>
          <p:cNvSpPr/>
          <p:nvPr/>
        </p:nvSpPr>
        <p:spPr>
          <a:xfrm>
            <a:off x="4807130" y="6551463"/>
            <a:ext cx="2902431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By-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IT-17035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7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6402" y="193474"/>
            <a:ext cx="1028107" cy="942253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8334" y="254709"/>
            <a:ext cx="734697" cy="68099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838200" y="2292764"/>
            <a:ext cx="4764314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Six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 were collected from different databases and literatures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Seven single-view features, i.e.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PseAAC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CKSAAP, ANBPB,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AAIndex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EBGW, BLOSUM62 and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PsePSSM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used to extract 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Applied Lasso for feature selection and then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classifier is used to predict Ubiquitination sites.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10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601" y="4846899"/>
            <a:ext cx="445662" cy="255611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10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601" y="3261107"/>
            <a:ext cx="445662" cy="255611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10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601" y="2375049"/>
            <a:ext cx="445662" cy="255611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7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965" y="268591"/>
            <a:ext cx="4850363" cy="813760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8" name="Rectangle 27"/>
          <p:cNvSpPr/>
          <p:nvPr/>
        </p:nvSpPr>
        <p:spPr>
          <a:xfrm>
            <a:off x="1449977" y="375080"/>
            <a:ext cx="27432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Related Works</a:t>
            </a:r>
            <a:endParaRPr 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7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474" y="1380691"/>
            <a:ext cx="3062196" cy="549646"/>
          </a:xfrm>
          <a:prstGeom prst="roundRect">
            <a:avLst>
              <a:gd name="adj" fmla="val 1667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0" name="Rectangle 29"/>
          <p:cNvSpPr/>
          <p:nvPr/>
        </p:nvSpPr>
        <p:spPr>
          <a:xfrm>
            <a:off x="1449978" y="1401246"/>
            <a:ext cx="29576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UbiSite-XGBoost</a:t>
            </a:r>
            <a:r>
              <a:rPr 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[5]</a:t>
            </a:r>
            <a:endParaRPr 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7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1317" y="1380691"/>
            <a:ext cx="2628097" cy="549646"/>
          </a:xfrm>
          <a:prstGeom prst="roundRect">
            <a:avLst>
              <a:gd name="adj" fmla="val 1667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3" name="Rectangle 32"/>
          <p:cNvSpPr/>
          <p:nvPr/>
        </p:nvSpPr>
        <p:spPr>
          <a:xfrm>
            <a:off x="7743897" y="1437328"/>
            <a:ext cx="21229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Limitations</a:t>
            </a:r>
            <a:endParaRPr 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6603203" y="2289884"/>
            <a:ext cx="4556705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They use traditional machine learning method to predict protein ubiquitination sites.</a:t>
            </a:r>
          </a:p>
          <a:p>
            <a:pPr algn="just"/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are not doing any parameter tuning in their machine learning method.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10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1012" y="2375049"/>
            <a:ext cx="445662" cy="255611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10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1012" y="3544036"/>
            <a:ext cx="445662" cy="255611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206901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bg1">
                <a:lumMod val="7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6" t="14706" r="3399" b="9019"/>
          <a:stretch/>
        </p:blipFill>
        <p:spPr>
          <a:xfrm>
            <a:off x="0" y="13063"/>
            <a:ext cx="12187232" cy="6858000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7524196" y="127458"/>
            <a:ext cx="4563467" cy="219046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4349" y="6253408"/>
            <a:ext cx="441044" cy="41394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16" name="Rectangle 15"/>
          <p:cNvSpPr/>
          <p:nvPr/>
        </p:nvSpPr>
        <p:spPr>
          <a:xfrm>
            <a:off x="11571501" y="6210545"/>
            <a:ext cx="3906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8</a:t>
            </a:r>
            <a:endParaRPr lang="en-US" sz="24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7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3247" y="6524569"/>
            <a:ext cx="3416315" cy="353826"/>
          </a:xfrm>
          <a:prstGeom prst="roundRect">
            <a:avLst>
              <a:gd name="adj" fmla="val 50000"/>
            </a:avLst>
          </a:prstGeom>
          <a:ln>
            <a:solidFill>
              <a:schemeClr val="bg1">
                <a:lumMod val="65000"/>
              </a:schemeClr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5" name="Rectangle 24"/>
          <p:cNvSpPr/>
          <p:nvPr/>
        </p:nvSpPr>
        <p:spPr>
          <a:xfrm>
            <a:off x="4846320" y="6551463"/>
            <a:ext cx="2863241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By-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IT-17035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7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6402" y="193474"/>
            <a:ext cx="1028107" cy="942253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8334" y="254709"/>
            <a:ext cx="734697" cy="68099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838200" y="2292764"/>
            <a:ext cx="476431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Accomplished analysis among six datasets.</a:t>
            </a:r>
          </a:p>
          <a:p>
            <a:pPr algn="just"/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 feature encoding schemes, i.e. One-Hot encoding, IPCP, CKSAAP, and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PseAAC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used to represent protein sequence patterns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Applied CNN classifier to predict protein ubiquitination sites.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10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260" y="4137506"/>
            <a:ext cx="445662" cy="255611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10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167" y="2963603"/>
            <a:ext cx="445662" cy="255611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10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601" y="2375049"/>
            <a:ext cx="445662" cy="255611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7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965" y="268591"/>
            <a:ext cx="4850363" cy="813760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8" name="Rectangle 27"/>
          <p:cNvSpPr/>
          <p:nvPr/>
        </p:nvSpPr>
        <p:spPr>
          <a:xfrm>
            <a:off x="966651" y="375080"/>
            <a:ext cx="404910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Related Works Cont..</a:t>
            </a:r>
            <a:endParaRPr 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7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6463" y="1533170"/>
            <a:ext cx="1874246" cy="549646"/>
          </a:xfrm>
          <a:prstGeom prst="roundRect">
            <a:avLst>
              <a:gd name="adj" fmla="val 1667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0" name="Rectangle 29"/>
          <p:cNvSpPr/>
          <p:nvPr/>
        </p:nvSpPr>
        <p:spPr>
          <a:xfrm>
            <a:off x="1817804" y="1564742"/>
            <a:ext cx="19207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DeepUbi</a:t>
            </a:r>
            <a:r>
              <a:rPr 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[1]</a:t>
            </a:r>
            <a:endParaRPr 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8681583" y="5692326"/>
            <a:ext cx="184730" cy="40703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7975228" y="1647787"/>
            <a:ext cx="3385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7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3268" y="1564742"/>
            <a:ext cx="2395498" cy="549646"/>
          </a:xfrm>
          <a:prstGeom prst="roundRect">
            <a:avLst>
              <a:gd name="adj" fmla="val 1667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4" name="Rectangle 33"/>
          <p:cNvSpPr/>
          <p:nvPr/>
        </p:nvSpPr>
        <p:spPr>
          <a:xfrm>
            <a:off x="7524196" y="1608732"/>
            <a:ext cx="188106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Limitations</a:t>
            </a:r>
            <a:endParaRPr 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6815357" y="2244680"/>
            <a:ext cx="476431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They don’t use any feature selection method.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accuracy is 77.38%, 68.98%, 75.33%, 75.76%, 88.87% and 66.84% for set1-set6 datasets respectively, which is not so good. So there still has room for optimization.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10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9695" y="2339801"/>
            <a:ext cx="445662" cy="255611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10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9695" y="2953960"/>
            <a:ext cx="445662" cy="255611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072316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bg1">
                <a:lumMod val="7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6" t="14706" r="3399" b="9019"/>
          <a:stretch/>
        </p:blipFill>
        <p:spPr>
          <a:xfrm>
            <a:off x="0" y="0"/>
            <a:ext cx="12187232" cy="6858000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7524196" y="127458"/>
            <a:ext cx="4563467" cy="219046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4349" y="6253408"/>
            <a:ext cx="441044" cy="41394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16" name="Rectangle 15"/>
          <p:cNvSpPr/>
          <p:nvPr/>
        </p:nvSpPr>
        <p:spPr>
          <a:xfrm>
            <a:off x="11476790" y="6228131"/>
            <a:ext cx="5161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9</a:t>
            </a:r>
            <a:endParaRPr lang="en-US" sz="24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7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9763" y="216648"/>
            <a:ext cx="3747706" cy="647076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9" name="Rectangle 18"/>
          <p:cNvSpPr/>
          <p:nvPr/>
        </p:nvSpPr>
        <p:spPr>
          <a:xfrm>
            <a:off x="4930887" y="229593"/>
            <a:ext cx="275942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7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3247" y="6524569"/>
            <a:ext cx="3416315" cy="353826"/>
          </a:xfrm>
          <a:prstGeom prst="roundRect">
            <a:avLst>
              <a:gd name="adj" fmla="val 50000"/>
            </a:avLst>
          </a:prstGeom>
          <a:ln>
            <a:solidFill>
              <a:schemeClr val="bg1">
                <a:lumMod val="65000"/>
              </a:schemeClr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5" name="Rectangle 24"/>
          <p:cNvSpPr/>
          <p:nvPr/>
        </p:nvSpPr>
        <p:spPr>
          <a:xfrm>
            <a:off x="4911634" y="6551463"/>
            <a:ext cx="2797928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By-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IT-17035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7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6402" y="193474"/>
            <a:ext cx="1028107" cy="942253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8334" y="254709"/>
            <a:ext cx="734697" cy="68099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600" y="1095902"/>
            <a:ext cx="10286733" cy="5265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893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bg1">
                <a:lumMod val="7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6" t="14706" r="3399" b="9019"/>
          <a:stretch/>
        </p:blipFill>
        <p:spPr>
          <a:xfrm>
            <a:off x="0" y="0"/>
            <a:ext cx="12187232" cy="6858000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7524196" y="127458"/>
            <a:ext cx="4563467" cy="219046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9890" y="6217018"/>
            <a:ext cx="441044" cy="41394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16" name="Rectangle 15"/>
          <p:cNvSpPr/>
          <p:nvPr/>
        </p:nvSpPr>
        <p:spPr>
          <a:xfrm>
            <a:off x="11390811" y="6210545"/>
            <a:ext cx="57129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10</a:t>
            </a:r>
            <a:endParaRPr lang="en-US" sz="24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214674" y="1573973"/>
            <a:ext cx="9938672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First of all we perform eight feature extraction methods, namely AAC, DPC, CKSAAP, PAAC, </a:t>
            </a:r>
            <a:r>
              <a:rPr lang="en-GB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AAIndex</a:t>
            </a:r>
            <a:r>
              <a:rPr lang="en-GB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Word2vec, </a:t>
            </a:r>
            <a:r>
              <a:rPr lang="en-GB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GloVe</a:t>
            </a:r>
            <a:r>
              <a:rPr lang="en-GB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GB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fastText</a:t>
            </a:r>
            <a:r>
              <a:rPr lang="en-GB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to represent the protein sequence patterns..</a:t>
            </a:r>
            <a:endParaRPr lang="en-GB" sz="2000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Secondly,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SHapley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Additive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exPlanations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(SHAP) is employed to remove the redundant and irrelevant features for predicting protein ubiquitination 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sites.</a:t>
            </a:r>
          </a:p>
          <a:p>
            <a:pPr algn="just"/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Thirdly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Adaptive synthetic sampling 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approach (ADASYN) is applied for the imbalanced datasets set4-set6.</a:t>
            </a:r>
          </a:p>
          <a:p>
            <a:pPr algn="just"/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Finally, best features are provided to the different machine learning and deep learning algorithms for identifying protein ubiquitination sites.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7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3522" y="289604"/>
            <a:ext cx="3798119" cy="813760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9" name="Rectangle 18"/>
          <p:cNvSpPr/>
          <p:nvPr/>
        </p:nvSpPr>
        <p:spPr>
          <a:xfrm>
            <a:off x="4415245" y="412487"/>
            <a:ext cx="329431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</a:t>
            </a: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Cont..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9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012" y="1624507"/>
            <a:ext cx="445662" cy="255611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9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546" y="2576937"/>
            <a:ext cx="445662" cy="255611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9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546" y="3489752"/>
            <a:ext cx="445662" cy="255611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9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012" y="4402567"/>
            <a:ext cx="445662" cy="255611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7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3247" y="6524569"/>
            <a:ext cx="3416315" cy="353826"/>
          </a:xfrm>
          <a:prstGeom prst="roundRect">
            <a:avLst>
              <a:gd name="adj" fmla="val 50000"/>
            </a:avLst>
          </a:prstGeom>
          <a:ln>
            <a:solidFill>
              <a:schemeClr val="bg1">
                <a:lumMod val="65000"/>
              </a:schemeClr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5" name="Rectangle 24"/>
          <p:cNvSpPr/>
          <p:nvPr/>
        </p:nvSpPr>
        <p:spPr>
          <a:xfrm>
            <a:off x="4833256" y="6551463"/>
            <a:ext cx="2876305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By-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IT-17035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7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6402" y="193474"/>
            <a:ext cx="1028107" cy="942253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8334" y="254709"/>
            <a:ext cx="734697" cy="680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39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bg1">
                <a:lumMod val="7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6" t="14706" r="3399" b="9019"/>
          <a:stretch/>
        </p:blipFill>
        <p:spPr>
          <a:xfrm>
            <a:off x="-99569" y="-7595"/>
            <a:ext cx="12187232" cy="6904784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7524196" y="127458"/>
            <a:ext cx="4563467" cy="219046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4349" y="6253408"/>
            <a:ext cx="441044" cy="41394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16" name="Rectangle 15"/>
          <p:cNvSpPr/>
          <p:nvPr/>
        </p:nvSpPr>
        <p:spPr>
          <a:xfrm>
            <a:off x="11476790" y="6228131"/>
            <a:ext cx="5161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11</a:t>
            </a:r>
            <a:endParaRPr lang="en-US" sz="24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7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3247" y="6524569"/>
            <a:ext cx="3416315" cy="353826"/>
          </a:xfrm>
          <a:prstGeom prst="roundRect">
            <a:avLst>
              <a:gd name="adj" fmla="val 50000"/>
            </a:avLst>
          </a:prstGeom>
          <a:ln>
            <a:solidFill>
              <a:schemeClr val="bg1">
                <a:lumMod val="65000"/>
              </a:schemeClr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5" name="Rectangle 24"/>
          <p:cNvSpPr/>
          <p:nvPr/>
        </p:nvSpPr>
        <p:spPr>
          <a:xfrm>
            <a:off x="4833390" y="6551463"/>
            <a:ext cx="2876171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By-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IT-17035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7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6402" y="193474"/>
            <a:ext cx="1028107" cy="942253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8334" y="254709"/>
            <a:ext cx="734697" cy="68099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966" y="268591"/>
            <a:ext cx="4020281" cy="629709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3" name="Rectangle 12"/>
          <p:cNvSpPr/>
          <p:nvPr/>
        </p:nvSpPr>
        <p:spPr>
          <a:xfrm>
            <a:off x="612254" y="301449"/>
            <a:ext cx="422113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</a:t>
            </a:r>
            <a:endParaRPr 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427585"/>
              </p:ext>
            </p:extLst>
          </p:nvPr>
        </p:nvGraphicFramePr>
        <p:xfrm>
          <a:off x="485164" y="1372041"/>
          <a:ext cx="10623170" cy="490123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003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4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91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83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36914">
                  <a:extLst>
                    <a:ext uri="{9D8B030D-6E8A-4147-A177-3AD203B41FA5}">
                      <a16:colId xmlns:a16="http://schemas.microsoft.com/office/drawing/2014/main" val="249178276"/>
                    </a:ext>
                  </a:extLst>
                </a:gridCol>
                <a:gridCol w="1350380">
                  <a:extLst>
                    <a:ext uri="{9D8B030D-6E8A-4147-A177-3AD203B41FA5}">
                      <a16:colId xmlns:a16="http://schemas.microsoft.com/office/drawing/2014/main" val="1696102139"/>
                    </a:ext>
                  </a:extLst>
                </a:gridCol>
              </a:tblGrid>
              <a:tr h="48961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Set1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Set2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Set3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Set4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Set5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Set6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38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0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NB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0.5289</a:t>
                      </a:r>
                    </a:p>
                  </a:txBody>
                  <a:tcPr marL="68580" marR="68580" marT="0" marB="0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0.5330</a:t>
                      </a:r>
                    </a:p>
                  </a:txBody>
                  <a:tcPr marL="68580" marR="68580" marT="0" marB="0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0.5141</a:t>
                      </a:r>
                    </a:p>
                  </a:txBody>
                  <a:tcPr marL="68580" marR="68580" marT="0" marB="0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0.6036</a:t>
                      </a:r>
                    </a:p>
                  </a:txBody>
                  <a:tcPr marL="68580" marR="68580" marT="0" marB="0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0.5505</a:t>
                      </a:r>
                    </a:p>
                  </a:txBody>
                  <a:tcPr marL="68580" marR="68580" marT="0" marB="0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0.5134</a:t>
                      </a:r>
                    </a:p>
                  </a:txBody>
                  <a:tcPr marL="68580" marR="68580" marT="0" marB="0"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668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0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EBMC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0.6714</a:t>
                      </a:r>
                    </a:p>
                  </a:txBody>
                  <a:tcPr marL="68580" marR="68580" marT="0" marB="0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0.6467</a:t>
                      </a:r>
                    </a:p>
                  </a:txBody>
                  <a:tcPr marL="68580" marR="68580" marT="0" marB="0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0.6667</a:t>
                      </a:r>
                    </a:p>
                  </a:txBody>
                  <a:tcPr marL="68580" marR="68580" marT="0" marB="0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0.6646</a:t>
                      </a:r>
                    </a:p>
                  </a:txBody>
                  <a:tcPr marL="68580" marR="68580" marT="0" marB="0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0.6373</a:t>
                      </a:r>
                    </a:p>
                  </a:txBody>
                  <a:tcPr marL="68580" marR="68580" marT="0" marB="0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0.6001</a:t>
                      </a:r>
                    </a:p>
                  </a:txBody>
                  <a:tcPr marL="68580" marR="68580" marT="0" marB="0"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0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LR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0.7244</a:t>
                      </a:r>
                    </a:p>
                  </a:txBody>
                  <a:tcPr marL="68580" marR="68580" marT="0" marB="0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0.6410</a:t>
                      </a:r>
                    </a:p>
                  </a:txBody>
                  <a:tcPr marL="68580" marR="68580" marT="0" marB="0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0.6476</a:t>
                      </a:r>
                    </a:p>
                  </a:txBody>
                  <a:tcPr marL="68580" marR="68580" marT="0" marB="0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0.7200</a:t>
                      </a:r>
                    </a:p>
                  </a:txBody>
                  <a:tcPr marL="68580" marR="68580" marT="0" marB="0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0.7235</a:t>
                      </a:r>
                    </a:p>
                  </a:txBody>
                  <a:tcPr marL="68580" marR="68580" marT="0" marB="0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0.5546</a:t>
                      </a:r>
                    </a:p>
                  </a:txBody>
                  <a:tcPr marL="68580" marR="68580" marT="0" marB="0"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1594833"/>
                  </a:ext>
                </a:extLst>
              </a:tr>
              <a:tr h="54838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0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LASSO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0.6933</a:t>
                      </a:r>
                    </a:p>
                  </a:txBody>
                  <a:tcPr marL="68580" marR="68580" marT="0" marB="0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0.6041</a:t>
                      </a:r>
                    </a:p>
                  </a:txBody>
                  <a:tcPr marL="68580" marR="68580" marT="0" marB="0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0.6129</a:t>
                      </a:r>
                    </a:p>
                  </a:txBody>
                  <a:tcPr marL="68580" marR="68580" marT="0" marB="0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0.5000</a:t>
                      </a:r>
                    </a:p>
                  </a:txBody>
                  <a:tcPr marL="68580" marR="68580" marT="0" marB="0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0.5000</a:t>
                      </a:r>
                    </a:p>
                  </a:txBody>
                  <a:tcPr marL="68580" marR="68580" marT="0" marB="0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0.5000</a:t>
                      </a:r>
                    </a:p>
                  </a:txBody>
                  <a:tcPr marL="68580" marR="68580" marT="0" marB="0"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0782208"/>
                  </a:ext>
                </a:extLst>
              </a:tr>
              <a:tr h="54838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0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SVM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0.6597</a:t>
                      </a:r>
                    </a:p>
                  </a:txBody>
                  <a:tcPr marL="68580" marR="68580" marT="0" marB="0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0.6035</a:t>
                      </a:r>
                    </a:p>
                  </a:txBody>
                  <a:tcPr marL="68580" marR="68580" marT="0" marB="0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0.6102</a:t>
                      </a:r>
                    </a:p>
                  </a:txBody>
                  <a:tcPr marL="68580" marR="68580" marT="0" marB="0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0.6670</a:t>
                      </a:r>
                    </a:p>
                  </a:txBody>
                  <a:tcPr marL="68580" marR="68580" marT="0" marB="0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0.6763</a:t>
                      </a:r>
                    </a:p>
                  </a:txBody>
                  <a:tcPr marL="68580" marR="68580" marT="0" marB="0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0.5758</a:t>
                      </a:r>
                    </a:p>
                  </a:txBody>
                  <a:tcPr marL="68580" marR="68580" marT="0" marB="0"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1376700"/>
                  </a:ext>
                </a:extLst>
              </a:tr>
              <a:tr h="54838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0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DeepUbi</a:t>
                      </a:r>
                      <a:endParaRPr lang="en-GB" sz="20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0.7738</a:t>
                      </a:r>
                    </a:p>
                  </a:txBody>
                  <a:tcPr marL="68580" marR="68580" marT="0" marB="0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0.6898</a:t>
                      </a:r>
                    </a:p>
                  </a:txBody>
                  <a:tcPr marL="68580" marR="68580" marT="0" marB="0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0.7533</a:t>
                      </a:r>
                    </a:p>
                  </a:txBody>
                  <a:tcPr marL="68580" marR="68580" marT="0" marB="0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0.7576</a:t>
                      </a:r>
                    </a:p>
                  </a:txBody>
                  <a:tcPr marL="68580" marR="68580" marT="0" marB="0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0.8887</a:t>
                      </a:r>
                    </a:p>
                  </a:txBody>
                  <a:tcPr marL="68580" marR="68580" marT="0" marB="0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0.6684</a:t>
                      </a:r>
                    </a:p>
                  </a:txBody>
                  <a:tcPr marL="68580" marR="68580" marT="0" marB="0"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916881"/>
                  </a:ext>
                </a:extLst>
              </a:tr>
              <a:tr h="54838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0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UbiSite-XGBoost</a:t>
                      </a:r>
                      <a:endParaRPr lang="en-GB" sz="20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0.8258</a:t>
                      </a:r>
                    </a:p>
                  </a:txBody>
                  <a:tcPr marL="68580" marR="68580" marT="0" marB="0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0.7592</a:t>
                      </a:r>
                    </a:p>
                  </a:txBody>
                  <a:tcPr marL="68580" marR="68580" marT="0" marB="0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0.7853</a:t>
                      </a:r>
                    </a:p>
                  </a:txBody>
                  <a:tcPr marL="68580" marR="68580" marT="0" marB="0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0.9777</a:t>
                      </a:r>
                    </a:p>
                  </a:txBody>
                  <a:tcPr marL="68580" marR="68580" marT="0" marB="0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0.9782</a:t>
                      </a:r>
                    </a:p>
                  </a:txBody>
                  <a:tcPr marL="68580" marR="68580" marT="0" marB="0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0.9860</a:t>
                      </a:r>
                    </a:p>
                  </a:txBody>
                  <a:tcPr marL="68580" marR="68580" marT="0" marB="0"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61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000" b="1" dirty="0" err="1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DeepWETUbi</a:t>
                      </a:r>
                      <a:endParaRPr lang="en-GB" sz="20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0.8846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0.7764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0.7881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0.9989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0.9983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0.9995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1369802" y="898300"/>
            <a:ext cx="864761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1: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of AUC values of our proposed method with existing methods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2" y="1463363"/>
            <a:ext cx="1136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1228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bg1">
                <a:lumMod val="7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6" t="14706" r="3399" b="9019"/>
          <a:stretch/>
        </p:blipFill>
        <p:spPr>
          <a:xfrm>
            <a:off x="0" y="0"/>
            <a:ext cx="12187232" cy="6858000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7524196" y="127458"/>
            <a:ext cx="4563467" cy="219046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4349" y="6253408"/>
            <a:ext cx="441044" cy="41394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16" name="Rectangle 15"/>
          <p:cNvSpPr/>
          <p:nvPr/>
        </p:nvSpPr>
        <p:spPr>
          <a:xfrm>
            <a:off x="11476790" y="6228131"/>
            <a:ext cx="5161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</a:t>
            </a:r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</a:t>
            </a:r>
            <a:endParaRPr lang="en-US" sz="24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7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967" y="268591"/>
            <a:ext cx="2268528" cy="813760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9" name="Rectangle 18"/>
          <p:cNvSpPr/>
          <p:nvPr/>
        </p:nvSpPr>
        <p:spPr>
          <a:xfrm>
            <a:off x="419433" y="374562"/>
            <a:ext cx="190690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7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3247" y="6524569"/>
            <a:ext cx="3416315" cy="353826"/>
          </a:xfrm>
          <a:prstGeom prst="roundRect">
            <a:avLst>
              <a:gd name="adj" fmla="val 50000"/>
            </a:avLst>
          </a:prstGeom>
          <a:ln>
            <a:solidFill>
              <a:schemeClr val="bg1">
                <a:lumMod val="65000"/>
              </a:schemeClr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5" name="Rectangle 24"/>
          <p:cNvSpPr/>
          <p:nvPr/>
        </p:nvSpPr>
        <p:spPr>
          <a:xfrm>
            <a:off x="4898570" y="6551463"/>
            <a:ext cx="2810991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By-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IT-17035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7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6402" y="193474"/>
            <a:ext cx="1028107" cy="942253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8334" y="254709"/>
            <a:ext cx="734697" cy="680998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1447942" y="1758175"/>
            <a:ext cx="9641541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identification of 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protein ubiquitination site is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essential 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controlling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substrate 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degradation and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understanding many biological processes. In this study, we have developed a new 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Ubiquitination site predictor, called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DeepWETUbi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 have shown that the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DeepWETUbi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significantly outperforms all other state-of-the-art methods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principle reason for the superior performances of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DeepWETUbi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that our evolutionary based feature representation which provide more useful information to the CNNs-based 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protein Ubiquitination site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 model.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7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225" y="3984859"/>
            <a:ext cx="445662" cy="255611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7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687" y="3127882"/>
            <a:ext cx="445662" cy="255611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7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687" y="1839732"/>
            <a:ext cx="445662" cy="255611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132379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bg1">
                <a:lumMod val="7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6" t="14706" r="3399" b="9019"/>
          <a:stretch/>
        </p:blipFill>
        <p:spPr>
          <a:xfrm>
            <a:off x="0" y="0"/>
            <a:ext cx="12187232" cy="6858000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7524196" y="127458"/>
            <a:ext cx="4563467" cy="219046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4349" y="6253408"/>
            <a:ext cx="441044" cy="41394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16" name="Rectangle 15"/>
          <p:cNvSpPr/>
          <p:nvPr/>
        </p:nvSpPr>
        <p:spPr>
          <a:xfrm>
            <a:off x="11476790" y="6228131"/>
            <a:ext cx="5161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</a:t>
            </a:r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3</a:t>
            </a:r>
            <a:endParaRPr lang="en-US" sz="24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7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967" y="268591"/>
            <a:ext cx="2268528" cy="813760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9" name="Rectangle 18"/>
          <p:cNvSpPr/>
          <p:nvPr/>
        </p:nvSpPr>
        <p:spPr>
          <a:xfrm>
            <a:off x="419433" y="374562"/>
            <a:ext cx="190690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7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3247" y="6524569"/>
            <a:ext cx="3416315" cy="353826"/>
          </a:xfrm>
          <a:prstGeom prst="roundRect">
            <a:avLst>
              <a:gd name="adj" fmla="val 50000"/>
            </a:avLst>
          </a:prstGeom>
          <a:ln>
            <a:solidFill>
              <a:schemeClr val="bg1">
                <a:lumMod val="65000"/>
              </a:schemeClr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5" name="Rectangle 24"/>
          <p:cNvSpPr/>
          <p:nvPr/>
        </p:nvSpPr>
        <p:spPr>
          <a:xfrm>
            <a:off x="4924696" y="6551463"/>
            <a:ext cx="2784865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By-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IT-17035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7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6402" y="193474"/>
            <a:ext cx="1028107" cy="942253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8334" y="254709"/>
            <a:ext cx="734697" cy="680998"/>
          </a:xfrm>
          <a:prstGeom prst="rect">
            <a:avLst/>
          </a:prstGeom>
        </p:spPr>
      </p:pic>
      <p:sp>
        <p:nvSpPr>
          <p:cNvPr id="17" name="Rectangle 16">
            <a:hlinkClick r:id="rId10" action="ppaction://hlinksldjump"/>
          </p:cNvPr>
          <p:cNvSpPr/>
          <p:nvPr/>
        </p:nvSpPr>
        <p:spPr>
          <a:xfrm>
            <a:off x="980191" y="1917813"/>
            <a:ext cx="422118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>
            <a:hlinkClick r:id="rId10" action="ppaction://hlinksldjump"/>
          </p:cNvPr>
          <p:cNvSpPr/>
          <p:nvPr/>
        </p:nvSpPr>
        <p:spPr>
          <a:xfrm>
            <a:off x="993788" y="2710541"/>
            <a:ext cx="422118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>
            <a:hlinkClick r:id="rId11" action="ppaction://hlinksldjump"/>
          </p:cNvPr>
          <p:cNvSpPr/>
          <p:nvPr/>
        </p:nvSpPr>
        <p:spPr>
          <a:xfrm>
            <a:off x="980191" y="3469691"/>
            <a:ext cx="422118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Rectangle 28">
            <a:hlinkClick r:id="rId11" action="ppaction://hlinksldjump"/>
          </p:cNvPr>
          <p:cNvSpPr/>
          <p:nvPr/>
        </p:nvSpPr>
        <p:spPr>
          <a:xfrm>
            <a:off x="993788" y="4263281"/>
            <a:ext cx="422118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ctangle 29">
            <a:hlinkClick r:id="rId11" action="ppaction://hlinksldjump"/>
          </p:cNvPr>
          <p:cNvSpPr/>
          <p:nvPr/>
        </p:nvSpPr>
        <p:spPr>
          <a:xfrm>
            <a:off x="993788" y="5002275"/>
            <a:ext cx="422118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623087" y="1877677"/>
            <a:ext cx="948524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Fu, H., Yang, Y., Wang, X. et al.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DeepUbi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deep learning framework for prediction of ubiquitination sites in proteins. BMC Bioinformatics 20, 86 (2019).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10.1186/s12859-019-2677-9.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623086" y="2690772"/>
            <a:ext cx="941212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Herrmann J,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Lerman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Lerman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A. Ubiquitin and ubiquitin-like proteins in protein regulation.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Circ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Res. 2007;100(9):1276–91.</a:t>
            </a:r>
          </a:p>
        </p:txBody>
      </p:sp>
      <p:sp>
        <p:nvSpPr>
          <p:cNvPr id="4" name="Rectangle 3"/>
          <p:cNvSpPr/>
          <p:nvPr/>
        </p:nvSpPr>
        <p:spPr>
          <a:xfrm>
            <a:off x="1613562" y="3436503"/>
            <a:ext cx="945526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Welchman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R, Gordon C, Mayer RJ. Ubiquitin and ubiquitin-like proteins as multifunctional signals. Nat Rev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Mol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Cell Biol. 2005;6(8):599–609.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613561" y="4224165"/>
            <a:ext cx="942165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Hurley JH,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Sangho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P. Ubiquitin-binding domains.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Biochem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J. 2006; 399(Pt 3):361.</a:t>
            </a:r>
          </a:p>
        </p:txBody>
      </p:sp>
      <p:sp>
        <p:nvSpPr>
          <p:cNvPr id="7" name="Rectangle 6"/>
          <p:cNvSpPr/>
          <p:nvPr/>
        </p:nvSpPr>
        <p:spPr>
          <a:xfrm>
            <a:off x="1623086" y="4985196"/>
            <a:ext cx="934331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Yushuang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Liu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Shuping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 Prediction of protein ubiquitination sites via multi-view features based on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eXtreme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gradient boosting classifier”, Journal of Molecular Graphics and Modelling;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10.1016/j.jmgm.2021.107962.</a:t>
            </a:r>
          </a:p>
        </p:txBody>
      </p:sp>
    </p:spTree>
    <p:extLst>
      <p:ext uri="{BB962C8B-B14F-4D97-AF65-F5344CB8AC3E}">
        <p14:creationId xmlns:p14="http://schemas.microsoft.com/office/powerpoint/2010/main" val="2810624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bg1">
                <a:lumMod val="7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6" t="14706" r="3399" b="9019"/>
          <a:stretch/>
        </p:blipFill>
        <p:spPr>
          <a:xfrm>
            <a:off x="0" y="0"/>
            <a:ext cx="12187232" cy="6858000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7524196" y="127458"/>
            <a:ext cx="4563467" cy="219046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4349" y="6253408"/>
            <a:ext cx="441044" cy="41394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16" name="Rectangle 15"/>
          <p:cNvSpPr/>
          <p:nvPr/>
        </p:nvSpPr>
        <p:spPr>
          <a:xfrm>
            <a:off x="11476790" y="6228131"/>
            <a:ext cx="5161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14</a:t>
            </a:r>
            <a:endParaRPr lang="en-US" sz="24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7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967" y="268591"/>
            <a:ext cx="1125527" cy="813760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9" name="Rectangle 18"/>
          <p:cNvSpPr/>
          <p:nvPr/>
        </p:nvSpPr>
        <p:spPr>
          <a:xfrm>
            <a:off x="419433" y="374562"/>
            <a:ext cx="190690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Q/A</a:t>
            </a:r>
            <a:endParaRPr 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7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3247" y="6524569"/>
            <a:ext cx="3416315" cy="353826"/>
          </a:xfrm>
          <a:prstGeom prst="roundRect">
            <a:avLst>
              <a:gd name="adj" fmla="val 50000"/>
            </a:avLst>
          </a:prstGeom>
          <a:ln>
            <a:solidFill>
              <a:schemeClr val="bg1">
                <a:lumMod val="65000"/>
              </a:schemeClr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5" name="Rectangle 24"/>
          <p:cNvSpPr/>
          <p:nvPr/>
        </p:nvSpPr>
        <p:spPr>
          <a:xfrm>
            <a:off x="4924696" y="6551463"/>
            <a:ext cx="2784865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By-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IT-17035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7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6402" y="193474"/>
            <a:ext cx="1028107" cy="942253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8334" y="254709"/>
            <a:ext cx="734697" cy="68099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0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aturation sat="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6591" y="2954722"/>
            <a:ext cx="900966" cy="81497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2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aturation sat="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9172" y="2934363"/>
            <a:ext cx="2913529" cy="81497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17" name="Rectangle 16"/>
          <p:cNvSpPr/>
          <p:nvPr/>
        </p:nvSpPr>
        <p:spPr>
          <a:xfrm>
            <a:off x="4352721" y="3067953"/>
            <a:ext cx="360793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Any Question            ?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747" y="4562922"/>
            <a:ext cx="4563467" cy="219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900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bg1">
                <a:lumMod val="7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6" t="14706" r="3399" b="9019"/>
          <a:stretch/>
        </p:blipFill>
        <p:spPr>
          <a:xfrm>
            <a:off x="0" y="0"/>
            <a:ext cx="12187232" cy="6858000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7524196" y="127458"/>
            <a:ext cx="4563467" cy="219046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4349" y="6253408"/>
            <a:ext cx="441044" cy="41394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16" name="Rectangle 15"/>
          <p:cNvSpPr/>
          <p:nvPr/>
        </p:nvSpPr>
        <p:spPr>
          <a:xfrm>
            <a:off x="11476790" y="6228131"/>
            <a:ext cx="5161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15</a:t>
            </a:r>
            <a:endParaRPr lang="en-US" sz="24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7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3247" y="6524569"/>
            <a:ext cx="3416315" cy="353826"/>
          </a:xfrm>
          <a:prstGeom prst="roundRect">
            <a:avLst>
              <a:gd name="adj" fmla="val 50000"/>
            </a:avLst>
          </a:prstGeom>
          <a:ln>
            <a:solidFill>
              <a:schemeClr val="bg1">
                <a:lumMod val="65000"/>
              </a:schemeClr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5" name="Rectangle 24"/>
          <p:cNvSpPr/>
          <p:nvPr/>
        </p:nvSpPr>
        <p:spPr>
          <a:xfrm>
            <a:off x="4967314" y="6551463"/>
            <a:ext cx="2742247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By-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IT-17035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7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6402" y="193474"/>
            <a:ext cx="1028107" cy="942253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8334" y="254709"/>
            <a:ext cx="734697" cy="68099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0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aturation sat="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5507" y="2964422"/>
            <a:ext cx="2913529" cy="81497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13" name="Rectangle 12"/>
          <p:cNvSpPr/>
          <p:nvPr/>
        </p:nvSpPr>
        <p:spPr>
          <a:xfrm>
            <a:off x="4967315" y="3110298"/>
            <a:ext cx="214220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Thank You 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7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4307" y="3185708"/>
            <a:ext cx="469458" cy="372400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7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3128" y="3185708"/>
            <a:ext cx="469458" cy="372400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747" y="4562922"/>
            <a:ext cx="4563467" cy="219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734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7245</TotalTime>
  <Words>1141</Words>
  <Application>Microsoft Office PowerPoint</Application>
  <PresentationFormat>Widescreen</PresentationFormat>
  <Paragraphs>217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Vrinda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Sk.Tanzir Mehedi Shawon</dc:creator>
  <cp:keywords>IT-14012 &amp; IT-14019</cp:keywords>
  <cp:lastModifiedBy>Md Faruk Hosen</cp:lastModifiedBy>
  <cp:revision>774</cp:revision>
  <cp:lastPrinted>2019-07-14T19:49:51Z</cp:lastPrinted>
  <dcterms:created xsi:type="dcterms:W3CDTF">2019-06-21T15:26:05Z</dcterms:created>
  <dcterms:modified xsi:type="dcterms:W3CDTF">2022-12-05T14:34:16Z</dcterms:modified>
</cp:coreProperties>
</file>