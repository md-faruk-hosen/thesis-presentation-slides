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8" r:id="rId11"/>
    <p:sldId id="279" r:id="rId12"/>
    <p:sldId id="264" r:id="rId13"/>
    <p:sldId id="265" r:id="rId14"/>
    <p:sldId id="266" r:id="rId15"/>
    <p:sldId id="267" r:id="rId16"/>
    <p:sldId id="280" r:id="rId17"/>
    <p:sldId id="268" r:id="rId18"/>
    <p:sldId id="269" r:id="rId19"/>
    <p:sldId id="270" r:id="rId20"/>
    <p:sldId id="271" r:id="rId21"/>
    <p:sldId id="282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16" autoAdjust="0"/>
  </p:normalViewPr>
  <p:slideViewPr>
    <p:cSldViewPr>
      <p:cViewPr varScale="1">
        <p:scale>
          <a:sx n="61" d="100"/>
          <a:sy n="61" d="100"/>
        </p:scale>
        <p:origin x="-6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3AEF3-ECEA-4961-8A8C-171675538DC9}" type="datetimeFigureOut">
              <a:rPr lang="en-US" smtClean="0"/>
              <a:pPr/>
              <a:t>3/18/2017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C220C-16CC-46BB-9C27-809A973CF4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11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2D7B5-542A-4265-A343-359535BB4251}" type="datetimeFigureOut">
              <a:rPr lang="en-US" smtClean="0"/>
              <a:pPr/>
              <a:t>3/18/2017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AE832-396B-4312-B819-DAF6397CB8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6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AE832-396B-4312-B819-DAF6397CB82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91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AE832-396B-4312-B819-DAF6397CB82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7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AE832-396B-4312-B819-DAF6397CB82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90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6AD68-A2B9-4CBF-A7CC-C5D950C03821}" type="datetime4">
              <a:rPr lang="en-US" smtClean="0"/>
              <a:pPr/>
              <a:t>March 18,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6695-781E-478F-A95E-410E71572244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26E3-AB4E-4ACD-85DD-DC8E30BFF7FC}" type="datetime4">
              <a:rPr lang="en-US" smtClean="0"/>
              <a:pPr/>
              <a:t>March 18, 2017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EF63-DF40-4B54-9868-8C663A43063D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5784-B559-4E8E-9F91-4009CF928312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1589-9E9A-4BDE-8285-16EC50A14BF2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4400-3F27-4CA7-B0A4-9C7869CF52C4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CF32-B222-42FE-873A-769C82229D6E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4861-EE2F-450A-85EF-C200F7B8E9DE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BFDD9-B99F-474A-B4CF-84111F1D2DD7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F679-1CD9-43E2-AEA9-B4947ED0BE8D}" type="datetime4">
              <a:rPr lang="en-US" smtClean="0"/>
              <a:pPr/>
              <a:t>March 18,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80DE1436-97C6-4CE1-81F9-993F0D664B76}" type="datetime4">
              <a:rPr lang="en-US" smtClean="0"/>
              <a:pPr/>
              <a:t>March 18,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tiff"/><Relationship Id="rId5" Type="http://schemas.openxmlformats.org/officeDocument/2006/relationships/image" Target="../media/image33.png"/><Relationship Id="rId4" Type="http://schemas.openxmlformats.org/officeDocument/2006/relationships/image" Target="../media/image32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81000"/>
            <a:ext cx="7315200" cy="762000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Micro porous core photonic crystal fiber for sensing purpose</a:t>
            </a:r>
            <a:b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556962"/>
              </p:ext>
            </p:extLst>
          </p:nvPr>
        </p:nvGraphicFramePr>
        <p:xfrm>
          <a:off x="685800" y="3296920"/>
          <a:ext cx="7010400" cy="1427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895600"/>
                <a:gridCol w="4114800"/>
              </a:tblGrid>
              <a:tr h="50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Supervised by: 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    Presented by: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Kawsar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Ahmed</a:t>
                      </a:r>
                    </a:p>
                    <a:p>
                      <a:pPr algn="l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  Assistant Professor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    1.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Bikash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Kumar Paul  (IT-12019)</a:t>
                      </a:r>
                      <a:b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    2. Md.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Shadidul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Islam (IT-12043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4968895"/>
            <a:ext cx="7924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Department of Information and Communication Technology (ICT)</a:t>
            </a:r>
          </a:p>
          <a:p>
            <a:pPr algn="ctr"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Mawlana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Bhashani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Science and Technology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University</a:t>
            </a:r>
          </a:p>
          <a:p>
            <a:pPr algn="ctr">
              <a:defRPr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Santosh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Tangail-1902</a:t>
            </a:r>
          </a:p>
          <a:p>
            <a:pPr algn="ctr"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Bangladesh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F:\EDUCATION\4-2\Kawsir sir\My Publish Paper\ICECE BUET\ICECE Picture\thum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35314"/>
            <a:ext cx="4343400" cy="171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3581400" y="3352800"/>
            <a:ext cx="0" cy="137160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57200" y="10668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52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838199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377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" y="7620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38200"/>
            <a:ext cx="67056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ja-JP" dirty="0" smtClean="0">
                <a:latin typeface="Times New Roman" pitchFamily="18" charset="0"/>
              </a:rPr>
              <a:t>PCF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Classification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Importance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Applications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Guiding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properties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Proposed 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Analysis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Fabrication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Proposed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Comparison </a:t>
            </a:r>
            <a:r>
              <a:rPr lang="en-US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among prior verses proposed </a:t>
            </a:r>
            <a:r>
              <a:rPr lang="en-US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PCF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Future Works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52400" y="6400800"/>
            <a:ext cx="3429000" cy="304800"/>
          </a:xfrm>
        </p:spPr>
        <p:txBody>
          <a:bodyPr/>
          <a:lstStyle/>
          <a:p>
            <a:fld id="{861C63BA-A32E-44C6-84F9-F7CFAD2E1EE2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6400800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90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199"/>
            <a:ext cx="7772400" cy="76200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077200" y="6462043"/>
            <a:ext cx="914400" cy="365126"/>
          </a:xfrm>
        </p:spPr>
        <p:txBody>
          <a:bodyPr/>
          <a:lstStyle/>
          <a:p>
            <a:pPr algn="r"/>
            <a:fld id="{F38DF745-7D3F-47F4-83A3-874385CFAA69}" type="slidenum">
              <a:rPr lang="en-US" smtClean="0">
                <a:latin typeface="Times New Roman" pitchFamily="18" charset="0"/>
                <a:cs typeface="Times New Roman" pitchFamily="18" charset="0"/>
              </a:rPr>
              <a:pPr algn="r"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" y="9906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47800"/>
            <a:ext cx="83058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design and characterization of photonic crystal fiber for chemical sensing application.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achieve high relative sensitivity.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gain low confinement loss.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ensure broad transmission spectrum covering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E+S+C+L+U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band.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design simple structure with high performance that reduces the complexity of fabrication process.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8CCF5FA7-AAF4-4B07-BB53-240A435B60E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29000" y="6400800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8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000"/>
            <a:ext cx="1334086" cy="381000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47800" y="30480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92D050"/>
                </a:solidFill>
                <a:latin typeface="Times New Roman" pitchFamily="18" charset="0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latin typeface="Times New Roman" pitchFamily="18" charset="0"/>
              </a:rPr>
              <a:t>Major PCF Types</a:t>
            </a:r>
            <a:endParaRPr lang="en-US" sz="28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9906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6764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1" descr="C:\Users\Bikash\Downloads\ICECE Picture\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000" y="1093232"/>
            <a:ext cx="1799629" cy="1905000"/>
          </a:xfrm>
          <a:prstGeom prst="rect">
            <a:avLst/>
          </a:prstGeom>
          <a:noFill/>
        </p:spPr>
      </p:pic>
      <p:pic>
        <p:nvPicPr>
          <p:cNvPr id="11" name="Picture 2" descr="C:\Users\Bikash\Downloads\ICECE Picture\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629" y="2971800"/>
            <a:ext cx="1905000" cy="2016510"/>
          </a:xfrm>
          <a:prstGeom prst="rect">
            <a:avLst/>
          </a:prstGeom>
          <a:noFill/>
        </p:spPr>
      </p:pic>
      <p:cxnSp>
        <p:nvCxnSpPr>
          <p:cNvPr id="12" name="Straight Arrow Connector 11"/>
          <p:cNvCxnSpPr/>
          <p:nvPr/>
        </p:nvCxnSpPr>
        <p:spPr>
          <a:xfrm>
            <a:off x="1371600" y="2055812"/>
            <a:ext cx="2209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>
            <a:off x="1524000" y="2530734"/>
            <a:ext cx="2099441" cy="288666"/>
          </a:xfrm>
          <a:prstGeom prst="bentConnector3">
            <a:avLst>
              <a:gd name="adj1" fmla="val 5414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524000" y="3505200"/>
            <a:ext cx="20574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581400" y="2899304"/>
            <a:ext cx="0" cy="605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447800" y="4006334"/>
            <a:ext cx="2286000" cy="322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05200" y="1868269"/>
            <a:ext cx="117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Solid core</a:t>
            </a:r>
          </a:p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581400" y="2630269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Holey cladding</a:t>
            </a:r>
          </a:p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657600" y="3849469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Hollow core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105400" y="144779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ja-JP" b="1" dirty="0">
                <a:latin typeface="Times New Roman" pitchFamily="18" charset="0"/>
              </a:rPr>
              <a:t> Solid-core PCF</a:t>
            </a:r>
          </a:p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1842478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ja-JP" dirty="0">
                <a:latin typeface="Times New Roman" pitchFamily="18" charset="0"/>
              </a:rPr>
              <a:t>Guide light by TIR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ja-JP" sz="2400" i="1" dirty="0" err="1">
                <a:latin typeface="Times New Roman" pitchFamily="18" charset="0"/>
              </a:rPr>
              <a:t>n</a:t>
            </a:r>
            <a:r>
              <a:rPr lang="en-US" altLang="ja-JP" sz="2400" baseline="-25000" dirty="0" err="1">
                <a:latin typeface="Times New Roman" pitchFamily="18" charset="0"/>
              </a:rPr>
              <a:t>core</a:t>
            </a:r>
            <a:r>
              <a:rPr lang="en-US" altLang="ja-JP" sz="2400" dirty="0">
                <a:latin typeface="Times New Roman" pitchFamily="18" charset="0"/>
              </a:rPr>
              <a:t> &gt; </a:t>
            </a:r>
            <a:r>
              <a:rPr lang="en-US" altLang="ja-JP" sz="2400" i="1" dirty="0" err="1">
                <a:latin typeface="Times New Roman" pitchFamily="18" charset="0"/>
              </a:rPr>
              <a:t>n</a:t>
            </a:r>
            <a:r>
              <a:rPr lang="en-US" altLang="ja-JP" sz="2400" baseline="-25000" dirty="0" err="1">
                <a:latin typeface="Times New Roman" pitchFamily="18" charset="0"/>
              </a:rPr>
              <a:t>cladding</a:t>
            </a:r>
            <a:endParaRPr lang="en-US" altLang="ja-JP" sz="2400" baseline="30000" dirty="0">
              <a:latin typeface="Times New Roman" pitchFamily="18" charset="0"/>
            </a:endParaRP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105400" y="2899304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ja-JP" b="1" dirty="0">
                <a:latin typeface="Times New Roman" pitchFamily="18" charset="0"/>
              </a:rPr>
              <a:t> PBG-Guiding</a:t>
            </a:r>
            <a:r>
              <a:rPr lang="en-US" altLang="ja-JP" b="1" u="sng" dirty="0">
                <a:latin typeface="Times New Roman" pitchFamily="18" charset="0"/>
              </a:rPr>
              <a:t> </a:t>
            </a:r>
            <a:r>
              <a:rPr lang="en-US" altLang="ja-JP" b="1" dirty="0">
                <a:latin typeface="Times New Roman" pitchFamily="18" charset="0"/>
              </a:rPr>
              <a:t>PCF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638800" y="3276600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ja-JP" dirty="0">
                <a:latin typeface="Times New Roman" pitchFamily="18" charset="0"/>
              </a:rPr>
              <a:t>Guide light by PBG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ja-JP" i="1" dirty="0" err="1">
                <a:latin typeface="Times New Roman" pitchFamily="18" charset="0"/>
              </a:rPr>
              <a:t>n</a:t>
            </a:r>
            <a:r>
              <a:rPr lang="en-US" altLang="ja-JP" baseline="-25000" dirty="0" err="1">
                <a:latin typeface="Times New Roman" pitchFamily="18" charset="0"/>
              </a:rPr>
              <a:t>core</a:t>
            </a:r>
            <a:r>
              <a:rPr lang="en-US" altLang="ja-JP" dirty="0">
                <a:latin typeface="Times New Roman" pitchFamily="18" charset="0"/>
              </a:rPr>
              <a:t> &lt; </a:t>
            </a:r>
            <a:r>
              <a:rPr lang="en-US" altLang="ja-JP" i="1" dirty="0" err="1">
                <a:latin typeface="Times New Roman" pitchFamily="18" charset="0"/>
              </a:rPr>
              <a:t>n</a:t>
            </a:r>
            <a:r>
              <a:rPr lang="en-US" altLang="ja-JP" baseline="-25000" dirty="0" err="1">
                <a:latin typeface="Times New Roman" pitchFamily="18" charset="0"/>
              </a:rPr>
              <a:t>cladding</a:t>
            </a:r>
            <a:endParaRPr lang="en-US" altLang="ja-JP" baseline="-25000" dirty="0">
              <a:latin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ja-JP" dirty="0">
              <a:latin typeface="Times New Roman" pitchFamily="18" charset="0"/>
            </a:endParaRPr>
          </a:p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66700" y="5068669"/>
            <a:ext cx="377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Figure 1 : Different types of PCF </a:t>
            </a:r>
          </a:p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733800" y="4724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7" name="Picture 2" descr="F:\EDUCATION\4-2\Kawsir sir\Presentation\Cla - Copy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267200"/>
            <a:ext cx="2046846" cy="202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/>
          <p:cNvCxnSpPr>
            <a:stCxn id="27" idx="3"/>
          </p:cNvCxnSpPr>
          <p:nvPr/>
        </p:nvCxnSpPr>
        <p:spPr>
          <a:xfrm flipV="1">
            <a:off x="5628246" y="5280638"/>
            <a:ext cx="647700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48400" y="51054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Microstructure Fiber </a:t>
            </a:r>
          </a:p>
          <a:p>
            <a:endParaRPr lang="en-US" dirty="0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52BAFEC4-1094-421E-8866-2CA9FCCDE8D1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290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" name="Picture 27" descr="I:\ \Picture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54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228600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7030A0"/>
                </a:solidFill>
                <a:latin typeface="Times New Roman" pitchFamily="18" charset="0"/>
              </a:rPr>
              <a:t>Why PCF?</a:t>
            </a:r>
            <a:endParaRPr lang="en-US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144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13716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1" descr="C:\Users\Bikash\Downloads\ICECE Picture\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468" y="1219200"/>
            <a:ext cx="4147332" cy="4525963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304800" y="57912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Figure 2 :COF and PCF Structure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43400" y="1030069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 COF demerits: 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724400" y="12954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Low index contrast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Narrow design space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43400" y="19050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 PCF merits: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648200" y="2180272"/>
            <a:ext cx="33165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Controlling optical properties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Single material fiber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High index contrast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Wider design space</a:t>
            </a:r>
            <a:endParaRPr lang="en-US" altLang="ja-JP" u="sng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48200" y="42672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267200" y="32766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 Major demerits :</a:t>
            </a:r>
            <a:endParaRPr lang="en-US" b="1" dirty="0"/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572000" y="3581400"/>
            <a:ext cx="457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Confinement losses exist</a:t>
            </a:r>
          </a:p>
          <a:p>
            <a:pPr marL="285750" indent="-285750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Fabrication challenge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Connectivity problem with other waveguides and devices.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Short manufacture length and high price of using PCF as transmission media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3DD6570A-6EF0-4F75-AD57-49307CACFAC4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1400" y="6400800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" name="Picture 19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98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5240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Applications of PCFs</a:t>
            </a:r>
            <a:endParaRPr lang="en-US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144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295400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Index guided PCFs: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66800" y="1757065"/>
            <a:ext cx="6629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High power handling.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Fiber laser multi-wavelength generation.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Super continuum generation applied to optical coherence     tomography and to spectroscopy.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Fiber sensor.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High numerical aperture  and applied OCT for medical imaging.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374546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Hollow Core PCFs: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66800" y="4191000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High power transmission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Gas-based nonlinear optics.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Particle guidance in liquids.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Fiber  in sensing  application.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5558FA01-1D5E-4CD0-B2A2-9E8C22D3824F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60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000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"/>
            <a:ext cx="7239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7030A0"/>
                </a:solidFill>
                <a:latin typeface="Times New Roman" pitchFamily="18" charset="0"/>
              </a:rPr>
              <a:t> Principle of absorption spectroscopy(cont..)</a:t>
            </a:r>
          </a:p>
          <a:p>
            <a:pPr algn="ctr"/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144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219200"/>
            <a:ext cx="746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a optical fiber is used as a absorption cell, then above equation can be written as: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the relative sensitivity coefficient is defined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rgbClr val="FF0000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algn="just">
              <a:buClr>
                <a:srgbClr val="FF0000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Clr>
                <a:srgbClr val="FF0000"/>
              </a:buClr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rgbClr val="FF0000"/>
              </a:buClr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transverse electric and magnetic fields of the mode are respectively introduced by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Ex,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Ey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Hx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Hy</a:t>
            </a:r>
            <a:r>
              <a:rPr lang="en-US" i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793012"/>
              </p:ext>
            </p:extLst>
          </p:nvPr>
        </p:nvGraphicFramePr>
        <p:xfrm>
          <a:off x="3429000" y="1752600"/>
          <a:ext cx="20224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8" name="Equation" r:id="rId3" imgW="1269449" imgH="431613" progId="Equation.3">
                  <p:embed/>
                </p:oleObj>
              </mc:Choice>
              <mc:Fallback>
                <p:oleObj name="Equation" r:id="rId3" imgW="1269449" imgH="431613" progId="Equation.3">
                  <p:embed/>
                  <p:pic>
                    <p:nvPicPr>
                      <p:cNvPr id="0" name="Picture 3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752600"/>
                        <a:ext cx="2022475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704939"/>
              </p:ext>
            </p:extLst>
          </p:nvPr>
        </p:nvGraphicFramePr>
        <p:xfrm>
          <a:off x="2630487" y="3048000"/>
          <a:ext cx="31210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" name="Equation" r:id="rId5" imgW="2273300" imgH="736600" progId="Equation.3">
                  <p:embed/>
                </p:oleObj>
              </mc:Choice>
              <mc:Fallback>
                <p:oleObj name="Equation" r:id="rId5" imgW="2273300" imgH="736600" progId="Equation.3">
                  <p:embed/>
                  <p:pic>
                    <p:nvPicPr>
                      <p:cNvPr id="0" name="Picture 3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487" y="3048000"/>
                        <a:ext cx="3121025" cy="10096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1CAE8548-639C-47A4-8411-EE2C5265353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I:\ \Picture1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13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000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228600"/>
            <a:ext cx="6172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Confinement Loss,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lang="en-US" sz="2800" dirty="0" err="1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1600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144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" y="1182469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Confinement loss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1524000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Due to finite no of air-holes.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signal degradation along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channel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4384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Confinement Loss,</a:t>
            </a:r>
          </a:p>
          <a:p>
            <a:endParaRPr lang="en-US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736154"/>
              </p:ext>
            </p:extLst>
          </p:nvPr>
        </p:nvGraphicFramePr>
        <p:xfrm>
          <a:off x="838200" y="2895600"/>
          <a:ext cx="35052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9" name="Equation" r:id="rId3" imgW="1485900" imgH="279400" progId="Equation.3">
                  <p:embed/>
                </p:oleObj>
              </mc:Choice>
              <mc:Fallback>
                <p:oleObj name="Equation" r:id="rId3" imgW="1485900" imgH="279400" progId="Equation.3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95600"/>
                        <a:ext cx="35052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3029" y="3810000"/>
            <a:ext cx="4876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Here,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eff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= Imaginary part of the effective refractive index.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=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Free space wave number = 2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974098"/>
              </p:ext>
            </p:extLst>
          </p:nvPr>
        </p:nvGraphicFramePr>
        <p:xfrm>
          <a:off x="609600" y="4343400"/>
          <a:ext cx="4572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0" name="Equation" r:id="rId5" imgW="215806" imgH="228501" progId="Equation.3">
                  <p:embed/>
                </p:oleObj>
              </mc:Choice>
              <mc:Fallback>
                <p:oleObj name="Equation" r:id="rId5" imgW="215806" imgH="228501" progId="Equation.3">
                  <p:embed/>
                  <p:pic>
                    <p:nvPicPr>
                      <p:cNvPr id="0" name="Picture 3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43400"/>
                        <a:ext cx="457200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3" descr="C:\Users\Bikash\Downloads\ICECE Picture\8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53265" y="1266470"/>
            <a:ext cx="3962135" cy="2467330"/>
          </a:xfrm>
          <a:prstGeom prst="rect">
            <a:avLst/>
          </a:prstGeom>
          <a:noFill/>
        </p:spPr>
      </p:pic>
      <p:pic>
        <p:nvPicPr>
          <p:cNvPr id="3078" name="Picture 6" descr="C:\Users\Sajid\Desktop\rr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10001"/>
            <a:ext cx="27432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043DA55E-F0D8-4660-9794-D468B389477B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 descr="I:\ \Picture1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4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955226E3-AB4E-4ACD-85DD-DC8E30BFF7F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37981"/>
            <a:ext cx="7467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Numerical Aperture(NA) and Effective Area (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eff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 </a:t>
            </a:r>
            <a:r>
              <a:rPr lang="en-US" sz="1600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1600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8382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600" y="11430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1981200"/>
            <a:ext cx="899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Numerical aperture is the properties of the fiber can be calculated by the following equation,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289544"/>
              </p:ext>
            </p:extLst>
          </p:nvPr>
        </p:nvGraphicFramePr>
        <p:xfrm>
          <a:off x="2454275" y="2514600"/>
          <a:ext cx="3214688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7" name="Equation" r:id="rId4" imgW="1320800" imgH="558800" progId="Equation.3">
                  <p:embed/>
                </p:oleObj>
              </mc:Choice>
              <mc:Fallback>
                <p:oleObj name="Equation" r:id="rId4" imgW="1320800" imgH="558800" progId="Equation.3">
                  <p:embed/>
                  <p:pic>
                    <p:nvPicPr>
                      <p:cNvPr id="0" name="Picture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514600"/>
                        <a:ext cx="3214688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0" y="3810000"/>
            <a:ext cx="9372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effective mode area of the proposed PCF structure can be calculated the             	propagating mode area by given equation,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where, E is the transverse electric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field.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783879"/>
              </p:ext>
            </p:extLst>
          </p:nvPr>
        </p:nvGraphicFramePr>
        <p:xfrm>
          <a:off x="2362200" y="4630738"/>
          <a:ext cx="333851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8" name="Equation" r:id="rId6" imgW="1371600" imgH="584200" progId="Equation.3">
                  <p:embed/>
                </p:oleObj>
              </mc:Choice>
              <mc:Fallback>
                <p:oleObj name="Equation" r:id="rId6" imgW="1371600" imgH="584200" progId="Equation.3">
                  <p:embed/>
                  <p:pic>
                    <p:nvPicPr>
                      <p:cNvPr id="0" name="Picture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30738"/>
                        <a:ext cx="3338513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 descr="I:\ \Picture1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955226E3-AB4E-4ACD-85DD-DC8E30BFF7F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599679" y="6462220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10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" y="16258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Prior PCF Design </a:t>
            </a:r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8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62" name="Picture 2" descr="G:\Bikash ICT\BUET\Bikash\Figs\Fig. 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95400"/>
            <a:ext cx="3581400" cy="305167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209081" y="2029361"/>
            <a:ext cx="4800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Sensitivity - 58.03%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Confinement Loss – 3.71 × 10 10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-11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dB/m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Core Shape - Porous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Cladding Shape - Hybrid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8382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28600" y="4572000"/>
            <a:ext cx="85524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11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Kumar Paul,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Islam,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Sawrab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Chowdhury, Sayed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Ahmed,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"Porous core Photonic Crystal Fiber based chemical sensor."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9th International Conference 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Electrical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 Computer Engineering (ICECE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IEEE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pp. 251-254, 2016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477000"/>
            <a:ext cx="3429000" cy="304800"/>
          </a:xfrm>
        </p:spPr>
        <p:txBody>
          <a:bodyPr/>
          <a:lstStyle/>
          <a:p>
            <a:fld id="{955226E3-AB4E-4ACD-85DD-DC8E30BFF7F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152399"/>
            <a:ext cx="541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Prior PCF Design 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sz="2800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9" name="Picture 8" descr="C:\Users\Sajid\Pictures\Main 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3053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8382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67200" y="2105561"/>
            <a:ext cx="4800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Sensitivity - 63.56%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Confinement Loss – 5.56 × 10 10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-11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dB/m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Core Shape - Porous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Cladding Shape – Hybrid Hexagonal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64820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12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Ahmed,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Islam,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Kumar Paul. "Design and numerical analysis: Effect of core and cladding area on hybrid hexagonal microstructure optical fiber in environment pollution sensing applications."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Karbala International Journal of Modern Science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pp. 1-10, 2017.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(Elsevier Publisher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99679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0"/>
            <a:ext cx="7620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Proposed PCF</a:t>
            </a:r>
            <a: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" name="Picture 3" descr="F:\EDUCATION\4-2\Kawsir sir\Presentation\Sensing and Bio-sensing Research\Final Figure\Tiff\Fig.-1 - Copy.tif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63246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28600" y="6019800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Figure 4:  Schematic of end-faced of proposed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FP-PCF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86200" y="1057870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Folded-Circular Porous shape PCF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91000" y="1371600"/>
            <a:ext cx="4800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Hole to hole distance = Ʌ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Pitch.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and 5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cladding layer  diameter is 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, 4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cladding layer  diameter 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3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layer is denoted by 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No. of  Rings in cladding region : 5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Core-hole diameter and pitch are 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Ʌ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respectively.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52400" y="6477000"/>
            <a:ext cx="3429000" cy="304800"/>
          </a:xfrm>
        </p:spPr>
        <p:txBody>
          <a:bodyPr/>
          <a:lstStyle/>
          <a:p>
            <a:fld id="{D241E5B1-C4A5-4D99-A266-A0A3C8CD8C05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26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76200"/>
            <a:ext cx="5943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Comparatively simple structure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8382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1473875"/>
            <a:ext cx="773992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Comparatively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simple.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has no doping , so reduce the complexity.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contains only 90 air holes in cladding and core holding 19 holes 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would be easy to fabricate.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Both relative sensitivity and confinement loss are significant than prior PCFs.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4A180B50-8D8F-4A7C-9DAE-4D9B2432383B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43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000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76200"/>
            <a:ext cx="7543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Cladding and Core formation depending on </a:t>
            </a:r>
            <a:b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area</a:t>
            </a:r>
            <a:r>
              <a:rPr lang="en-US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10668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" name="Picture 2" descr="F:\EDUCATION\4-2\Kawsir sir\Presentation\Sensing and Bio-sensing Research\Final Figure\Tiff\Fig.-4(a)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2" y="1201344"/>
            <a:ext cx="4487792" cy="356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F:\EDUCATION\4-2\Kawsir sir\Presentation\Sensing and Bio-sensing Research\Final Figure\Tiff\Fig.-5(a)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01343"/>
            <a:ext cx="4157989" cy="367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 flipH="1">
            <a:off x="1219200" y="4724400"/>
            <a:ext cx="232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Relative Sensitivity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0" y="4763869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Relative Sensitivity 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" y="5105400"/>
            <a:ext cx="769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Figure 5: Relative sensitivity versus wavelength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(λ) for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different cladding and core area variation</a:t>
            </a:r>
            <a:r>
              <a:rPr lang="en-US" sz="1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3400" y="5410200"/>
            <a:ext cx="3918434" cy="883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relative sensitivity for </a:t>
            </a:r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optimum PCF structure  is of 65.02% 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at 1.55µm</a:t>
            </a:r>
          </a:p>
        </p:txBody>
      </p:sp>
      <p:cxnSp>
        <p:nvCxnSpPr>
          <p:cNvPr id="19" name="Straight Arrow Connector 18"/>
          <p:cNvCxnSpPr>
            <a:stCxn id="16" idx="0"/>
          </p:cNvCxnSpPr>
          <p:nvPr/>
        </p:nvCxnSpPr>
        <p:spPr>
          <a:xfrm rot="5400000" flipH="1" flipV="1">
            <a:off x="979608" y="3646609"/>
            <a:ext cx="3276600" cy="250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4DF7C1B2-3F9E-445D-874A-48B6AA89FEB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05200" y="6477000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Picture 17" descr="I:\ \Pictur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89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000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76200"/>
            <a:ext cx="76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Confinement Loss observation for different area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of 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cladding and core </a:t>
            </a:r>
            <a:endParaRPr lang="en-US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10668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2" descr="F:\EDUCATION\4-2\Kawsir sir\Presentation\Sensing and Bio-sensing Research\Final Figure\Tiff\Fig.-4(b).tif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92" y="1299369"/>
            <a:ext cx="4160308" cy="312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F:\EDUCATION\4-2\Kawsir sir\Presentation\Sensing and Bio-sensing Research\Final Figure\Tiff\Fig.-5(b).ti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1295400"/>
            <a:ext cx="3987800" cy="308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53567" y="4800600"/>
            <a:ext cx="4070833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Confinement Loss =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.44×10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-7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(dB/m)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Optimum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PCF.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952999" y="4800600"/>
            <a:ext cx="3733801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Confinement Loss Curve for Optimum PCF.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639843" y="4355068"/>
            <a:ext cx="194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Confinement Loss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754643" y="4267200"/>
            <a:ext cx="194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Confinement Loss 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494779" y="2971800"/>
            <a:ext cx="172221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6324600" y="3124200"/>
            <a:ext cx="368300" cy="1676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5638800"/>
            <a:ext cx="76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Figure 6: Confinement loss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versus wavelength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(λ)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for different cladding and core area variation.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77D21ADE-4106-474E-AC42-B2E94843800D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16" descr="I:\ \Pictur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18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955226E3-AB4E-4ACD-85DD-DC8E30BFF7F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3400" y="0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Investigation of  Numerical Aperture (NA) and Effective area (A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eff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en-US" sz="28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986" name="Picture 2" descr="G:\Submitted\Sensing and Bio-sensing Research\Final Figure\Tiff\Fig.-9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200"/>
            <a:ext cx="3997301" cy="2976562"/>
          </a:xfrm>
          <a:prstGeom prst="rect">
            <a:avLst/>
          </a:prstGeom>
          <a:noFill/>
        </p:spPr>
      </p:pic>
      <p:pic>
        <p:nvPicPr>
          <p:cNvPr id="41987" name="Picture 3" descr="G:\Submitted\Sensing and Bio-sensing Research\Final Figure\Tiff\Fig.-1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181100"/>
            <a:ext cx="3962400" cy="2971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4415135"/>
            <a:ext cx="3997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Fig. 7. Effective mode area of propagating mode and nonlinear coefficient of optimized FPPCF.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1" y="4419600"/>
            <a:ext cx="426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Fig. 8. Numerical aperture of optimized FP-PCF over the communication band range</a:t>
            </a:r>
          </a:p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E + S + C + L + U.</a:t>
            </a:r>
          </a:p>
        </p:txBody>
      </p:sp>
      <p:pic>
        <p:nvPicPr>
          <p:cNvPr id="10" name="Picture 9" descr="I:\ \Pictur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457200" y="10668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200" y="152400"/>
            <a:ext cx="548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PCF Fabrication </a:t>
            </a:r>
            <a:r>
              <a:rPr lang="en-US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Technique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144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3716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585699"/>
              </p:ext>
            </p:extLst>
          </p:nvPr>
        </p:nvGraphicFramePr>
        <p:xfrm>
          <a:off x="304800" y="1175085"/>
          <a:ext cx="7924800" cy="476851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62400"/>
                <a:gridCol w="3962400"/>
              </a:tblGrid>
              <a:tr h="7954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Fabrication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Techniques</a:t>
                      </a:r>
                      <a:endParaRPr lang="en-US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Figures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07979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Stack and Draw Technique</a:t>
                      </a:r>
                      <a:r>
                        <a:rPr lang="en-US" sz="1800" dirty="0" smtClean="0"/>
                        <a:t>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800" dirty="0" smtClean="0"/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Selective Filling Technique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Sol-gel Technique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136315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Chemical Vapor Deposition       Technique.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3" descr="C:\Users\samonna\Desktop\index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832" y="2065482"/>
            <a:ext cx="3278768" cy="90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samonna\Desktop\index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048000"/>
            <a:ext cx="3276600" cy="720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samonna\Desktop\Capture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3278769" cy="837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Users\samonna\Desktop\fig3.jp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876800"/>
            <a:ext cx="3278768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3429000" cy="304800"/>
          </a:xfrm>
        </p:spPr>
        <p:txBody>
          <a:bodyPr/>
          <a:lstStyle/>
          <a:p>
            <a:fld id="{368D6896-D222-4421-AA87-C76727D2E213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 descr="I:\ \Picture1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52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467600" y="6248400"/>
            <a:ext cx="1468120" cy="533400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18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36493"/>
            <a:ext cx="7848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Tuning geometric parameter of  the structure for measuring tolerance</a:t>
            </a:r>
            <a:endParaRPr lang="en-US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10668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6764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2" descr="F:\EDUCATION\4-2\Kawsir sir\Presentation\Sensing and Bio-sensing Research\Final Figure\Tiff\Fig.-6(a).tif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4392609" cy="329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F:\EDUCATION\4-2\Kawsir sir\Presentation\Sensing and Bio-sensing Research\Final Figure\Tiff\Fig.-6(b).ti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251685"/>
            <a:ext cx="4122286" cy="309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33400" y="4749225"/>
            <a:ext cx="373380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Relative sensitivity curve for optimum PCF. 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4724400" y="4673025"/>
            <a:ext cx="337620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Confinement los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curve for optimum PCF. </a:t>
            </a:r>
            <a:endParaRPr lang="en-US" sz="1600" dirty="0"/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V="1">
            <a:off x="2400300" y="2362200"/>
            <a:ext cx="419100" cy="23870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6145804" y="3048000"/>
            <a:ext cx="407396" cy="16250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4800" y="5562600"/>
            <a:ext cx="830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Figure 9: Increasing and decreasing diameter and pitch in the core and cladding reason. 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3429000" cy="304800"/>
          </a:xfrm>
        </p:spPr>
        <p:txBody>
          <a:bodyPr/>
          <a:lstStyle/>
          <a:p>
            <a:fld id="{75B7AD96-4DE9-43DF-A685-1B0022BB61AE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 descr="I:\ \Pictur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437879" y="6477000"/>
            <a:ext cx="1315721" cy="365125"/>
          </a:xfrm>
        </p:spPr>
        <p:txBody>
          <a:bodyPr/>
          <a:lstStyle/>
          <a:p>
            <a:fld id="{F38DF745-7D3F-47F4-83A3-874385CFAA6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76200"/>
            <a:ext cx="6934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Comparison among prior verses proposed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8382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38400" y="1015425"/>
            <a:ext cx="5486400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All investigation results obtained at the operating wavelength </a:t>
            </a:r>
            <a:r>
              <a:rPr lang="el-GR" sz="16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λ</a:t>
            </a:r>
            <a:r>
              <a:rPr lang="en-US" sz="16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= </a:t>
            </a:r>
            <a:r>
              <a:rPr lang="en-US" sz="16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1.55 </a:t>
            </a:r>
            <a:r>
              <a:rPr lang="el-GR" sz="16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μ</a:t>
            </a:r>
            <a:r>
              <a:rPr lang="en-US" sz="16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m </a:t>
            </a:r>
            <a:endParaRPr lang="en-US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81868" y="990600"/>
            <a:ext cx="2576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Comparison Results 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72197"/>
              </p:ext>
            </p:extLst>
          </p:nvPr>
        </p:nvGraphicFramePr>
        <p:xfrm>
          <a:off x="76201" y="1524000"/>
          <a:ext cx="8458199" cy="511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362"/>
                <a:gridCol w="1991409"/>
                <a:gridCol w="2223878"/>
                <a:gridCol w="2114550"/>
              </a:tblGrid>
              <a:tr h="8761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Prior PCF 1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Ref [4]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Prior PCF 2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Ref [5]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Prior PCF 3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Ref [6]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Proposed PCF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  <a:tr h="169196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7441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rings  3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rings  3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rings  4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rings  5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  <a:tr h="7441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Sensitivity is 10.56%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Sensitivity is 31.62%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Sensitivity is 40.32%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Sensitivity is 65.02%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  <a:tr h="7441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Conf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Loss = </a:t>
                      </a:r>
                      <a:r>
                        <a:rPr kumimoji="0" lang="en-US" sz="16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1.56×10</a:t>
                      </a:r>
                      <a:r>
                        <a:rPr kumimoji="0" lang="en-US" sz="1600" kern="1200" baseline="30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 </a:t>
                      </a:r>
                      <a:r>
                        <a:rPr kumimoji="0" lang="en-US" sz="1600" kern="12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(dB/m)</a:t>
                      </a:r>
                      <a:endParaRPr lang="en-US" sz="16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Conf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Loss = </a:t>
                      </a:r>
                      <a:r>
                        <a:rPr kumimoji="0" lang="en-US" sz="16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8.75 ×10</a:t>
                      </a:r>
                      <a:r>
                        <a:rPr kumimoji="0" lang="en-US" sz="1600" kern="1200" baseline="30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-9 </a:t>
                      </a:r>
                      <a:r>
                        <a:rPr kumimoji="0" lang="en-US" sz="1600" kern="12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(dB/m)</a:t>
                      </a:r>
                      <a:endParaRPr lang="en-US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Conf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Loss =</a:t>
                      </a:r>
                      <a:r>
                        <a:rPr kumimoji="0" lang="en-US" sz="16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7.55 ×10</a:t>
                      </a:r>
                      <a:r>
                        <a:rPr kumimoji="0" lang="en-US" sz="1600" kern="1200" baseline="30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-7</a:t>
                      </a:r>
                      <a:r>
                        <a:rPr kumimoji="0" lang="en-US" sz="1600" kern="12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(dB/m)</a:t>
                      </a:r>
                      <a:endParaRPr lang="en-US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Conf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 Loss = </a:t>
                      </a:r>
                      <a:r>
                        <a:rPr kumimoji="0" lang="en-US" sz="160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9.47×10</a:t>
                      </a:r>
                      <a:r>
                        <a:rPr kumimoji="0" lang="en-US" sz="1600" kern="1200" baseline="30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-7 </a:t>
                      </a:r>
                      <a:r>
                        <a:rPr kumimoji="0" lang="en-US" sz="1600" kern="12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(dB/m)</a:t>
                      </a:r>
                      <a:endParaRPr lang="en-US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2" descr="I:\ \Agi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1" y="2133600"/>
            <a:ext cx="2039709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Sajid\Downloads\fig.jpg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133600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:\Users\Sajid\Downloads\2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133600"/>
            <a:ext cx="22098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F:\EDUCATION\4-2\Kawsir sir\Presentation\Sensing and Bio-sensing Research\Final Figure\Tiff\Fig.-1.tif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133600"/>
            <a:ext cx="2057399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9A0C7826-2771-40AA-B72B-205E11B30264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16" descr="I:\ \Picture1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50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77000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0"/>
            <a:ext cx="7620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Sensitivity response comparison among recent journal articles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78783" y="4310763"/>
            <a:ext cx="4495800" cy="338554"/>
          </a:xfrm>
          <a:prstGeom prst="rect">
            <a:avLst/>
          </a:prstGeom>
          <a:noFill/>
          <a:ln>
            <a:solidFill>
              <a:schemeClr val="tx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PCF is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6.17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times better than Ref.[4]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8200" y="4309646"/>
            <a:ext cx="4419600" cy="338554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Proposed PCF is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2.08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times better than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Ref.[5]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209800" y="4800600"/>
            <a:ext cx="4495800" cy="338554"/>
          </a:xfrm>
          <a:prstGeom prst="rect">
            <a:avLst/>
          </a:prstGeom>
          <a:noFill/>
          <a:ln>
            <a:solidFill>
              <a:schemeClr val="tx1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PCF is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1.62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times better than Ref.[6]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" y="5128736"/>
            <a:ext cx="891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 .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Ademgil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and S .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Haxha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“Highly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birefringent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nonlinear PCF for optical sensing of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analytes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in aqueous solutions,”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Optik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-International Journal for Light and Electron Optics.127, 6653-6660(2016).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(Elsevier Publisher)</a:t>
            </a:r>
          </a:p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2400" y="5509736"/>
            <a:ext cx="838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5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K. Ahmed, T.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Bhuiyan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T. Farah, Hybrid photonic crystal fiber in chemical sensing,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SpringerPlus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5 (1) (Jun. 2016). 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Spinger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 Publisher)</a:t>
            </a:r>
          </a:p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6200" y="5943600"/>
            <a:ext cx="861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M.F.H.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Arif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K. Ahmed, S.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M.A.K. Azad, Design and optimization of photonic crystal fiber for liquid sensing applications, Photonic Sensors 6 (3) (2016) 279–288.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Spinger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 Publisher)</a:t>
            </a:r>
          </a:p>
          <a:p>
            <a:endParaRPr lang="en-US" dirty="0"/>
          </a:p>
        </p:txBody>
      </p:sp>
      <p:sp>
        <p:nvSpPr>
          <p:cNvPr id="41" name="Date Placeholder 40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27F17E80-C2D0-42D9-9EA3-00F637F9F2B6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C:\Users\Sajid\Pictures\Picture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317" y="1231106"/>
            <a:ext cx="3695700" cy="295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 flipV="1">
            <a:off x="4914900" y="3657600"/>
            <a:ext cx="723900" cy="1143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5638800" y="3276600"/>
            <a:ext cx="0" cy="1524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3810000" y="3602623"/>
            <a:ext cx="2500394" cy="707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5791200" y="3048000"/>
            <a:ext cx="519193" cy="12616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2895600" y="3793682"/>
            <a:ext cx="152400" cy="51708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3048000" y="2895600"/>
            <a:ext cx="2362200" cy="14140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87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37" grpId="0"/>
      <p:bldP spid="38" grpId="0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3429000" cy="304800"/>
          </a:xfrm>
        </p:spPr>
        <p:txBody>
          <a:bodyPr/>
          <a:lstStyle/>
          <a:p>
            <a:fld id="{955226E3-AB4E-4ACD-85DD-DC8E30BFF7FC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38100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Achivements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4800" y="1219200"/>
            <a:ext cx="8382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Kumar Paul,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Islam,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Sawrab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Chowdhury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Sayed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Ahmed "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Porous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core Photonic Crystal Fiber based chemical sensor." 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Electrical and Computer Engineering (ICECE) 9th International Conference 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IEEE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pp. 251-254, 2016.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Ahmed,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Islam, and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Kumar Paul. "Design and numerical analysis: Effect of core and cladding area on hybrid hexagonal microstructure optical fiber in environment pollution sensing applications." 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Karbala International Journal of Modern Science </a:t>
            </a: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(Elsevier Publisher)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, pp. 1-9,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2017.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3. 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Kumar Paul,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Ahmed,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Sayed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Islam. "Folded cladding porous shaped photonic crystal fiber with high sensitivity in optical sensing applications: Design and analysis." 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Sensing and Bio-Sensing Research </a:t>
            </a: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(Elsevier Publisher)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vol.12, pp.36-42, 2017.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4. 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Kumar Paul, Md.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Islam,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Ahmed, Sayed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"Alcohol Sensing over O+E+S+C+L+U Transmission Band based on Porous Cored Octagonal Photonic Crystal Fiber." 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Photonic sensor (</a:t>
            </a: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Springer Publisher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vol. 7, no. 2,  pp. 1-10, 2017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9906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0"/>
            <a:ext cx="7010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Future works</a:t>
            </a:r>
            <a:r>
              <a:rPr lang="en-US" sz="20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7620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676400"/>
            <a:ext cx="7467600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rigorous investigation is done using commercial FEM based simulation tolls COMSOL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Multiphysics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It will fabricate the Proposed PCFs  practically for applying commercial applications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future we have a plan to work on Bio sensing using PCF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Try to design more simple PCF 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Try to increase more sensitivity and reduce more Confinement Loss.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6200" y="6400800"/>
            <a:ext cx="3429000" cy="304800"/>
          </a:xfrm>
        </p:spPr>
        <p:txBody>
          <a:bodyPr/>
          <a:lstStyle/>
          <a:p>
            <a:fld id="{0A9EF7BD-EC1D-485F-BDD8-6888DFBCBEF8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81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228600"/>
            <a:ext cx="5943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Conclusion</a:t>
            </a:r>
            <a:r>
              <a:rPr lang="en-US" sz="20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144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0" y="1828800"/>
            <a:ext cx="777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Proposed PCF provides superior performance than prior     PCF.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gains the sensitivity response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65.18%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low confinement loss 9.44 × 10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-07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at 1.55 µm wavelength.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circular type air holes there is no fabrication complexity.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3429000" cy="304800"/>
          </a:xfrm>
        </p:spPr>
        <p:txBody>
          <a:bodyPr/>
          <a:lstStyle/>
          <a:p>
            <a:fld id="{3AE819F2-8F8E-4DB2-957D-66EB0BCFBF55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39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887373"/>
            <a:ext cx="90678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Ademgil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Haxha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"Endlessly single mode photonic crystal fiber with improved effective mode area,"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Optics Communications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285, no. 6, pp. 1514–1518, Mar. 2012.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Morshed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M. Imran Hassan, T. K. Roy, M. 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Uddin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S. M.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Abdur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Razzak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"Microstructure core photonic crystal fiber for gas sensing applications,"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Applied Optics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54, no. 29, p. 8637, Oct. 2015.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Ademgil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"Highly sensitive octagonal photonic crystal fiber based sensor,"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Optik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- International Journal for Light and Electron Optics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125, no. 20, pp. 6274–6278, Oct. 2014.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Ademgil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Haxha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"Highly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birefringent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nonlinear PCF for optical sensing of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analytes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in aqueous solutions,"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Optik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- International Journal for Light and Electron Optics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127, no. 16, pp. 6653–6660, Aug. 2016.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K. Ahmed, T.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Bhuiyan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T. Farah, "Hybrid photonic crystal fiber in chemical sensing,"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SpringerPlus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5, no. 1, Jun. 2016.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M. F. 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Arif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K. Ahmed, 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M. A. K. Azad, "Design and optimization of photonic crystal fiber for liquid sensing applications,"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Photonic Sensors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6, no. 3, pp. 279–288, Jun. 2016.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Reena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T. 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Saini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A. Kumar, Y.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Kalra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R. K.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Sinha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"Rectangular-core large-mode-area photonic crystal fiber for high power applications: Design and analysis,"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Applied Optics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55, no. 15, p. 4095, May 2016.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O. A. Schmidt, M. K.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Garbos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T. G.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Euser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P. S. J. Russell, "Metrology of laser-guided particles in air-filled hollow-core photonic crystal fiber,"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Optics Letters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37, no. 1, p. 91, Dec. 2011.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A. M. R. Pinto and M. Lopez-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Amo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"Photonic crystal fibers for sensing applications,"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Journal of Sensors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2012, pp. 1–21, 2012.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P. S. J. Russell, "Photonic-Crystal fibers,"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Journal of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Lightwave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Technology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24, no. 12, pp. 4729–4749, Dec. 2006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Paul,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Kumar,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Islam,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Sawrab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Chowdhury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Sayed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Asaduzzaman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Ahmed "Porous core Photonic Crystal Fiber based chemical sensor." 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Electrical and Computer Engineering (ICECE), 2016 9th International Conference on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IEEE, 2016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Ahmed,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Md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Islam, and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Kumar Paul. "Design and numerical analysis: Effect of core and cladding area on hybrid hexagonal microstructure optical fiber in environment pollution sensing applications." 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Karbala International Journal of Modern Science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 (2017).</a:t>
            </a: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1200" y="0"/>
            <a:ext cx="4495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 (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…)</a:t>
            </a:r>
            <a:r>
              <a:rPr lang="en-US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FFFF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6858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3429000" cy="304800"/>
          </a:xfrm>
        </p:spPr>
        <p:txBody>
          <a:bodyPr/>
          <a:lstStyle/>
          <a:p>
            <a:fld id="{7D96DB17-ABFC-4C71-8FCB-99082FE09534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1061634" cy="88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92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599" y="914400"/>
            <a:ext cx="874712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Y. Wang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"Optical switch based on a fluid-filled photonic crystal fiber Bragg grating,"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Optics Letters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34, no. 23, p. 3683, Nov.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2009.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Yu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"Some features of the photonic crystal fiber temperature sensor with liquid ethanol filling,"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Optics Express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18, no. 15, p. 15383, Jul.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2010.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A.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Rifat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"Surface Plasmon resonance Photonic crystal fiber Biosensor: A practical sensing approach,"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IEEE Photonics Technology Letters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27, no. 15, pp. 1628–1631, Aug.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2015.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Sharma and P.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Sharan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"Design of Photonic crystal-based Biosensor for detection of glucose concentration in urine,"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IEEE Sensors Journal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15, no. 2, pp. 1035–1042, Feb.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2015.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V.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Doronina-Amitonova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"Photonic-crystal-fiber platform for multicolor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multilabel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neurophotonic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studies,"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Applied Physics Letters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98, no. 25, p. 253706,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2011.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.-H. Lin, C.-Y. Yang, J.-H.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Liou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C.-P. Yu, and G.-R. Lin, "Using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graphene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-particle embedded in photonic crystal fiber for evanescent wave mode-locking of fiber laser,"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Optics Express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21, no. 14, p. 16763, Jul.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2013.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Li, P. Liu, Z.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Z. Zhang, "Design of a pentagonal photonic crystal fiber with high birefringence and large flattened negative dispersion,"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Applied Optics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54, no. 24, p. 7350, Aug.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2015.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M. A. RAZZAK, Y. NAMIHIRA, F. BEGUM, S. KAIJAGE, N. H. HAI, and N. ZOU, "Design of a Decagonal Photonic crystal fiber for ultra-flattened chromatic dispersion,"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IEICE Transactions on Electronics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E90-C, no. 11, pp. 2141–2145, Nov.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2007.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Agrawal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N.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Kejalakshmy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J. Chen, B. M. A.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Rahman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and K. T. V. Grattan, "Golden spiral photonic crystal fiber: Polarization and dispersion properties,"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Optics Letters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vol. 33, no. 22, p. 2716, Nov. 2008.</a:t>
            </a:r>
          </a:p>
          <a:p>
            <a:pPr marL="342900" lvl="0" indent="-342900" algn="just">
              <a:buFont typeface="+mj-lt"/>
              <a:buAutoNum type="arabicPeriod" startAt="11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Ademgil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"Highly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birefringent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large mode area photonic crystal fiber-based sensor for interferometry applications,"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Modern Physics Letters B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30, no. 36, p. 1650422, Dec. 2016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Bikash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Kumar PAUL, Md.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Shadidul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ISLAM,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AHMED,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Sayed ASADUZZAMAN, Alcohol Sensing over O+E+S+C+L+U Transmission Band based on Porous Cored Octagonal Photonic Crystal Fiber." 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Photonic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sensor,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pp. 1-10, 2017.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762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2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762000"/>
            <a:ext cx="7467600" cy="0"/>
          </a:xfrm>
          <a:prstGeom prst="line">
            <a:avLst/>
          </a:prstGeom>
          <a:ln w="57150"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3429000" cy="304800"/>
          </a:xfrm>
        </p:spPr>
        <p:txBody>
          <a:bodyPr/>
          <a:lstStyle/>
          <a:p>
            <a:fld id="{282B8D83-D5E0-4CE2-8758-BD50421AC89A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106163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3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620000" y="6416675"/>
            <a:ext cx="1315721" cy="365125"/>
          </a:xfrm>
        </p:spPr>
        <p:txBody>
          <a:bodyPr/>
          <a:lstStyle/>
          <a:p>
            <a:pPr algn="r"/>
            <a:fld id="{F38DF745-7D3F-47F4-83A3-874385CFAA69}" type="slidenum">
              <a:rPr lang="en-US" smtClean="0"/>
              <a:pPr algn="r"/>
              <a:t>26</a:t>
            </a:fld>
            <a:endParaRPr lang="en-US" dirty="0"/>
          </a:p>
        </p:txBody>
      </p:sp>
      <p:pic>
        <p:nvPicPr>
          <p:cNvPr id="4" name="Picture 2" descr="G:\ \ICECE Picture\aphotoniccr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914400"/>
            <a:ext cx="5058417" cy="3505200"/>
          </a:xfrm>
          <a:prstGeom prst="rect">
            <a:avLst/>
          </a:prstGeom>
          <a:noFill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9" y="1295400"/>
            <a:ext cx="2513231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" y="1752600"/>
            <a:ext cx="198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Any Question ??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609599" y="3886200"/>
            <a:ext cx="8229601" cy="83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3200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4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Thanks to all </a:t>
            </a:r>
            <a:endParaRPr lang="en-US" sz="4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3429000" cy="304800"/>
          </a:xfrm>
        </p:spPr>
        <p:txBody>
          <a:bodyPr/>
          <a:lstStyle/>
          <a:p>
            <a:fld id="{62EDCD8B-85BB-4D89-BDE9-12398EAE903B}" type="datetime4">
              <a:rPr lang="en-US" sz="16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March 18, 2017</a:t>
            </a:fld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200" y="6443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IT-12019 IT-12043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:\ \Pictur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871" y="0"/>
            <a:ext cx="1223963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51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713</TotalTime>
  <Words>2416</Words>
  <Application>Microsoft Office PowerPoint</Application>
  <PresentationFormat>On-screen Show (4:3)</PresentationFormat>
  <Paragraphs>303</Paragraphs>
  <Slides>26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Essential</vt:lpstr>
      <vt:lpstr>Equation</vt:lpstr>
      <vt:lpstr>Micro porous core photonic crystal fiber for sensing purpose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Sajid</dc:creator>
  <cp:lastModifiedBy>Sajid</cp:lastModifiedBy>
  <cp:revision>176</cp:revision>
  <dcterms:created xsi:type="dcterms:W3CDTF">2017-02-25T12:14:24Z</dcterms:created>
  <dcterms:modified xsi:type="dcterms:W3CDTF">2017-03-18T19:01:57Z</dcterms:modified>
</cp:coreProperties>
</file>