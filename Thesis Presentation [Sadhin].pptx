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3"/>
  </p:notesMasterIdLst>
  <p:sldIdLst>
    <p:sldId id="256" r:id="rId2"/>
    <p:sldId id="257" r:id="rId3"/>
    <p:sldId id="265" r:id="rId4"/>
    <p:sldId id="264" r:id="rId5"/>
    <p:sldId id="261" r:id="rId6"/>
    <p:sldId id="267" r:id="rId7"/>
    <p:sldId id="260" r:id="rId8"/>
    <p:sldId id="262" r:id="rId9"/>
    <p:sldId id="266" r:id="rId10"/>
    <p:sldId id="263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DC546-131D-4B20-89D1-72B3457E682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65A7D-FE15-4891-B3DE-D9706E39B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4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65A7D-FE15-4891-B3DE-D9706E39B5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46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65A7D-FE15-4891-B3DE-D9706E39B5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6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46545-97F6-457A-8F9C-FBD4E7F2BF88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Mawlana Bhashani Science and Technology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19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9E16F-66F7-43CC-9982-1A438B4F9E52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Mawlana Bhashani Science and Technology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1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1E52-ADD6-43E6-BD6F-EB1CD261F5CD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Mawlana Bhashani Science and Technology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924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C2F2-A6CC-4635-8E3E-CAF720F1FCEF}" type="datetime1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Mawlana Bhashani Science and Technology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1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1CD1B-9FA9-4F70-8DD8-8FEF2E2CAFD8}" type="datetime1">
              <a:rPr lang="en-US" smtClean="0"/>
              <a:t>4/11/2022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Mawlana Bhashani Science and Technology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0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26495-2ECB-48C4-BE0D-44004DB63AEE}" type="datetime1">
              <a:rPr lang="en-US" smtClean="0"/>
              <a:t>4/11/2022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Mawlana Bhashani Science and Technology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C83B-F725-45E8-BEF1-2F7E0C7DF28C}" type="datetime1">
              <a:rPr lang="en-US" smtClean="0"/>
              <a:t>4/11/2022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Mawlana Bhashani Science and Technology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1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4519E93-A9A3-437C-A802-7CE2944F62D1}" type="datetime1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Mawlana Bhashani Science and Technology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94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5B44-10CB-48B2-8746-75AA29757AAC}" type="datetime1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Mawlana Bhashani Science and Technology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1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D4ACC-2C16-469E-8F44-572A8C81A041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Mawlana Bhashani Science and Technology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8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0068-ED9F-4DCF-9330-B675713AB952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Mawlana Bhashani Science and Technology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0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8242F8-6F50-459D-8ABA-6896C9390DEC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Mawlana Bhashani Science and Technology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A6CD95B-2C7A-4135-B53E-2CADAA92389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65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DD90-117E-48D7-9AA8-285DE1112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75740"/>
            <a:ext cx="10058400" cy="26532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  <a:latin typeface="Algerian" panose="04020705040A02060702" pitchFamily="82" charset="0"/>
                <a:ea typeface="Verdana" panose="020B0604030504040204" pitchFamily="34" charset="0"/>
                <a:cs typeface="Times New Roman" panose="02020603050405020304" pitchFamily="18" charset="0"/>
              </a:rPr>
              <a:t>Identification of drug and protein-protein interaction among stress and depression: </a:t>
            </a:r>
            <a:br>
              <a:rPr lang="en-US" sz="4000" dirty="0">
                <a:solidFill>
                  <a:srgbClr val="002060"/>
                </a:solidFill>
                <a:latin typeface="Algerian" panose="04020705040A02060702" pitchFamily="82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rgbClr val="002060"/>
                </a:solidFill>
                <a:latin typeface="Algerian" panose="04020705040A02060702" pitchFamily="82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002060"/>
                </a:solidFill>
                <a:latin typeface="Algerian" panose="04020705040A02060702" pitchFamily="82" charset="0"/>
                <a:ea typeface="Verdana" panose="020B0604030504040204" pitchFamily="34" charset="0"/>
                <a:cs typeface="Times New Roman" panose="02020603050405020304" pitchFamily="18" charset="0"/>
              </a:rPr>
              <a:t>A bioinformatics approach</a:t>
            </a:r>
            <a:endParaRPr lang="en-US" sz="4000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3495E-234C-4BB8-BA34-DC97E43114C9}"/>
              </a:ext>
            </a:extLst>
          </p:cNvPr>
          <p:cNvSpPr txBox="1"/>
          <p:nvPr/>
        </p:nvSpPr>
        <p:spPr>
          <a:xfrm>
            <a:off x="7441004" y="4450009"/>
            <a:ext cx="37146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Bikash Kumar Paul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ICT, MBSTU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189F4-4A12-40DD-BCA2-E73F3BE64E53}"/>
              </a:ext>
            </a:extLst>
          </p:cNvPr>
          <p:cNvSpPr txBox="1"/>
          <p:nvPr/>
        </p:nvSpPr>
        <p:spPr>
          <a:xfrm>
            <a:off x="1307029" y="4450009"/>
            <a:ext cx="37146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Abul Basar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IT-17026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Session: 2016-17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ICT, MBSTU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CE2A1E0-2830-481E-A647-52F942000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74329" y="6448428"/>
            <a:ext cx="1765841" cy="365125"/>
          </a:xfrm>
        </p:spPr>
        <p:txBody>
          <a:bodyPr/>
          <a:lstStyle/>
          <a:p>
            <a:fld id="{7FF633BC-1EC8-4638-9667-56E286B06DCF}" type="datetime1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4/11/2022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17943BC-652F-40FC-B626-12196816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598" y="6459783"/>
            <a:ext cx="4725763" cy="365125"/>
          </a:xfrm>
        </p:spPr>
        <p:txBody>
          <a:bodyPr/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B7D5FB-5921-4FAE-A6E8-5F8989BF9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50" y="19023"/>
            <a:ext cx="892546" cy="867241"/>
          </a:xfrm>
          <a:prstGeom prst="rect">
            <a:avLst/>
          </a:prstGeom>
        </p:spPr>
      </p:pic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BFFF2B4D-EE3F-4D16-A5E6-221F369BF55A}"/>
              </a:ext>
            </a:extLst>
          </p:cNvPr>
          <p:cNvSpPr txBox="1">
            <a:spLocks/>
          </p:cNvSpPr>
          <p:nvPr/>
        </p:nvSpPr>
        <p:spPr>
          <a:xfrm>
            <a:off x="-821978" y="6437545"/>
            <a:ext cx="38385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174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6324-5BC2-4510-B022-66ED79F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44338"/>
            <a:ext cx="10058400" cy="9982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Contents</a:t>
            </a:r>
            <a:endParaRPr lang="en-US" sz="5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895A2-9DBA-4329-9361-025790083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101" y="2581696"/>
            <a:ext cx="5712829" cy="30337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Motivation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Previous Work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1271F-7AA7-42B5-9515-37AA6974C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50" y="19023"/>
            <a:ext cx="892546" cy="867241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7C888DC-FA17-44AF-A68E-AA3580DF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598" y="6459783"/>
            <a:ext cx="4725763" cy="365125"/>
          </a:xfrm>
        </p:spPr>
        <p:txBody>
          <a:bodyPr/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4" descr="Gui, content Free Icon - Icon-Icons.com">
            <a:extLst>
              <a:ext uri="{FF2B5EF4-FFF2-40B4-BE49-F238E27FC236}">
                <a16:creationId xmlns:a16="http://schemas.microsoft.com/office/drawing/2014/main" id="{4DCE32CA-C851-4D35-97C9-C195BBD9C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275" y="2385610"/>
            <a:ext cx="3024405" cy="302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2DE57B-578B-4BD4-8D39-FE5B4098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437B83F-4928-4478-86F5-D489DD15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34AD-73D3-4C2B-8790-89D05003123E}" type="datetime1">
              <a:rPr lang="en-US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4/11/2022</a:t>
            </a:fld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401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6324-5BC2-4510-B022-66ED79F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337625"/>
            <a:ext cx="10058400" cy="9982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Motivation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1271F-7AA7-42B5-9515-37AA6974C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50" y="19023"/>
            <a:ext cx="892546" cy="867241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7C888DC-FA17-44AF-A68E-AA3580DF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598" y="6459783"/>
            <a:ext cx="4725763" cy="365125"/>
          </a:xfrm>
        </p:spPr>
        <p:txBody>
          <a:bodyPr/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2DE57B-578B-4BD4-8D39-FE5B4098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437B83F-4928-4478-86F5-D489DD15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34AD-73D3-4C2B-8790-89D05003123E}" type="datetime1">
              <a:rPr lang="en-US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4/11/2022</a:t>
            </a:fld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36DF154-F04C-4378-915F-F7E61F1BE07E}"/>
              </a:ext>
            </a:extLst>
          </p:cNvPr>
          <p:cNvSpPr txBox="1">
            <a:spLocks/>
          </p:cNvSpPr>
          <p:nvPr/>
        </p:nvSpPr>
        <p:spPr>
          <a:xfrm>
            <a:off x="844059" y="2472733"/>
            <a:ext cx="7498081" cy="306389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Nowadays, people are suffering from different kinds of psychological disorders such as anxiety disorder, depression, bipolar disorder, panic disorder, stress, schizophrenia etc.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4.4 % of the world's population suffers from depression, which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affects 350 million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globally [1].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Women (5.1%) are more likely than males to suffer from depression (3.6%) [2].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Depression may lead to suicide at its worst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 it's important to diagnose and treat the disorder as early as possible. </a:t>
            </a:r>
          </a:p>
        </p:txBody>
      </p:sp>
      <p:pic>
        <p:nvPicPr>
          <p:cNvPr id="8196" name="Picture 4" descr="Social Service Background png download - 1054*1462 - Free Transparent  Motivation png Download. - CleanPNG / KissPNG">
            <a:extLst>
              <a:ext uri="{FF2B5EF4-FFF2-40B4-BE49-F238E27FC236}">
                <a16:creationId xmlns:a16="http://schemas.microsoft.com/office/drawing/2014/main" id="{F2BAE779-EF40-4AE2-BA6B-AEB55849F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449" y="2590202"/>
            <a:ext cx="1611732" cy="236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31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6324-5BC2-4510-B022-66ED79F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337625"/>
            <a:ext cx="10058400" cy="9982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Problem Statement</a:t>
            </a:r>
            <a:endParaRPr lang="en-US" sz="5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1271F-7AA7-42B5-9515-37AA6974C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50" y="19023"/>
            <a:ext cx="892546" cy="867241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7C888DC-FA17-44AF-A68E-AA3580DF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598" y="6459783"/>
            <a:ext cx="4725763" cy="365125"/>
          </a:xfrm>
        </p:spPr>
        <p:txBody>
          <a:bodyPr/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2DE57B-578B-4BD4-8D39-FE5B4098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437B83F-4928-4478-86F5-D489DD15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34AD-73D3-4C2B-8790-89D05003123E}" type="datetime1">
              <a:rPr lang="en-US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4/11/2022</a:t>
            </a:fld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36DF154-F04C-4378-915F-F7E61F1BE07E}"/>
              </a:ext>
            </a:extLst>
          </p:cNvPr>
          <p:cNvSpPr txBox="1">
            <a:spLocks/>
          </p:cNvSpPr>
          <p:nvPr/>
        </p:nvSpPr>
        <p:spPr>
          <a:xfrm>
            <a:off x="844059" y="2486800"/>
            <a:ext cx="7498081" cy="306389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is one of the most fatal disorders which affect huge number of people in worldwide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American Stress Institute says that, in worldwide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33%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persons report experiencing significant stress [3].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Depressed feelings were expressed by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51% of stressed individuals,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while anxiety was recorded by 61% [4].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injury caused of stress and depression is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examined significantly in any kind of research so far.</a:t>
            </a:r>
          </a:p>
        </p:txBody>
      </p:sp>
      <p:pic>
        <p:nvPicPr>
          <p:cNvPr id="3076" name="Picture 4" descr="Problem Statement Vector Icon Isolated on Transparent Background, Problem  Statement Logo Design Stock Illustration - Illustration of transparency,  person: 118977172">
            <a:extLst>
              <a:ext uri="{FF2B5EF4-FFF2-40B4-BE49-F238E27FC236}">
                <a16:creationId xmlns:a16="http://schemas.microsoft.com/office/drawing/2014/main" id="{43D03BD1-3C25-4376-A25C-B845F14FC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3755">
            <a:off x="9000450" y="2629468"/>
            <a:ext cx="2549433" cy="254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9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6324-5BC2-4510-B022-66ED79F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337625"/>
            <a:ext cx="10058400" cy="998216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Previous Work</a:t>
            </a:r>
            <a:endParaRPr lang="en-US" sz="5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1271F-7AA7-42B5-9515-37AA6974C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50" y="19023"/>
            <a:ext cx="892546" cy="867241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7C888DC-FA17-44AF-A68E-AA3580DF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598" y="6459783"/>
            <a:ext cx="4725763" cy="365125"/>
          </a:xfrm>
        </p:spPr>
        <p:txBody>
          <a:bodyPr/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2DE57B-578B-4BD4-8D39-FE5B4098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437B83F-4928-4478-86F5-D489DD15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34AD-73D3-4C2B-8790-89D05003123E}" type="datetime1">
              <a:rPr lang="en-US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4/12/2022</a:t>
            </a:fld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83BC3-DEF3-4B9F-B21C-CED77032B8B6}"/>
              </a:ext>
            </a:extLst>
          </p:cNvPr>
          <p:cNvSpPr txBox="1"/>
          <p:nvPr/>
        </p:nvSpPr>
        <p:spPr>
          <a:xfrm>
            <a:off x="1463039" y="2058749"/>
            <a:ext cx="969264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common gene regulatory network pathway among bipolar disorder using  R.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Aimed to investigate the relationships between genetic variants in four diseases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Constructed a cross talking sub pathway via mapping inter-genes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common pathway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PPI network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random network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in RStudio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B5F009-A5F6-45C1-B69C-B596FB0D2C25}"/>
              </a:ext>
            </a:extLst>
          </p:cNvPr>
          <p:cNvCxnSpPr>
            <a:cxnSpLocks/>
          </p:cNvCxnSpPr>
          <p:nvPr/>
        </p:nvCxnSpPr>
        <p:spPr>
          <a:xfrm>
            <a:off x="3010485" y="2532184"/>
            <a:ext cx="65977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A67999-F20F-4471-A17C-FC0823115117}"/>
              </a:ext>
            </a:extLst>
          </p:cNvPr>
          <p:cNvCxnSpPr>
            <a:cxnSpLocks/>
          </p:cNvCxnSpPr>
          <p:nvPr/>
        </p:nvCxnSpPr>
        <p:spPr>
          <a:xfrm>
            <a:off x="3010485" y="4167018"/>
            <a:ext cx="65977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77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6324-5BC2-4510-B022-66ED79F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337625"/>
            <a:ext cx="10058400" cy="998216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Previous Work</a:t>
            </a:r>
            <a:endParaRPr lang="en-US" sz="5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1271F-7AA7-42B5-9515-37AA6974C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50" y="19023"/>
            <a:ext cx="892546" cy="867241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7C888DC-FA17-44AF-A68E-AA3580DF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598" y="6459783"/>
            <a:ext cx="4725763" cy="365125"/>
          </a:xfrm>
        </p:spPr>
        <p:txBody>
          <a:bodyPr/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2DE57B-578B-4BD4-8D39-FE5B4098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437B83F-4928-4478-86F5-D489DD15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34AD-73D3-4C2B-8790-89D05003123E}" type="datetime1">
              <a:rPr lang="en-US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4/12/2022</a:t>
            </a:fld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Open photo">
            <a:extLst>
              <a:ext uri="{FF2B5EF4-FFF2-40B4-BE49-F238E27FC236}">
                <a16:creationId xmlns:a16="http://schemas.microsoft.com/office/drawing/2014/main" id="{2D2D0982-BF1F-4446-9ABE-3BCA4CD4E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2358903"/>
            <a:ext cx="3601329" cy="283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Open photo">
            <a:extLst>
              <a:ext uri="{FF2B5EF4-FFF2-40B4-BE49-F238E27FC236}">
                <a16:creationId xmlns:a16="http://schemas.microsoft.com/office/drawing/2014/main" id="{BC2D6D94-0695-4AF6-AEE3-074A65849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513" y="2358903"/>
            <a:ext cx="3601330" cy="292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DE6E4C-DA09-4522-AC73-066B5B21ACE4}"/>
              </a:ext>
            </a:extLst>
          </p:cNvPr>
          <p:cNvSpPr txBox="1"/>
          <p:nvPr/>
        </p:nvSpPr>
        <p:spPr>
          <a:xfrm>
            <a:off x="464234" y="5404149"/>
            <a:ext cx="5992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rgbClr val="1C1E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1: PPI Network with finally selected 7 common genes.</a:t>
            </a:r>
          </a:p>
          <a:p>
            <a:br>
              <a:rPr lang="en-US" b="0" i="0" dirty="0">
                <a:solidFill>
                  <a:srgbClr val="1C1E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5AC193-E559-44CB-A1D0-E47D100EACAC}"/>
              </a:ext>
            </a:extLst>
          </p:cNvPr>
          <p:cNvSpPr txBox="1"/>
          <p:nvPr/>
        </p:nvSpPr>
        <p:spPr>
          <a:xfrm>
            <a:off x="7310513" y="5404149"/>
            <a:ext cx="5992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rgbClr val="05050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2: Random network using 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47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6324-5BC2-4510-B022-66ED79F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337625"/>
            <a:ext cx="10058400" cy="9982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  <a:endParaRPr lang="en-US" sz="5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1271F-7AA7-42B5-9515-37AA6974C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50" y="19023"/>
            <a:ext cx="892546" cy="867241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7C888DC-FA17-44AF-A68E-AA3580DF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598" y="6459783"/>
            <a:ext cx="4725763" cy="365125"/>
          </a:xfrm>
        </p:spPr>
        <p:txBody>
          <a:bodyPr/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2DE57B-578B-4BD4-8D39-FE5B4098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437B83F-4928-4478-86F5-D489DD15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34AD-73D3-4C2B-8790-89D05003123E}" type="datetime1">
              <a:rPr lang="en-US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4/11/2022</a:t>
            </a:fld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36DF154-F04C-4378-915F-F7E61F1BE07E}"/>
              </a:ext>
            </a:extLst>
          </p:cNvPr>
          <p:cNvSpPr txBox="1">
            <a:spLocks/>
          </p:cNvSpPr>
          <p:nvPr/>
        </p:nvSpPr>
        <p:spPr>
          <a:xfrm>
            <a:off x="844059" y="2472733"/>
            <a:ext cx="7498081" cy="3063890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a genetic relationship between stress and depression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major objective of this study.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establish a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pathway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Topological Properties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PPI, GRN, PDI, TF-gene Interactions network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compare biochemical and genetic properties of these disease.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therapeutic novel drug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6" name="Picture 4" descr="Objectives – Department of the Environment">
            <a:extLst>
              <a:ext uri="{FF2B5EF4-FFF2-40B4-BE49-F238E27FC236}">
                <a16:creationId xmlns:a16="http://schemas.microsoft.com/office/drawing/2014/main" id="{B1B6B3A4-D06E-49C7-B52A-5D8673DF0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609" y="2853586"/>
            <a:ext cx="2527335" cy="231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195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6324-5BC2-4510-B022-66ED79F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337625"/>
            <a:ext cx="10058400" cy="9982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Conclusions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1271F-7AA7-42B5-9515-37AA6974C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50" y="19023"/>
            <a:ext cx="892546" cy="867241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7C888DC-FA17-44AF-A68E-AA3580DF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598" y="6459783"/>
            <a:ext cx="4725763" cy="365125"/>
          </a:xfrm>
        </p:spPr>
        <p:txBody>
          <a:bodyPr/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2DE57B-578B-4BD4-8D39-FE5B4098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437B83F-4928-4478-86F5-D489DD15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34AD-73D3-4C2B-8790-89D05003123E}" type="datetime1">
              <a:rPr lang="en-US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4/12/2022</a:t>
            </a:fld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Major depressive disorder: new clinical, neurobiological, and treatment  perspectives - The Lancet">
            <a:extLst>
              <a:ext uri="{FF2B5EF4-FFF2-40B4-BE49-F238E27FC236}">
                <a16:creationId xmlns:a16="http://schemas.microsoft.com/office/drawing/2014/main" id="{C461F3A5-3A83-45A7-9ADE-532C0CB31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4" y="4287378"/>
            <a:ext cx="1561660" cy="118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osttraumatic Stress Disorder Mental Disorder Humans Stock Vector (Royalty  Free) 1512354074">
            <a:extLst>
              <a:ext uri="{FF2B5EF4-FFF2-40B4-BE49-F238E27FC236}">
                <a16:creationId xmlns:a16="http://schemas.microsoft.com/office/drawing/2014/main" id="{D2B27AE3-AE46-4C5D-A40D-7701C4DD4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74" y="2327920"/>
            <a:ext cx="1374900" cy="1200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190012D3-85DD-4B46-A73C-6E24855D0C63}"/>
              </a:ext>
            </a:extLst>
          </p:cNvPr>
          <p:cNvSpPr/>
          <p:nvPr/>
        </p:nvSpPr>
        <p:spPr>
          <a:xfrm rot="982780">
            <a:off x="1969478" y="3081292"/>
            <a:ext cx="1252024" cy="4466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063646F-EBB9-48D4-A8A2-B66510950D10}"/>
              </a:ext>
            </a:extLst>
          </p:cNvPr>
          <p:cNvSpPr/>
          <p:nvPr/>
        </p:nvSpPr>
        <p:spPr>
          <a:xfrm rot="20401077">
            <a:off x="1968419" y="4344626"/>
            <a:ext cx="1252024" cy="4466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8" name="Picture 8" descr="Database Logo Png Transparent Images – Free PNG Images Vector, PSD,  Clipart, Templates">
            <a:extLst>
              <a:ext uri="{FF2B5EF4-FFF2-40B4-BE49-F238E27FC236}">
                <a16:creationId xmlns:a16="http://schemas.microsoft.com/office/drawing/2014/main" id="{2BC4AB3A-D2B3-4B08-8EA2-9DAAEC747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506" y="3098382"/>
            <a:ext cx="1638268" cy="16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110B23B0-AFEC-4A90-8BF0-8BF0E8B1E7E1}"/>
              </a:ext>
            </a:extLst>
          </p:cNvPr>
          <p:cNvSpPr/>
          <p:nvPr/>
        </p:nvSpPr>
        <p:spPr>
          <a:xfrm>
            <a:off x="5515777" y="3729465"/>
            <a:ext cx="1039768" cy="4466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32" name="Picture 12" descr="Data Filter Icon - Download Data Filter Icon 2015870 | Noun Project">
            <a:extLst>
              <a:ext uri="{FF2B5EF4-FFF2-40B4-BE49-F238E27FC236}">
                <a16:creationId xmlns:a16="http://schemas.microsoft.com/office/drawing/2014/main" id="{BA495E25-09A5-4C73-9140-D9D7B405B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548" y="297254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492167DE-F87D-4CFA-9976-CEABEBF98CE1}"/>
              </a:ext>
            </a:extLst>
          </p:cNvPr>
          <p:cNvSpPr/>
          <p:nvPr/>
        </p:nvSpPr>
        <p:spPr>
          <a:xfrm>
            <a:off x="9116551" y="3729465"/>
            <a:ext cx="1039768" cy="4466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40" name="Picture 20" descr="Loading Spinner - Loading Icon Png Transparent, Png Download - kindpng">
            <a:extLst>
              <a:ext uri="{FF2B5EF4-FFF2-40B4-BE49-F238E27FC236}">
                <a16:creationId xmlns:a16="http://schemas.microsoft.com/office/drawing/2014/main" id="{15873B2F-F493-4C04-A2F9-B2E5B70D3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322" y="3126229"/>
            <a:ext cx="1580430" cy="161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25FFAB9-C107-47A2-A0A5-270221BE0A55}"/>
              </a:ext>
            </a:extLst>
          </p:cNvPr>
          <p:cNvSpPr txBox="1"/>
          <p:nvPr/>
        </p:nvSpPr>
        <p:spPr>
          <a:xfrm>
            <a:off x="526778" y="3538327"/>
            <a:ext cx="80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07663D-C986-4E61-8B2D-1900FAEA8DBC}"/>
              </a:ext>
            </a:extLst>
          </p:cNvPr>
          <p:cNvSpPr txBox="1"/>
          <p:nvPr/>
        </p:nvSpPr>
        <p:spPr>
          <a:xfrm>
            <a:off x="327614" y="5491207"/>
            <a:ext cx="1252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A332F6-1635-403B-8568-79B68F1B0104}"/>
              </a:ext>
            </a:extLst>
          </p:cNvPr>
          <p:cNvSpPr txBox="1"/>
          <p:nvPr/>
        </p:nvSpPr>
        <p:spPr>
          <a:xfrm>
            <a:off x="3686807" y="4877540"/>
            <a:ext cx="1363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1AEC56-532B-43DA-AFC6-68410913E6C5}"/>
              </a:ext>
            </a:extLst>
          </p:cNvPr>
          <p:cNvSpPr txBox="1"/>
          <p:nvPr/>
        </p:nvSpPr>
        <p:spPr>
          <a:xfrm>
            <a:off x="7141530" y="4877540"/>
            <a:ext cx="156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Data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513D96-9CCD-49B7-9763-588C79709AD5}"/>
              </a:ext>
            </a:extLst>
          </p:cNvPr>
          <p:cNvSpPr txBox="1"/>
          <p:nvPr/>
        </p:nvSpPr>
        <p:spPr>
          <a:xfrm>
            <a:off x="10530650" y="4877540"/>
            <a:ext cx="1363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76584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29D25-EC0F-47DB-9F41-3BADFB9C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C83B-F725-45E8-BEF1-2F7E0C7DF28C}" type="datetime1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4/12/2022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719CFF-CDB3-4AAC-A334-F68CA01A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5DDB9-6301-4045-A507-3E735875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9" y="6459785"/>
            <a:ext cx="1241154" cy="365125"/>
          </a:xfrm>
        </p:spPr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4" name="Picture 4" descr="Vector genetic abstract banner template. Blue question mark of gene dna  helix isolated on white background. Design element for education,  healthcare, medicine, science, clinic, therapy, research Stock Vector |  Adobe Stock">
            <a:extLst>
              <a:ext uri="{FF2B5EF4-FFF2-40B4-BE49-F238E27FC236}">
                <a16:creationId xmlns:a16="http://schemas.microsoft.com/office/drawing/2014/main" id="{C35C059A-FB3B-476C-9886-2DBB1EF0B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750">
            <a:off x="3188470" y="646479"/>
            <a:ext cx="5565531" cy="556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14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6324-5BC2-4510-B022-66ED79F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337625"/>
            <a:ext cx="10058400" cy="9982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References</a:t>
            </a:r>
            <a:endParaRPr lang="en-US" sz="5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1271F-7AA7-42B5-9515-37AA6974C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50" y="19023"/>
            <a:ext cx="892546" cy="867241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C7C888DC-FA17-44AF-A68E-AA3580DF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598" y="6459783"/>
            <a:ext cx="4725763" cy="365125"/>
          </a:xfrm>
        </p:spPr>
        <p:txBody>
          <a:bodyPr/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2DE57B-578B-4BD4-8D39-FE5B4098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437B83F-4928-4478-86F5-D489DD15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34AD-73D3-4C2B-8790-89D05003123E}" type="datetime1">
              <a:rPr lang="en-US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4/11/2022</a:t>
            </a:fld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0C78E-A62F-4FF4-B1EF-3AA65B79494F}"/>
              </a:ext>
            </a:extLst>
          </p:cNvPr>
          <p:cNvSpPr txBox="1"/>
          <p:nvPr/>
        </p:nvSpPr>
        <p:spPr>
          <a:xfrm>
            <a:off x="934750" y="2605150"/>
            <a:ext cx="79482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Organization, 2002. The world health report 2002: reducing risks, promoting healthy life. World Health Organization.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https://bmcpsychiatry.biomedcentral.com/articles/10.1186/1471-244X-14-85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https://www.therecoveryvillage.com/mental-health/stress/related/stress-statistics/#:~:text=According%20to%20The%20American%20Institute,that%20impacts%20their%20mental%20health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https://www.mentalhealth.org.uk/statistics/mental-health-statistics-stress#:~:text=Psychological%20effects,had%20suicidal%20thoughts%20and%20feelings.</a:t>
            </a:r>
          </a:p>
        </p:txBody>
      </p:sp>
      <p:pic>
        <p:nvPicPr>
          <p:cNvPr id="4098" name="Picture 2" descr="Reference Field Svg Png Icon Free Download (#407530) - OnlineWebFonts.COM">
            <a:extLst>
              <a:ext uri="{FF2B5EF4-FFF2-40B4-BE49-F238E27FC236}">
                <a16:creationId xmlns:a16="http://schemas.microsoft.com/office/drawing/2014/main" id="{BD747D60-5B00-4EC6-B315-E677CCD48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788" y="2885878"/>
            <a:ext cx="1758462" cy="176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78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29D25-EC0F-47DB-9F41-3BADFB9C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C83B-F725-45E8-BEF1-2F7E0C7DF28C}" type="datetime1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4/12/2022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719CFF-CDB3-4AAC-A334-F68CA01A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5DDB9-6301-4045-A507-3E735875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9" y="6459785"/>
            <a:ext cx="1241154" cy="365125"/>
          </a:xfrm>
        </p:spPr>
        <p:txBody>
          <a:bodyPr/>
          <a:lstStyle/>
          <a:p>
            <a:fld id="{CA6CD95B-2C7A-4135-B53E-2CADAA923898}" type="slidenum"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19A19-01CC-4A4C-A439-2390E237B949}"/>
              </a:ext>
            </a:extLst>
          </p:cNvPr>
          <p:cNvSpPr txBox="1"/>
          <p:nvPr/>
        </p:nvSpPr>
        <p:spPr>
          <a:xfrm>
            <a:off x="1176997" y="1110713"/>
            <a:ext cx="1101500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Bell MT" panose="02020503060305020303" pitchFamily="18" charset="0"/>
              </a:rPr>
              <a:t>value</a:t>
            </a:r>
            <a:r>
              <a:rPr lang="en-US" sz="3200" dirty="0">
                <a:latin typeface="Bell MT" panose="02020503060305020303" pitchFamily="18" charset="0"/>
              </a:rPr>
              <a:t> = </a:t>
            </a:r>
            <a:r>
              <a:rPr lang="en-US" sz="3200" dirty="0">
                <a:solidFill>
                  <a:srgbClr val="00B0F0"/>
                </a:solidFill>
                <a:latin typeface="Bell MT" panose="02020503060305020303" pitchFamily="18" charset="0"/>
              </a:rPr>
              <a:t>True</a:t>
            </a:r>
          </a:p>
          <a:p>
            <a:r>
              <a:rPr lang="en-US" sz="3200" dirty="0">
                <a:solidFill>
                  <a:srgbClr val="00B0F0"/>
                </a:solidFill>
                <a:latin typeface="Bell MT" panose="02020503060305020303" pitchFamily="18" charset="0"/>
              </a:rPr>
              <a:t>while</a:t>
            </a:r>
            <a:r>
              <a:rPr lang="en-US" sz="3200" dirty="0">
                <a:latin typeface="Bell MT" panose="02020503060305020303" pitchFamily="18" charset="0"/>
              </a:rPr>
              <a:t> (</a:t>
            </a:r>
            <a:r>
              <a:rPr lang="en-US" sz="3200" dirty="0">
                <a:solidFill>
                  <a:schemeClr val="accent1"/>
                </a:solidFill>
                <a:latin typeface="Bell MT" panose="02020503060305020303" pitchFamily="18" charset="0"/>
              </a:rPr>
              <a:t>value</a:t>
            </a:r>
            <a:r>
              <a:rPr lang="en-US" sz="3200" dirty="0">
                <a:latin typeface="Bell MT" panose="02020503060305020303" pitchFamily="18" charset="0"/>
              </a:rPr>
              <a:t>):</a:t>
            </a:r>
          </a:p>
          <a:p>
            <a:pPr algn="ctr"/>
            <a:r>
              <a:rPr lang="en-US" sz="3200" dirty="0">
                <a:solidFill>
                  <a:srgbClr val="00B0F0"/>
                </a:solidFill>
                <a:latin typeface="Bell MT" panose="02020503060305020303" pitchFamily="18" charset="0"/>
              </a:rPr>
              <a:t>print</a:t>
            </a:r>
            <a:r>
              <a:rPr lang="en-US" sz="3200" dirty="0">
                <a:latin typeface="Bell MT" panose="02020503060305020303" pitchFamily="18" charset="0"/>
              </a:rPr>
              <a:t>("</a:t>
            </a:r>
            <a:r>
              <a:rPr lang="en-US" sz="7200" dirty="0">
                <a:solidFill>
                  <a:srgbClr val="7030A0"/>
                </a:solidFill>
                <a:latin typeface="Castellar" panose="020A0402060406010301" pitchFamily="18" charset="0"/>
              </a:rPr>
              <a:t>Thanks for your time and attention</a:t>
            </a:r>
            <a:r>
              <a:rPr lang="en-US" sz="3200" dirty="0">
                <a:latin typeface="Bell MT" panose="02020503060305020303" pitchFamily="18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744485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220</TotalTime>
  <Words>576</Words>
  <Application>Microsoft Office PowerPoint</Application>
  <PresentationFormat>Widescreen</PresentationFormat>
  <Paragraphs>100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Algerian</vt:lpstr>
      <vt:lpstr>Arial</vt:lpstr>
      <vt:lpstr>Bell MT</vt:lpstr>
      <vt:lpstr>Calibri</vt:lpstr>
      <vt:lpstr>Calibri Light</vt:lpstr>
      <vt:lpstr>Castellar</vt:lpstr>
      <vt:lpstr>Times New Roman</vt:lpstr>
      <vt:lpstr>Wingdings</vt:lpstr>
      <vt:lpstr>Retrospect</vt:lpstr>
      <vt:lpstr>Identification of drug and protein-protein interaction among stress and depression:   A bioinformatics approach</vt:lpstr>
      <vt:lpstr>Contents</vt:lpstr>
      <vt:lpstr>Motivation</vt:lpstr>
      <vt:lpstr>Problem Statement</vt:lpstr>
      <vt:lpstr>Previous Work</vt:lpstr>
      <vt:lpstr>Previous Work</vt:lpstr>
      <vt:lpstr>Objectives</vt:lpstr>
      <vt:lpstr>Conclusions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Identification of drug and protein-protein interaction among stress and depression:   A bioinformatics approach</dc:title>
  <dc:creator>User</dc:creator>
  <cp:lastModifiedBy>User</cp:lastModifiedBy>
  <cp:revision>9</cp:revision>
  <dcterms:created xsi:type="dcterms:W3CDTF">2022-04-11T15:22:22Z</dcterms:created>
  <dcterms:modified xsi:type="dcterms:W3CDTF">2022-04-11T19:03:04Z</dcterms:modified>
</cp:coreProperties>
</file>