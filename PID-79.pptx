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0"/>
  </p:notesMasterIdLst>
  <p:sldIdLst>
    <p:sldId id="272" r:id="rId2"/>
    <p:sldId id="257" r:id="rId3"/>
    <p:sldId id="285" r:id="rId4"/>
    <p:sldId id="263" r:id="rId5"/>
    <p:sldId id="290" r:id="rId6"/>
    <p:sldId id="291" r:id="rId7"/>
    <p:sldId id="292" r:id="rId8"/>
    <p:sldId id="293" r:id="rId9"/>
    <p:sldId id="294" r:id="rId10"/>
    <p:sldId id="295" r:id="rId11"/>
    <p:sldId id="296" r:id="rId12"/>
    <p:sldId id="297" r:id="rId13"/>
    <p:sldId id="298" r:id="rId14"/>
    <p:sldId id="286" r:id="rId15"/>
    <p:sldId id="300" r:id="rId16"/>
    <p:sldId id="299" r:id="rId17"/>
    <p:sldId id="288" r:id="rId18"/>
    <p:sldId id="28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84" autoAdjust="0"/>
    <p:restoredTop sz="94660"/>
  </p:normalViewPr>
  <p:slideViewPr>
    <p:cSldViewPr snapToGrid="0">
      <p:cViewPr varScale="1">
        <p:scale>
          <a:sx n="73" d="100"/>
          <a:sy n="73" d="100"/>
        </p:scale>
        <p:origin x="6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D6CA8F-E589-4377-BB9B-780D38AA0CAD}" type="datetimeFigureOut">
              <a:rPr lang="en-US" smtClean="0"/>
              <a:t>12/27/2022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7CA73A-FD14-423F-BADC-BFB04F83E33E}" type="slidenum">
              <a:rPr lang="en-US" smtClean="0"/>
              <a:t>‹#›</a:t>
            </a:fld>
            <a:endParaRPr lang="en-US"/>
          </a:p>
        </p:txBody>
      </p:sp>
    </p:spTree>
    <p:extLst>
      <p:ext uri="{BB962C8B-B14F-4D97-AF65-F5344CB8AC3E}">
        <p14:creationId xmlns:p14="http://schemas.microsoft.com/office/powerpoint/2010/main" val="1049895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87CA73A-FD14-423F-BADC-BFB04F83E33E}" type="slidenum">
              <a:rPr lang="en-US" smtClean="0"/>
              <a:t>1</a:t>
            </a:fld>
            <a:endParaRPr lang="en-US"/>
          </a:p>
        </p:txBody>
      </p:sp>
    </p:spTree>
    <p:extLst>
      <p:ext uri="{BB962C8B-B14F-4D97-AF65-F5344CB8AC3E}">
        <p14:creationId xmlns:p14="http://schemas.microsoft.com/office/powerpoint/2010/main" val="34265704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6CA0E3-419F-4604-BC74-E269FB0F1523}" type="datetime1">
              <a:rPr lang="en-US" smtClean="0"/>
              <a:t>12/27/2022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2674752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A6ADAF-FB55-4AF3-B2B7-686E20A3D18C}" type="datetime1">
              <a:rPr lang="en-US" smtClean="0"/>
              <a:t>12/27/2022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624673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A403428-951A-49DE-A31B-22A85E57845D}" type="datetime1">
              <a:rPr lang="en-US" smtClean="0"/>
              <a:t>12/27/2022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389495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F08155-D5EE-48D6-A74B-E8F3F3C24BF6}" type="datetime1">
              <a:rPr lang="en-US" smtClean="0"/>
              <a:t>12/27/2022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3128655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C5DFFD8-A9D4-4536-A3C5-7F8AAD4EDD22}" type="datetime1">
              <a:rPr lang="en-US" smtClean="0"/>
              <a:t>12/27/2022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4055980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E5F9A5-7053-43D2-B232-972BFCAE03E1}" type="datetime1">
              <a:rPr lang="en-US" smtClean="0"/>
              <a:t>12/27/2022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1566443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00D002-4600-4DD4-8979-4861D89F147A}" type="datetime1">
              <a:rPr lang="en-US" smtClean="0"/>
              <a:t>12/27/2022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1016096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9D402DF-8CB8-4B6B-AD47-18BD2100941B}" type="datetime1">
              <a:rPr lang="en-US" smtClean="0"/>
              <a:t>12/27/2022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1914569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524548-D006-45F5-88D0-5F4E8ADD5F7E}" type="datetime1">
              <a:rPr lang="en-US" smtClean="0"/>
              <a:t>12/27/2022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2117100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378ECB-A428-43FC-A0CA-4B64D37FDCD5}" type="datetime1">
              <a:rPr lang="en-US" smtClean="0"/>
              <a:t>12/27/2022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1631977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C8AD15-1017-4D8A-9D0A-2CDFE5D39604}" type="datetime1">
              <a:rPr lang="en-US" smtClean="0"/>
              <a:t>12/27/2022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1164278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A8AC82-2CC8-4EB0-A508-6A88205B6FA0}" type="datetime1">
              <a:rPr lang="en-US" smtClean="0"/>
              <a:t>12/27/2022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9D1490-14D1-4384-ACF6-FB85194E0F5F}" type="slidenum">
              <a:rPr lang="en-US" smtClean="0"/>
              <a:t>‹#›</a:t>
            </a:fld>
            <a:endParaRPr lang="en-US"/>
          </a:p>
        </p:txBody>
      </p:sp>
    </p:spTree>
    <p:extLst>
      <p:ext uri="{BB962C8B-B14F-4D97-AF65-F5344CB8AC3E}">
        <p14:creationId xmlns:p14="http://schemas.microsoft.com/office/powerpoint/2010/main" val="301195405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11629847" y="6321196"/>
            <a:ext cx="391614" cy="4260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MS PGothic(Body)"/>
                <a:ea typeface="MS PGothic" panose="020B0600070205080204" pitchFamily="34" charset="-128"/>
              </a:rPr>
              <a:t>1</a:t>
            </a:r>
          </a:p>
        </p:txBody>
      </p:sp>
      <p:sp>
        <p:nvSpPr>
          <p:cNvPr id="15" name="Title 14"/>
          <p:cNvSpPr>
            <a:spLocks noGrp="1"/>
          </p:cNvSpPr>
          <p:nvPr>
            <p:ph type="ctrTitle"/>
          </p:nvPr>
        </p:nvSpPr>
        <p:spPr>
          <a:xfrm>
            <a:off x="307975" y="110777"/>
            <a:ext cx="7177042" cy="1430640"/>
          </a:xfrm>
        </p:spPr>
        <p:txBody>
          <a:bodyPr anchor="t">
            <a:noAutofit/>
          </a:bodyPr>
          <a:lstStyle/>
          <a:p>
            <a:pPr algn="l"/>
            <a:r>
              <a:rPr lang="en-GB" sz="3200" b="1" dirty="0" smtClean="0">
                <a:solidFill>
                  <a:schemeClr val="accent6">
                    <a:lumMod val="75000"/>
                  </a:schemeClr>
                </a:solidFill>
                <a:latin typeface="Times New Roman" panose="02020603050405020304" pitchFamily="18" charset="0"/>
                <a:cs typeface="Times New Roman" panose="02020603050405020304" pitchFamily="18" charset="0"/>
              </a:rPr>
              <a:t>8th </a:t>
            </a:r>
            <a:r>
              <a:rPr lang="en-GB" sz="3200" b="1" dirty="0">
                <a:solidFill>
                  <a:schemeClr val="accent6">
                    <a:lumMod val="75000"/>
                  </a:schemeClr>
                </a:solidFill>
                <a:latin typeface="Times New Roman" panose="02020603050405020304" pitchFamily="18" charset="0"/>
                <a:cs typeface="Times New Roman" panose="02020603050405020304" pitchFamily="18" charset="0"/>
              </a:rPr>
              <a:t>IEEE international Women in Engineering (WIE) Conference on Electrical and Computer </a:t>
            </a:r>
            <a:r>
              <a:rPr lang="en-GB" sz="3200" b="1" dirty="0" smtClean="0">
                <a:solidFill>
                  <a:schemeClr val="accent6">
                    <a:lumMod val="75000"/>
                  </a:schemeClr>
                </a:solidFill>
                <a:latin typeface="Times New Roman" panose="02020603050405020304" pitchFamily="18" charset="0"/>
                <a:cs typeface="Times New Roman" panose="02020603050405020304" pitchFamily="18" charset="0"/>
              </a:rPr>
              <a:t>Engineering</a:t>
            </a:r>
            <a:endParaRPr lang="en-US" sz="3200" dirty="0">
              <a:solidFill>
                <a:schemeClr val="accent6">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6" name="Subtitle 15"/>
              <p:cNvSpPr>
                <a:spLocks noGrp="1"/>
              </p:cNvSpPr>
              <p:nvPr>
                <p:ph type="subTitle" idx="1"/>
              </p:nvPr>
            </p:nvSpPr>
            <p:spPr>
              <a:xfrm>
                <a:off x="1514680" y="2476936"/>
                <a:ext cx="10023987" cy="3879414"/>
              </a:xfrm>
            </p:spPr>
            <p:txBody>
              <a:bodyPr>
                <a:normAutofit fontScale="92500"/>
              </a:bodyPr>
              <a:lstStyle/>
              <a:p>
                <a:endParaRPr lang="en-US" dirty="0" smtClean="0">
                  <a:solidFill>
                    <a:srgbClr val="0070C0"/>
                  </a:solidFill>
                </a:endParaRPr>
              </a:p>
              <a:p>
                <a:pPr>
                  <a:lnSpc>
                    <a:spcPct val="110000"/>
                  </a:lnSpc>
                </a:pPr>
                <a:r>
                  <a:rPr lang="en-GB" sz="3200" dirty="0" smtClean="0">
                    <a:solidFill>
                      <a:schemeClr val="accent1"/>
                    </a:solidFill>
                    <a:latin typeface="Times New Roman" panose="02020603050405020304" pitchFamily="18" charset="0"/>
                    <a:cs typeface="Times New Roman" panose="02020603050405020304" pitchFamily="18" charset="0"/>
                  </a:rPr>
                  <a:t>Identification </a:t>
                </a:r>
                <a:r>
                  <a:rPr lang="en-GB" sz="3200" dirty="0">
                    <a:solidFill>
                      <a:schemeClr val="accent1"/>
                    </a:solidFill>
                    <a:latin typeface="Times New Roman" panose="02020603050405020304" pitchFamily="18" charset="0"/>
                    <a:cs typeface="Times New Roman" panose="02020603050405020304" pitchFamily="18" charset="0"/>
                  </a:rPr>
                  <a:t>of target biomarkers and common pathways between Stress and Depression: A Bioinformatics Approach</a:t>
                </a:r>
                <a:r>
                  <a:rPr lang="en-US" sz="3600" dirty="0" smtClean="0"/>
                  <a:t/>
                </a:r>
                <a:br>
                  <a:rPr lang="en-US" sz="3600" dirty="0" smtClean="0"/>
                </a:br>
                <a:r>
                  <a:rPr lang="en-US" sz="2000" dirty="0" smtClean="0">
                    <a:latin typeface="Cambria" panose="02040503050406030204" pitchFamily="18" charset="0"/>
                    <a:ea typeface="Cambria" panose="02040503050406030204" pitchFamily="18" charset="0"/>
                  </a:rPr>
                  <a:t> </a:t>
                </a:r>
              </a:p>
              <a:p>
                <a:pPr/>
                <a14:m>
                  <m:oMath xmlns:m="http://schemas.openxmlformats.org/officeDocument/2006/math">
                    <m:sSup>
                      <m:sSupPr>
                        <m:ctrlPr>
                          <a:rPr lang="en-US" sz="2000" i="1" smtClean="0">
                            <a:latin typeface="Cambria Math" panose="02040503050406030204" pitchFamily="18" charset="0"/>
                            <a:cs typeface="Times New Roman" panose="02020603050405020304" pitchFamily="18" charset="0"/>
                          </a:rPr>
                        </m:ctrlPr>
                      </m:sSupPr>
                      <m:e>
                        <m:r>
                          <m:rPr>
                            <m:nor/>
                          </m:rPr>
                          <a:rPr lang="en-US" sz="2000" dirty="0">
                            <a:latin typeface="Times New Roman" panose="02020603050405020304" pitchFamily="18" charset="0"/>
                            <a:cs typeface="Times New Roman" panose="02020603050405020304" pitchFamily="18" charset="0"/>
                          </a:rPr>
                          <m:t>Md</m:t>
                        </m:r>
                        <m:r>
                          <m:rPr>
                            <m:nor/>
                          </m:rPr>
                          <a:rPr lang="en-US" sz="2000" dirty="0">
                            <a:latin typeface="Times New Roman" panose="02020603050405020304" pitchFamily="18" charset="0"/>
                            <a:cs typeface="Times New Roman" panose="02020603050405020304" pitchFamily="18" charset="0"/>
                          </a:rPr>
                          <m:t>. </m:t>
                        </m:r>
                        <m:r>
                          <a:rPr lang="en-GB" sz="2000" b="0" i="1" dirty="0" smtClean="0">
                            <a:latin typeface="Cambria Math" panose="02040503050406030204" pitchFamily="18" charset="0"/>
                            <a:cs typeface="Times New Roman" panose="02020603050405020304" pitchFamily="18" charset="0"/>
                          </a:rPr>
                          <m:t>𝐴𝑏𝑢𝑙</m:t>
                        </m:r>
                        <m:r>
                          <a:rPr lang="en-GB" sz="2000" b="0" i="1" dirty="0" smtClean="0">
                            <a:latin typeface="Cambria Math" panose="02040503050406030204" pitchFamily="18" charset="0"/>
                            <a:cs typeface="Times New Roman" panose="02020603050405020304" pitchFamily="18" charset="0"/>
                          </a:rPr>
                          <m:t> </m:t>
                        </m:r>
                        <m:r>
                          <a:rPr lang="en-GB" sz="2000" b="0" i="1" dirty="0" smtClean="0">
                            <a:latin typeface="Cambria Math" panose="02040503050406030204" pitchFamily="18" charset="0"/>
                            <a:cs typeface="Times New Roman" panose="02020603050405020304" pitchFamily="18" charset="0"/>
                          </a:rPr>
                          <m:t>𝐵𝑎𝑠𝑎𝑟</m:t>
                        </m:r>
                      </m:e>
                      <m:sup>
                        <m:r>
                          <a:rPr lang="en-GB" sz="2000" b="0" i="1" smtClean="0">
                            <a:latin typeface="Cambria Math" panose="02040503050406030204" pitchFamily="18" charset="0"/>
                            <a:cs typeface="Times New Roman" panose="02020603050405020304" pitchFamily="18" charset="0"/>
                          </a:rPr>
                          <m:t>𝑎</m:t>
                        </m:r>
                      </m:sup>
                    </m:sSup>
                  </m:oMath>
                </a14:m>
                <a:r>
                  <a:rPr lang="en-US" sz="2000" dirty="0" smtClean="0">
                    <a:latin typeface="Times New Roman" panose="02020603050405020304" pitchFamily="18" charset="0"/>
                    <a:cs typeface="Times New Roman" panose="02020603050405020304" pitchFamily="18" charset="0"/>
                  </a:rPr>
                  <a:t>,</a:t>
                </a:r>
                <a14:m>
                  <m:oMath xmlns:m="http://schemas.openxmlformats.org/officeDocument/2006/math">
                    <m:sSup>
                      <m:sSupPr>
                        <m:ctrlPr>
                          <a:rPr lang="en-US" sz="2000" i="1" dirty="0" smtClean="0">
                            <a:latin typeface="Cambria Math" panose="02040503050406030204" pitchFamily="18" charset="0"/>
                            <a:cs typeface="Times New Roman" panose="02020603050405020304" pitchFamily="18" charset="0"/>
                          </a:rPr>
                        </m:ctrlPr>
                      </m:sSupPr>
                      <m:e>
                        <m:r>
                          <m:rPr>
                            <m:nor/>
                          </m:rPr>
                          <a:rPr lang="en-GB" sz="2000" b="0" i="0" dirty="0" smtClean="0">
                            <a:latin typeface="Cambria Math" panose="02040503050406030204" pitchFamily="18" charset="0"/>
                            <a:cs typeface="Times New Roman" panose="02020603050405020304" pitchFamily="18" charset="0"/>
                          </a:rPr>
                          <m:t> </m:t>
                        </m:r>
                        <m:r>
                          <m:rPr>
                            <m:nor/>
                          </m:rPr>
                          <a:rPr lang="en-US" sz="2000" dirty="0">
                            <a:latin typeface="Times New Roman" panose="02020603050405020304" pitchFamily="18" charset="0"/>
                            <a:cs typeface="Times New Roman" panose="02020603050405020304" pitchFamily="18" charset="0"/>
                          </a:rPr>
                          <m:t>Md</m:t>
                        </m:r>
                        <m:r>
                          <m:rPr>
                            <m:nor/>
                          </m:rPr>
                          <a:rPr lang="en-US" sz="2000" dirty="0">
                            <a:latin typeface="Times New Roman" panose="02020603050405020304" pitchFamily="18" charset="0"/>
                            <a:cs typeface="Times New Roman" panose="02020603050405020304" pitchFamily="18" charset="0"/>
                          </a:rPr>
                          <m:t>. </m:t>
                        </m:r>
                        <m:r>
                          <a:rPr lang="en-GB" sz="2000" b="0" i="1" dirty="0" smtClean="0">
                            <a:latin typeface="Cambria Math" panose="02040503050406030204" pitchFamily="18" charset="0"/>
                            <a:cs typeface="Times New Roman" panose="02020603050405020304" pitchFamily="18" charset="0"/>
                          </a:rPr>
                          <m:t>𝐹𝑎𝑟𝑢𝑘</m:t>
                        </m:r>
                        <m:r>
                          <a:rPr lang="en-GB" sz="2000" b="0" i="1" dirty="0" smtClean="0">
                            <a:latin typeface="Cambria Math" panose="02040503050406030204" pitchFamily="18" charset="0"/>
                            <a:cs typeface="Times New Roman" panose="02020603050405020304" pitchFamily="18" charset="0"/>
                          </a:rPr>
                          <m:t> </m:t>
                        </m:r>
                        <m:r>
                          <a:rPr lang="en-GB" sz="2000" b="0" i="1" dirty="0" smtClean="0">
                            <a:latin typeface="Cambria Math" panose="02040503050406030204" pitchFamily="18" charset="0"/>
                            <a:cs typeface="Times New Roman" panose="02020603050405020304" pitchFamily="18" charset="0"/>
                          </a:rPr>
                          <m:t>𝐻𝑜𝑠𝑒𝑛</m:t>
                        </m:r>
                      </m:e>
                      <m:sup>
                        <m:r>
                          <a:rPr lang="en-GB" sz="2000" b="0" i="1" dirty="0" smtClean="0">
                            <a:latin typeface="Cambria Math" panose="02040503050406030204" pitchFamily="18" charset="0"/>
                            <a:cs typeface="Times New Roman" panose="02020603050405020304" pitchFamily="18" charset="0"/>
                          </a:rPr>
                          <m:t>𝑎</m:t>
                        </m:r>
                      </m:sup>
                    </m:sSup>
                  </m:oMath>
                </a14:m>
                <a:r>
                  <a:rPr lang="en-US" sz="2000" dirty="0" smtClean="0">
                    <a:latin typeface="Times New Roman" panose="02020603050405020304" pitchFamily="18" charset="0"/>
                    <a:cs typeface="Times New Roman" panose="02020603050405020304" pitchFamily="18" charset="0"/>
                  </a:rPr>
                  <a:t>,</a:t>
                </a:r>
                <a14:m>
                  <m:oMath xmlns:m="http://schemas.openxmlformats.org/officeDocument/2006/math">
                    <m:sSup>
                      <m:sSupPr>
                        <m:ctrlPr>
                          <a:rPr lang="en-US" sz="2000" i="1" dirty="0" smtClean="0">
                            <a:latin typeface="Cambria Math" panose="02040503050406030204" pitchFamily="18" charset="0"/>
                            <a:cs typeface="Times New Roman" panose="02020603050405020304" pitchFamily="18" charset="0"/>
                          </a:rPr>
                        </m:ctrlPr>
                      </m:sSupPr>
                      <m:e>
                        <m:r>
                          <m:rPr>
                            <m:nor/>
                          </m:rPr>
                          <a:rPr lang="en-GB" sz="2000" b="0" i="0" dirty="0" smtClean="0">
                            <a:latin typeface="Cambria Math" panose="02040503050406030204" pitchFamily="18" charset="0"/>
                            <a:cs typeface="Times New Roman" panose="02020603050405020304" pitchFamily="18" charset="0"/>
                          </a:rPr>
                          <m:t> </m:t>
                        </m:r>
                        <m:r>
                          <m:rPr>
                            <m:nor/>
                          </m:rPr>
                          <a:rPr lang="en-GB" sz="2000" b="0" i="0" dirty="0" smtClean="0">
                            <a:latin typeface="Cambria Math" panose="02040503050406030204" pitchFamily="18" charset="0"/>
                            <a:cs typeface="Times New Roman" panose="02020603050405020304" pitchFamily="18" charset="0"/>
                          </a:rPr>
                          <m:t>Md</m:t>
                        </m:r>
                        <m:r>
                          <m:rPr>
                            <m:nor/>
                          </m:rPr>
                          <a:rPr lang="en-GB" sz="2000" b="0" i="0" dirty="0" smtClean="0">
                            <a:latin typeface="Cambria Math" panose="02040503050406030204" pitchFamily="18" charset="0"/>
                            <a:cs typeface="Times New Roman" panose="02020603050405020304" pitchFamily="18" charset="0"/>
                          </a:rPr>
                          <m:t>. </m:t>
                        </m:r>
                        <m:r>
                          <m:rPr>
                            <m:nor/>
                          </m:rPr>
                          <a:rPr lang="en-GB" sz="2000" b="0" i="0" dirty="0" smtClean="0">
                            <a:latin typeface="Cambria Math" panose="02040503050406030204" pitchFamily="18" charset="0"/>
                            <a:cs typeface="Times New Roman" panose="02020603050405020304" pitchFamily="18" charset="0"/>
                          </a:rPr>
                          <m:t>Al</m:t>
                        </m:r>
                        <m:r>
                          <m:rPr>
                            <m:nor/>
                          </m:rPr>
                          <a:rPr lang="en-GB" sz="2000" b="0" i="0" dirty="0" smtClean="0">
                            <a:latin typeface="Cambria Math" panose="02040503050406030204" pitchFamily="18" charset="0"/>
                            <a:cs typeface="Times New Roman" panose="02020603050405020304" pitchFamily="18" charset="0"/>
                          </a:rPr>
                          <m:t> </m:t>
                        </m:r>
                        <m:r>
                          <m:rPr>
                            <m:nor/>
                          </m:rPr>
                          <a:rPr lang="en-GB" sz="2000" b="0" i="0" dirty="0" smtClean="0">
                            <a:latin typeface="Cambria Math" panose="02040503050406030204" pitchFamily="18" charset="0"/>
                            <a:cs typeface="Times New Roman" panose="02020603050405020304" pitchFamily="18" charset="0"/>
                          </a:rPr>
                          <m:t>Amin</m:t>
                        </m:r>
                      </m:e>
                      <m:sup>
                        <m:r>
                          <a:rPr lang="en-GB" sz="2000" b="0" i="1" dirty="0" smtClean="0">
                            <a:latin typeface="Cambria Math" panose="02040503050406030204" pitchFamily="18" charset="0"/>
                            <a:cs typeface="Times New Roman" panose="02020603050405020304" pitchFamily="18" charset="0"/>
                          </a:rPr>
                          <m:t>𝑏</m:t>
                        </m:r>
                      </m:sup>
                    </m:sSup>
                  </m:oMath>
                </a14:m>
                <a:r>
                  <a:rPr lang="en-US" sz="2000" dirty="0" smtClean="0">
                    <a:latin typeface="Times New Roman" panose="02020603050405020304" pitchFamily="18" charset="0"/>
                    <a:cs typeface="Times New Roman" panose="02020603050405020304" pitchFamily="18" charset="0"/>
                  </a:rPr>
                  <a:t>,</a:t>
                </a:r>
                <a14:m>
                  <m:oMath xmlns:m="http://schemas.openxmlformats.org/officeDocument/2006/math">
                    <m:sSup>
                      <m:sSupPr>
                        <m:ctrlPr>
                          <a:rPr lang="en-US" sz="2000" i="1" dirty="0" smtClean="0">
                            <a:latin typeface="Cambria Math" panose="02040503050406030204" pitchFamily="18" charset="0"/>
                            <a:cs typeface="Times New Roman" panose="02020603050405020304" pitchFamily="18" charset="0"/>
                          </a:rPr>
                        </m:ctrlPr>
                      </m:sSupPr>
                      <m:e>
                        <m:r>
                          <m:rPr>
                            <m:nor/>
                          </m:rPr>
                          <a:rPr lang="en-GB" sz="2000" b="0" i="0" dirty="0" smtClean="0">
                            <a:latin typeface="Cambria Math" panose="02040503050406030204" pitchFamily="18" charset="0"/>
                            <a:cs typeface="Times New Roman" panose="02020603050405020304" pitchFamily="18" charset="0"/>
                          </a:rPr>
                          <m:t> </m:t>
                        </m:r>
                        <m:r>
                          <m:rPr>
                            <m:nor/>
                          </m:rPr>
                          <a:rPr lang="en-GB" sz="2000" b="0" i="0" dirty="0" smtClean="0">
                            <a:latin typeface="Cambria Math" panose="02040503050406030204" pitchFamily="18" charset="0"/>
                            <a:cs typeface="Times New Roman" panose="02020603050405020304" pitchFamily="18" charset="0"/>
                          </a:rPr>
                          <m:t>Nasima</m:t>
                        </m:r>
                        <m:r>
                          <m:rPr>
                            <m:nor/>
                          </m:rPr>
                          <a:rPr lang="en-GB" sz="2000" b="0" i="0" dirty="0" smtClean="0">
                            <a:latin typeface="Cambria Math" panose="02040503050406030204" pitchFamily="18" charset="0"/>
                            <a:cs typeface="Times New Roman" panose="02020603050405020304" pitchFamily="18" charset="0"/>
                          </a:rPr>
                          <m:t> </m:t>
                        </m:r>
                        <m:r>
                          <m:rPr>
                            <m:nor/>
                          </m:rPr>
                          <a:rPr lang="en-GB" sz="2000" b="0" i="0" dirty="0" smtClean="0">
                            <a:latin typeface="Cambria Math" panose="02040503050406030204" pitchFamily="18" charset="0"/>
                            <a:cs typeface="Times New Roman" panose="02020603050405020304" pitchFamily="18" charset="0"/>
                          </a:rPr>
                          <m:t>Islam</m:t>
                        </m:r>
                        <m:r>
                          <m:rPr>
                            <m:nor/>
                          </m:rPr>
                          <a:rPr lang="en-GB" sz="2000" b="0" i="0" dirty="0" smtClean="0">
                            <a:latin typeface="Cambria Math" panose="02040503050406030204" pitchFamily="18" charset="0"/>
                            <a:cs typeface="Times New Roman" panose="02020603050405020304" pitchFamily="18" charset="0"/>
                          </a:rPr>
                          <m:t> </m:t>
                        </m:r>
                        <m:r>
                          <m:rPr>
                            <m:nor/>
                          </m:rPr>
                          <a:rPr lang="en-GB" sz="2000" b="0" i="0" dirty="0" smtClean="0">
                            <a:latin typeface="Cambria Math" panose="02040503050406030204" pitchFamily="18" charset="0"/>
                            <a:cs typeface="Times New Roman" panose="02020603050405020304" pitchFamily="18" charset="0"/>
                          </a:rPr>
                          <m:t>Bithi</m:t>
                        </m:r>
                      </m:e>
                      <m:sup>
                        <m:r>
                          <a:rPr lang="en-GB" sz="2000" b="0" i="1" dirty="0" smtClean="0">
                            <a:latin typeface="Cambria Math" panose="02040503050406030204" pitchFamily="18" charset="0"/>
                            <a:cs typeface="Times New Roman" panose="02020603050405020304" pitchFamily="18" charset="0"/>
                          </a:rPr>
                          <m:t>𝑐</m:t>
                        </m:r>
                      </m:sup>
                    </m:sSup>
                  </m:oMath>
                </a14:m>
                <a:r>
                  <a:rPr lang="en-US" sz="2000" dirty="0" smtClean="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2000" i="1" smtClean="0">
                            <a:latin typeface="Cambria Math" panose="02040503050406030204" pitchFamily="18" charset="0"/>
                            <a:cs typeface="Times New Roman" panose="02020603050405020304" pitchFamily="18" charset="0"/>
                          </a:rPr>
                        </m:ctrlPr>
                      </m:sSupPr>
                      <m:e>
                        <m:r>
                          <m:rPr>
                            <m:nor/>
                          </m:rPr>
                          <a:rPr lang="en-GB" sz="2000" b="0" i="0" smtClean="0">
                            <a:latin typeface="Cambria Math" panose="02040503050406030204" pitchFamily="18" charset="0"/>
                            <a:cs typeface="Times New Roman" panose="02020603050405020304" pitchFamily="18" charset="0"/>
                          </a:rPr>
                          <m:t>Bikash</m:t>
                        </m:r>
                        <m:r>
                          <m:rPr>
                            <m:nor/>
                          </m:rPr>
                          <a:rPr lang="en-GB" sz="2000" b="0" i="0" smtClean="0">
                            <a:latin typeface="Cambria Math" panose="02040503050406030204" pitchFamily="18" charset="0"/>
                            <a:cs typeface="Times New Roman" panose="02020603050405020304" pitchFamily="18" charset="0"/>
                          </a:rPr>
                          <m:t> </m:t>
                        </m:r>
                        <m:r>
                          <m:rPr>
                            <m:nor/>
                          </m:rPr>
                          <a:rPr lang="en-GB" sz="2000" b="0" i="0" smtClean="0">
                            <a:latin typeface="Cambria Math" panose="02040503050406030204" pitchFamily="18" charset="0"/>
                            <a:cs typeface="Times New Roman" panose="02020603050405020304" pitchFamily="18" charset="0"/>
                          </a:rPr>
                          <m:t>Kuma</m:t>
                        </m:r>
                        <m:r>
                          <a:rPr lang="en-GB" sz="2000" b="0" i="1" smtClean="0">
                            <a:latin typeface="Cambria Math" panose="02040503050406030204" pitchFamily="18" charset="0"/>
                            <a:cs typeface="Times New Roman" panose="02020603050405020304" pitchFamily="18" charset="0"/>
                          </a:rPr>
                          <m:t>𝑟</m:t>
                        </m:r>
                        <m:r>
                          <a:rPr lang="en-GB" sz="2000" b="0" i="1" smtClean="0">
                            <a:latin typeface="Cambria Math" panose="02040503050406030204" pitchFamily="18" charset="0"/>
                            <a:cs typeface="Times New Roman" panose="02020603050405020304" pitchFamily="18" charset="0"/>
                          </a:rPr>
                          <m:t> </m:t>
                        </m:r>
                        <m:r>
                          <a:rPr lang="en-GB" sz="2000" b="0" i="1" smtClean="0">
                            <a:latin typeface="Cambria Math" panose="02040503050406030204" pitchFamily="18" charset="0"/>
                            <a:cs typeface="Times New Roman" panose="02020603050405020304" pitchFamily="18" charset="0"/>
                          </a:rPr>
                          <m:t>𝑃𝑎𝑢𝑙</m:t>
                        </m:r>
                      </m:e>
                      <m:sup>
                        <m:r>
                          <a:rPr lang="en-GB" sz="2000" b="0" i="1" smtClean="0">
                            <a:latin typeface="Cambria Math" panose="02040503050406030204" pitchFamily="18" charset="0"/>
                            <a:cs typeface="Times New Roman" panose="02020603050405020304" pitchFamily="18" charset="0"/>
                          </a:rPr>
                          <m:t>𝑎</m:t>
                        </m:r>
                        <m:r>
                          <a:rPr lang="en-GB" sz="2000" b="0" i="1" smtClean="0">
                            <a:latin typeface="Cambria Math" panose="02040503050406030204" pitchFamily="18" charset="0"/>
                            <a:cs typeface="Times New Roman" panose="02020603050405020304" pitchFamily="18" charset="0"/>
                          </a:rPr>
                          <m:t>,</m:t>
                        </m:r>
                        <m:r>
                          <a:rPr lang="en-GB" sz="2000" b="0" i="1" smtClean="0">
                            <a:latin typeface="Cambria Math" panose="02040503050406030204" pitchFamily="18" charset="0"/>
                            <a:cs typeface="Times New Roman" panose="02020603050405020304" pitchFamily="18" charset="0"/>
                          </a:rPr>
                          <m:t>𝑏</m:t>
                        </m:r>
                        <m:r>
                          <a:rPr lang="en-GB" sz="2000" b="0" i="1" smtClean="0">
                            <a:latin typeface="Cambria Math" panose="02040503050406030204" pitchFamily="18" charset="0"/>
                            <a:cs typeface="Times New Roman" panose="02020603050405020304" pitchFamily="18" charset="0"/>
                          </a:rPr>
                          <m:t>,</m:t>
                        </m:r>
                        <m:r>
                          <a:rPr lang="en-GB" sz="2000" b="0" i="1" smtClean="0">
                            <a:latin typeface="Cambria Math" panose="02040503050406030204" pitchFamily="18" charset="0"/>
                            <a:cs typeface="Times New Roman" panose="02020603050405020304" pitchFamily="18" charset="0"/>
                          </a:rPr>
                          <m:t>𝑐</m:t>
                        </m:r>
                        <m:r>
                          <a:rPr lang="en-GB" sz="2000" b="0" i="1" smtClean="0">
                            <a:latin typeface="Cambria Math" panose="02040503050406030204" pitchFamily="18" charset="0"/>
                            <a:cs typeface="Times New Roman" panose="02020603050405020304" pitchFamily="18" charset="0"/>
                          </a:rPr>
                          <m:t>∗</m:t>
                        </m:r>
                      </m:sup>
                    </m:sSup>
                  </m:oMath>
                </a14:m>
                <a:r>
                  <a:rPr lang="en-US" sz="1600" dirty="0"/>
                  <a:t/>
                </a:r>
                <a:br>
                  <a:rPr lang="en-US" sz="1600" dirty="0"/>
                </a:br>
                <a14:m>
                  <m:oMathPara xmlns:m="http://schemas.openxmlformats.org/officeDocument/2006/math">
                    <m:oMathParaPr>
                      <m:jc m:val="center"/>
                    </m:oMathParaPr>
                    <m:oMath xmlns:m="http://schemas.openxmlformats.org/officeDocument/2006/math">
                      <m:sSub>
                        <m:sSubPr>
                          <m:ctrlPr>
                            <a:rPr lang="en-US" sz="1600" i="1" smtClean="0">
                              <a:latin typeface="Cambria Math" panose="02040503050406030204" pitchFamily="18" charset="0"/>
                            </a:rPr>
                          </m:ctrlPr>
                        </m:sSubPr>
                        <m:e>
                          <m:r>
                            <a:rPr lang="en-GB" sz="1600" b="0" i="1" smtClean="0">
                              <a:latin typeface="Cambria Math" panose="02040503050406030204" pitchFamily="18" charset="0"/>
                            </a:rPr>
                            <m:t>𝑎</m:t>
                          </m:r>
                        </m:e>
                        <m:sub>
                          <m:r>
                            <m:rPr>
                              <m:nor/>
                            </m:rPr>
                            <a:rPr lang="en-GB" sz="1600" i="1" dirty="0">
                              <a:latin typeface="Times New Roman" panose="02020603050405020304" pitchFamily="18" charset="0"/>
                              <a:cs typeface="Times New Roman" panose="02020603050405020304" pitchFamily="18" charset="0"/>
                            </a:rPr>
                            <m:t>Department</m:t>
                          </m:r>
                          <m:r>
                            <m:rPr>
                              <m:nor/>
                            </m:rPr>
                            <a:rPr lang="en-GB" sz="1600" i="1" dirty="0">
                              <a:latin typeface="Times New Roman" panose="02020603050405020304" pitchFamily="18" charset="0"/>
                              <a:cs typeface="Times New Roman" panose="02020603050405020304" pitchFamily="18" charset="0"/>
                            </a:rPr>
                            <m:t> </m:t>
                          </m:r>
                          <m:r>
                            <m:rPr>
                              <m:nor/>
                            </m:rPr>
                            <a:rPr lang="en-GB" sz="1600" i="1" dirty="0">
                              <a:latin typeface="Times New Roman" panose="02020603050405020304" pitchFamily="18" charset="0"/>
                              <a:cs typeface="Times New Roman" panose="02020603050405020304" pitchFamily="18" charset="0"/>
                            </a:rPr>
                            <m:t>of</m:t>
                          </m:r>
                          <m:r>
                            <m:rPr>
                              <m:nor/>
                            </m:rPr>
                            <a:rPr lang="en-GB" sz="1600" i="1" dirty="0">
                              <a:latin typeface="Times New Roman" panose="02020603050405020304" pitchFamily="18" charset="0"/>
                              <a:cs typeface="Times New Roman" panose="02020603050405020304" pitchFamily="18" charset="0"/>
                            </a:rPr>
                            <m:t> </m:t>
                          </m:r>
                          <m:r>
                            <m:rPr>
                              <m:nor/>
                            </m:rPr>
                            <a:rPr lang="en-GB" sz="1600" i="1" dirty="0">
                              <a:latin typeface="Times New Roman" panose="02020603050405020304" pitchFamily="18" charset="0"/>
                              <a:cs typeface="Times New Roman" panose="02020603050405020304" pitchFamily="18" charset="0"/>
                            </a:rPr>
                            <m:t>Information</m:t>
                          </m:r>
                          <m:r>
                            <m:rPr>
                              <m:nor/>
                            </m:rPr>
                            <a:rPr lang="en-GB" sz="1600" i="1" dirty="0">
                              <a:latin typeface="Times New Roman" panose="02020603050405020304" pitchFamily="18" charset="0"/>
                              <a:cs typeface="Times New Roman" panose="02020603050405020304" pitchFamily="18" charset="0"/>
                            </a:rPr>
                            <m:t> </m:t>
                          </m:r>
                          <m:r>
                            <m:rPr>
                              <m:nor/>
                            </m:rPr>
                            <a:rPr lang="en-GB" sz="1600" i="1" dirty="0">
                              <a:latin typeface="Times New Roman" panose="02020603050405020304" pitchFamily="18" charset="0"/>
                              <a:cs typeface="Times New Roman" panose="02020603050405020304" pitchFamily="18" charset="0"/>
                            </a:rPr>
                            <m:t>and</m:t>
                          </m:r>
                          <m:r>
                            <m:rPr>
                              <m:nor/>
                            </m:rPr>
                            <a:rPr lang="en-GB" sz="1600" i="1" dirty="0">
                              <a:latin typeface="Times New Roman" panose="02020603050405020304" pitchFamily="18" charset="0"/>
                              <a:cs typeface="Times New Roman" panose="02020603050405020304" pitchFamily="18" charset="0"/>
                            </a:rPr>
                            <m:t> </m:t>
                          </m:r>
                          <m:r>
                            <m:rPr>
                              <m:nor/>
                            </m:rPr>
                            <a:rPr lang="en-GB" sz="1600" i="1" dirty="0">
                              <a:latin typeface="Times New Roman" panose="02020603050405020304" pitchFamily="18" charset="0"/>
                              <a:cs typeface="Times New Roman" panose="02020603050405020304" pitchFamily="18" charset="0"/>
                            </a:rPr>
                            <m:t>Communication</m:t>
                          </m:r>
                          <m:r>
                            <m:rPr>
                              <m:nor/>
                            </m:rPr>
                            <a:rPr lang="en-GB" sz="1600" i="1" dirty="0">
                              <a:latin typeface="Times New Roman" panose="02020603050405020304" pitchFamily="18" charset="0"/>
                              <a:cs typeface="Times New Roman" panose="02020603050405020304" pitchFamily="18" charset="0"/>
                            </a:rPr>
                            <m:t> </m:t>
                          </m:r>
                          <m:r>
                            <m:rPr>
                              <m:nor/>
                            </m:rPr>
                            <a:rPr lang="en-GB" sz="1600" i="1" dirty="0">
                              <a:latin typeface="Times New Roman" panose="02020603050405020304" pitchFamily="18" charset="0"/>
                              <a:cs typeface="Times New Roman" panose="02020603050405020304" pitchFamily="18" charset="0"/>
                            </a:rPr>
                            <m:t>Technology</m:t>
                          </m:r>
                          <m:r>
                            <m:rPr>
                              <m:nor/>
                            </m:rPr>
                            <a:rPr lang="en-US" sz="1600" i="1" dirty="0">
                              <a:latin typeface="Times New Roman" panose="02020603050405020304" pitchFamily="18" charset="0"/>
                              <a:cs typeface="Times New Roman" panose="02020603050405020304" pitchFamily="18" charset="0"/>
                            </a:rPr>
                            <m:t>, </m:t>
                          </m:r>
                          <m:r>
                            <m:rPr>
                              <m:nor/>
                            </m:rPr>
                            <a:rPr lang="en-GB" sz="1600" i="1" dirty="0">
                              <a:latin typeface="Times New Roman" panose="02020603050405020304" pitchFamily="18" charset="0"/>
                              <a:cs typeface="Times New Roman" panose="02020603050405020304" pitchFamily="18" charset="0"/>
                            </a:rPr>
                            <m:t>Mawlana</m:t>
                          </m:r>
                          <m:r>
                            <m:rPr>
                              <m:nor/>
                            </m:rPr>
                            <a:rPr lang="en-GB" sz="1600" i="1" dirty="0">
                              <a:latin typeface="Times New Roman" panose="02020603050405020304" pitchFamily="18" charset="0"/>
                              <a:cs typeface="Times New Roman" panose="02020603050405020304" pitchFamily="18" charset="0"/>
                            </a:rPr>
                            <m:t> </m:t>
                          </m:r>
                          <m:r>
                            <m:rPr>
                              <m:nor/>
                            </m:rPr>
                            <a:rPr lang="en-GB" sz="1600" i="1" dirty="0">
                              <a:latin typeface="Times New Roman" panose="02020603050405020304" pitchFamily="18" charset="0"/>
                              <a:cs typeface="Times New Roman" panose="02020603050405020304" pitchFamily="18" charset="0"/>
                            </a:rPr>
                            <m:t>Bhashani</m:t>
                          </m:r>
                          <m:r>
                            <m:rPr>
                              <m:nor/>
                            </m:rPr>
                            <a:rPr lang="en-GB" sz="1600" i="1" dirty="0">
                              <a:latin typeface="Times New Roman" panose="02020603050405020304" pitchFamily="18" charset="0"/>
                              <a:cs typeface="Times New Roman" panose="02020603050405020304" pitchFamily="18" charset="0"/>
                            </a:rPr>
                            <m:t> </m:t>
                          </m:r>
                          <m:r>
                            <m:rPr>
                              <m:nor/>
                            </m:rPr>
                            <a:rPr lang="en-GB" sz="1600" i="1" dirty="0">
                              <a:latin typeface="Times New Roman" panose="02020603050405020304" pitchFamily="18" charset="0"/>
                              <a:cs typeface="Times New Roman" panose="02020603050405020304" pitchFamily="18" charset="0"/>
                            </a:rPr>
                            <m:t>Science</m:t>
                          </m:r>
                          <m:r>
                            <m:rPr>
                              <m:nor/>
                            </m:rPr>
                            <a:rPr lang="en-GB" sz="1600" i="1" dirty="0">
                              <a:latin typeface="Times New Roman" panose="02020603050405020304" pitchFamily="18" charset="0"/>
                              <a:cs typeface="Times New Roman" panose="02020603050405020304" pitchFamily="18" charset="0"/>
                            </a:rPr>
                            <m:t> </m:t>
                          </m:r>
                          <m:r>
                            <m:rPr>
                              <m:nor/>
                            </m:rPr>
                            <a:rPr lang="en-GB" sz="1600" i="1" dirty="0">
                              <a:latin typeface="Times New Roman" panose="02020603050405020304" pitchFamily="18" charset="0"/>
                              <a:cs typeface="Times New Roman" panose="02020603050405020304" pitchFamily="18" charset="0"/>
                            </a:rPr>
                            <m:t>and</m:t>
                          </m:r>
                          <m:r>
                            <m:rPr>
                              <m:nor/>
                            </m:rPr>
                            <a:rPr lang="en-GB" sz="1600" i="1" dirty="0">
                              <a:latin typeface="Times New Roman" panose="02020603050405020304" pitchFamily="18" charset="0"/>
                              <a:cs typeface="Times New Roman" panose="02020603050405020304" pitchFamily="18" charset="0"/>
                            </a:rPr>
                            <m:t> </m:t>
                          </m:r>
                          <m:r>
                            <m:rPr>
                              <m:nor/>
                            </m:rPr>
                            <a:rPr lang="en-GB" sz="1600" i="1" dirty="0">
                              <a:latin typeface="Times New Roman" panose="02020603050405020304" pitchFamily="18" charset="0"/>
                              <a:cs typeface="Times New Roman" panose="02020603050405020304" pitchFamily="18" charset="0"/>
                            </a:rPr>
                            <m:t>Technology</m:t>
                          </m:r>
                          <m:r>
                            <m:rPr>
                              <m:nor/>
                            </m:rPr>
                            <a:rPr lang="en-GB" sz="1600" i="1" dirty="0">
                              <a:latin typeface="Times New Roman" panose="02020603050405020304" pitchFamily="18" charset="0"/>
                              <a:cs typeface="Times New Roman" panose="02020603050405020304" pitchFamily="18" charset="0"/>
                            </a:rPr>
                            <m:t> </m:t>
                          </m:r>
                          <m:r>
                            <m:rPr>
                              <m:nor/>
                            </m:rPr>
                            <a:rPr lang="en-GB" sz="1600" i="1" dirty="0">
                              <a:latin typeface="Times New Roman" panose="02020603050405020304" pitchFamily="18" charset="0"/>
                              <a:cs typeface="Times New Roman" panose="02020603050405020304" pitchFamily="18" charset="0"/>
                            </a:rPr>
                            <m:t>Univeristy</m:t>
                          </m:r>
                          <m:r>
                            <m:rPr>
                              <m:nor/>
                            </m:rPr>
                            <a:rPr lang="en-GB" sz="1600" i="1" dirty="0">
                              <a:latin typeface="Times New Roman" panose="02020603050405020304" pitchFamily="18" charset="0"/>
                              <a:cs typeface="Times New Roman" panose="02020603050405020304" pitchFamily="18" charset="0"/>
                            </a:rPr>
                            <m:t> (</m:t>
                          </m:r>
                          <m:r>
                            <m:rPr>
                              <m:nor/>
                            </m:rPr>
                            <a:rPr lang="en-GB" sz="1600" i="1" dirty="0">
                              <a:latin typeface="Times New Roman" panose="02020603050405020304" pitchFamily="18" charset="0"/>
                              <a:cs typeface="Times New Roman" panose="02020603050405020304" pitchFamily="18" charset="0"/>
                            </a:rPr>
                            <m:t>MBSTU</m:t>
                          </m:r>
                          <m:r>
                            <m:rPr>
                              <m:nor/>
                            </m:rPr>
                            <a:rPr lang="en-GB" sz="1600" i="1" dirty="0">
                              <a:latin typeface="Times New Roman" panose="02020603050405020304" pitchFamily="18" charset="0"/>
                              <a:cs typeface="Times New Roman" panose="02020603050405020304" pitchFamily="18" charset="0"/>
                            </a:rPr>
                            <m:t>)</m:t>
                          </m:r>
                        </m:sub>
                      </m:sSub>
                    </m:oMath>
                    <m:oMath xmlns:m="http://schemas.openxmlformats.org/officeDocument/2006/math">
                      <m:sSub>
                        <m:sSubPr>
                          <m:ctrlPr>
                            <a:rPr lang="en-US" sz="1700" i="1" smtClean="0">
                              <a:latin typeface="Cambria Math" panose="02040503050406030204" pitchFamily="18" charset="0"/>
                              <a:cs typeface="Times New Roman" panose="02020603050405020304" pitchFamily="18" charset="0"/>
                            </a:rPr>
                          </m:ctrlPr>
                        </m:sSubPr>
                        <m:e>
                          <m:r>
                            <a:rPr lang="en-GB" sz="1700" b="0" i="1" smtClean="0">
                              <a:latin typeface="Cambria Math" panose="02040503050406030204" pitchFamily="18" charset="0"/>
                              <a:cs typeface="Times New Roman" panose="02020603050405020304" pitchFamily="18" charset="0"/>
                            </a:rPr>
                            <m:t>𝑏</m:t>
                          </m:r>
                        </m:e>
                        <m:sub>
                          <m:eqArr>
                            <m:eqArrPr>
                              <m:ctrlPr>
                                <a:rPr lang="en-GB" sz="1700" dirty="0">
                                  <a:latin typeface="Cambria Math" panose="02040503050406030204" pitchFamily="18" charset="0"/>
                                  <a:cs typeface="Times New Roman" panose="02020603050405020304" pitchFamily="18" charset="0"/>
                                </a:rPr>
                              </m:ctrlPr>
                            </m:eqArrPr>
                            <m:e>
                              <m:r>
                                <m:rPr>
                                  <m:nor/>
                                </m:rPr>
                                <a:rPr lang="en-GB" sz="1700" dirty="0">
                                  <a:latin typeface="Times New Roman" panose="02020603050405020304" pitchFamily="18" charset="0"/>
                                  <a:cs typeface="Times New Roman" panose="02020603050405020304" pitchFamily="18" charset="0"/>
                                </a:rPr>
                                <m:t>Department</m:t>
                              </m:r>
                              <m:r>
                                <m:rPr>
                                  <m:nor/>
                                </m:rPr>
                                <a:rPr lang="en-GB" sz="1700" dirty="0">
                                  <a:latin typeface="Times New Roman" panose="02020603050405020304" pitchFamily="18" charset="0"/>
                                  <a:cs typeface="Times New Roman" panose="02020603050405020304" pitchFamily="18" charset="0"/>
                                </a:rPr>
                                <m:t> </m:t>
                              </m:r>
                              <m:r>
                                <m:rPr>
                                  <m:nor/>
                                </m:rPr>
                                <a:rPr lang="en-GB" sz="1700" dirty="0">
                                  <a:latin typeface="Times New Roman" panose="02020603050405020304" pitchFamily="18" charset="0"/>
                                  <a:cs typeface="Times New Roman" panose="02020603050405020304" pitchFamily="18" charset="0"/>
                                </a:rPr>
                                <m:t>of</m:t>
                              </m:r>
                              <m:r>
                                <m:rPr>
                                  <m:nor/>
                                </m:rPr>
                                <a:rPr lang="en-GB" sz="1700" dirty="0">
                                  <a:latin typeface="Times New Roman" panose="02020603050405020304" pitchFamily="18" charset="0"/>
                                  <a:cs typeface="Times New Roman" panose="02020603050405020304" pitchFamily="18" charset="0"/>
                                </a:rPr>
                                <m:t> </m:t>
                              </m:r>
                              <m:r>
                                <m:rPr>
                                  <m:nor/>
                                </m:rPr>
                                <a:rPr lang="en-GB" sz="1700" dirty="0">
                                  <a:latin typeface="Times New Roman" panose="02020603050405020304" pitchFamily="18" charset="0"/>
                                  <a:cs typeface="Times New Roman" panose="02020603050405020304" pitchFamily="18" charset="0"/>
                                </a:rPr>
                                <m:t>Software</m:t>
                              </m:r>
                              <m:r>
                                <m:rPr>
                                  <m:nor/>
                                </m:rPr>
                                <a:rPr lang="en-GB" sz="1700" dirty="0">
                                  <a:latin typeface="Times New Roman" panose="02020603050405020304" pitchFamily="18" charset="0"/>
                                  <a:cs typeface="Times New Roman" panose="02020603050405020304" pitchFamily="18" charset="0"/>
                                </a:rPr>
                                <m:t> </m:t>
                              </m:r>
                              <m:r>
                                <m:rPr>
                                  <m:nor/>
                                </m:rPr>
                                <a:rPr lang="en-GB" sz="1700" dirty="0">
                                  <a:latin typeface="Times New Roman" panose="02020603050405020304" pitchFamily="18" charset="0"/>
                                  <a:cs typeface="Times New Roman" panose="02020603050405020304" pitchFamily="18" charset="0"/>
                                </a:rPr>
                                <m:t>Engineering</m:t>
                              </m:r>
                              <m:r>
                                <m:rPr>
                                  <m:nor/>
                                </m:rPr>
                                <a:rPr lang="en-US" sz="1700" i="1" dirty="0">
                                  <a:latin typeface="Times New Roman" panose="02020603050405020304" pitchFamily="18" charset="0"/>
                                  <a:cs typeface="Times New Roman" panose="02020603050405020304" pitchFamily="18" charset="0"/>
                                </a:rPr>
                                <m:t>, </m:t>
                              </m:r>
                              <m:r>
                                <m:rPr>
                                  <m:nor/>
                                </m:rPr>
                                <a:rPr lang="en-US" sz="1700" i="1" dirty="0">
                                  <a:latin typeface="Times New Roman" panose="02020603050405020304" pitchFamily="18" charset="0"/>
                                  <a:cs typeface="Times New Roman" panose="02020603050405020304" pitchFamily="18" charset="0"/>
                                </a:rPr>
                                <m:t>Daffodil</m:t>
                              </m:r>
                              <m:r>
                                <m:rPr>
                                  <m:nor/>
                                </m:rPr>
                                <a:rPr lang="en-US" sz="1700" i="1" dirty="0">
                                  <a:latin typeface="Times New Roman" panose="02020603050405020304" pitchFamily="18" charset="0"/>
                                  <a:cs typeface="Times New Roman" panose="02020603050405020304" pitchFamily="18" charset="0"/>
                                </a:rPr>
                                <m:t> </m:t>
                              </m:r>
                              <m:r>
                                <m:rPr>
                                  <m:nor/>
                                </m:rPr>
                                <a:rPr lang="en-US" sz="1700" i="1" dirty="0">
                                  <a:latin typeface="Times New Roman" panose="02020603050405020304" pitchFamily="18" charset="0"/>
                                  <a:cs typeface="Times New Roman" panose="02020603050405020304" pitchFamily="18" charset="0"/>
                                </a:rPr>
                                <m:t>International</m:t>
                              </m:r>
                              <m:r>
                                <m:rPr>
                                  <m:nor/>
                                </m:rPr>
                                <a:rPr lang="en-US" sz="1700" i="1" dirty="0">
                                  <a:latin typeface="Times New Roman" panose="02020603050405020304" pitchFamily="18" charset="0"/>
                                  <a:cs typeface="Times New Roman" panose="02020603050405020304" pitchFamily="18" charset="0"/>
                                </a:rPr>
                                <m:t> </m:t>
                              </m:r>
                              <m:r>
                                <m:rPr>
                                  <m:nor/>
                                </m:rPr>
                                <a:rPr lang="en-US" sz="1700" i="1" dirty="0">
                                  <a:latin typeface="Times New Roman" panose="02020603050405020304" pitchFamily="18" charset="0"/>
                                  <a:cs typeface="Times New Roman" panose="02020603050405020304" pitchFamily="18" charset="0"/>
                                </a:rPr>
                                <m:t>University</m:t>
                              </m:r>
                              <m:r>
                                <m:rPr>
                                  <m:nor/>
                                </m:rPr>
                                <a:rPr lang="en-US" sz="1700" i="1" dirty="0">
                                  <a:latin typeface="Times New Roman" panose="02020603050405020304" pitchFamily="18" charset="0"/>
                                  <a:cs typeface="Times New Roman" panose="02020603050405020304" pitchFamily="18" charset="0"/>
                                </a:rPr>
                                <m:t> (</m:t>
                              </m:r>
                              <m:r>
                                <m:rPr>
                                  <m:nor/>
                                </m:rPr>
                                <a:rPr lang="en-US" sz="1700" i="1" dirty="0">
                                  <a:latin typeface="Times New Roman" panose="02020603050405020304" pitchFamily="18" charset="0"/>
                                  <a:cs typeface="Times New Roman" panose="02020603050405020304" pitchFamily="18" charset="0"/>
                                </a:rPr>
                                <m:t>DIU</m:t>
                              </m:r>
                              <m:r>
                                <m:rPr>
                                  <m:nor/>
                                </m:rPr>
                                <a:rPr lang="en-US" sz="1700" i="1" dirty="0">
                                  <a:latin typeface="Times New Roman" panose="02020603050405020304" pitchFamily="18" charset="0"/>
                                  <a:cs typeface="Times New Roman" panose="02020603050405020304" pitchFamily="18" charset="0"/>
                                </a:rPr>
                                <m:t>)</m:t>
                              </m:r>
                            </m:e>
                            <m:e>
                              <m:sSub>
                                <m:sSubPr>
                                  <m:ctrlPr>
                                    <a:rPr lang="en-US" sz="1700" i="1" dirty="0" smtClean="0">
                                      <a:latin typeface="Cambria Math" panose="02040503050406030204" pitchFamily="18" charset="0"/>
                                      <a:cs typeface="Times New Roman" panose="02020603050405020304" pitchFamily="18" charset="0"/>
                                    </a:rPr>
                                  </m:ctrlPr>
                                </m:sSubPr>
                                <m:e>
                                  <m:r>
                                    <a:rPr lang="en-GB" sz="1700" b="0" i="1" dirty="0" smtClean="0">
                                      <a:latin typeface="Cambria Math" panose="02040503050406030204" pitchFamily="18" charset="0"/>
                                      <a:cs typeface="Times New Roman" panose="02020603050405020304" pitchFamily="18" charset="0"/>
                                    </a:rPr>
                                    <m:t>𝑐</m:t>
                                  </m:r>
                                </m:e>
                                <m:sub>
                                  <m:r>
                                    <m:rPr>
                                      <m:nor/>
                                    </m:rPr>
                                    <a:rPr lang="en-GB" sz="1700" i="1" dirty="0">
                                      <a:latin typeface="Cambria Math" panose="02040503050406030204" pitchFamily="18" charset="0"/>
                                      <a:cs typeface="Times New Roman" panose="02020603050405020304" pitchFamily="18" charset="0"/>
                                    </a:rPr>
                                    <m:t>Department</m:t>
                                  </m:r>
                                  <m:r>
                                    <m:rPr>
                                      <m:nor/>
                                    </m:rPr>
                                    <a:rPr lang="en-GB" sz="1700" i="1" dirty="0">
                                      <a:latin typeface="Cambria Math" panose="02040503050406030204" pitchFamily="18" charset="0"/>
                                      <a:cs typeface="Times New Roman" panose="02020603050405020304" pitchFamily="18" charset="0"/>
                                    </a:rPr>
                                    <m:t> </m:t>
                                  </m:r>
                                  <m:r>
                                    <m:rPr>
                                      <m:nor/>
                                    </m:rPr>
                                    <a:rPr lang="en-GB" sz="1700" i="1" dirty="0">
                                      <a:latin typeface="Cambria Math" panose="02040503050406030204" pitchFamily="18" charset="0"/>
                                      <a:cs typeface="Times New Roman" panose="02020603050405020304" pitchFamily="18" charset="0"/>
                                    </a:rPr>
                                    <m:t>of</m:t>
                                  </m:r>
                                  <m:r>
                                    <m:rPr>
                                      <m:nor/>
                                    </m:rPr>
                                    <a:rPr lang="en-GB" sz="1700" i="1" dirty="0">
                                      <a:latin typeface="Cambria Math" panose="02040503050406030204" pitchFamily="18" charset="0"/>
                                      <a:cs typeface="Times New Roman" panose="02020603050405020304" pitchFamily="18" charset="0"/>
                                    </a:rPr>
                                    <m:t> </m:t>
                                  </m:r>
                                  <m:r>
                                    <m:rPr>
                                      <m:nor/>
                                    </m:rPr>
                                    <a:rPr lang="en-GB" sz="1700" i="1" dirty="0">
                                      <a:latin typeface="Cambria Math" panose="02040503050406030204" pitchFamily="18" charset="0"/>
                                      <a:cs typeface="Times New Roman" panose="02020603050405020304" pitchFamily="18" charset="0"/>
                                    </a:rPr>
                                    <m:t>Computer</m:t>
                                  </m:r>
                                  <m:r>
                                    <m:rPr>
                                      <m:nor/>
                                    </m:rPr>
                                    <a:rPr lang="en-GB" sz="1700" i="1" dirty="0">
                                      <a:latin typeface="Cambria Math" panose="02040503050406030204" pitchFamily="18" charset="0"/>
                                      <a:cs typeface="Times New Roman" panose="02020603050405020304" pitchFamily="18" charset="0"/>
                                    </a:rPr>
                                    <m:t> </m:t>
                                  </m:r>
                                  <m:r>
                                    <m:rPr>
                                      <m:nor/>
                                    </m:rPr>
                                    <a:rPr lang="en-GB" sz="1700" i="1" dirty="0">
                                      <a:latin typeface="Cambria Math" panose="02040503050406030204" pitchFamily="18" charset="0"/>
                                      <a:cs typeface="Times New Roman" panose="02020603050405020304" pitchFamily="18" charset="0"/>
                                    </a:rPr>
                                    <m:t>Science</m:t>
                                  </m:r>
                                  <m:r>
                                    <m:rPr>
                                      <m:nor/>
                                    </m:rPr>
                                    <a:rPr lang="en-GB" sz="1700" i="1" dirty="0">
                                      <a:latin typeface="Cambria Math" panose="02040503050406030204" pitchFamily="18" charset="0"/>
                                      <a:cs typeface="Times New Roman" panose="02020603050405020304" pitchFamily="18" charset="0"/>
                                    </a:rPr>
                                    <m:t> </m:t>
                                  </m:r>
                                  <m:r>
                                    <m:rPr>
                                      <m:nor/>
                                    </m:rPr>
                                    <a:rPr lang="en-GB" sz="1700" i="1" dirty="0">
                                      <a:latin typeface="Cambria Math" panose="02040503050406030204" pitchFamily="18" charset="0"/>
                                      <a:cs typeface="Times New Roman" panose="02020603050405020304" pitchFamily="18" charset="0"/>
                                    </a:rPr>
                                    <m:t>and</m:t>
                                  </m:r>
                                  <m:r>
                                    <m:rPr>
                                      <m:nor/>
                                    </m:rPr>
                                    <a:rPr lang="en-GB" sz="1700" i="1" dirty="0">
                                      <a:latin typeface="Cambria Math" panose="02040503050406030204" pitchFamily="18" charset="0"/>
                                      <a:cs typeface="Times New Roman" panose="02020603050405020304" pitchFamily="18" charset="0"/>
                                    </a:rPr>
                                    <m:t> </m:t>
                                  </m:r>
                                  <m:r>
                                    <m:rPr>
                                      <m:nor/>
                                    </m:rPr>
                                    <a:rPr lang="en-GB" sz="1700" i="1" dirty="0">
                                      <a:latin typeface="Cambria Math" panose="02040503050406030204" pitchFamily="18" charset="0"/>
                                      <a:cs typeface="Times New Roman" panose="02020603050405020304" pitchFamily="18" charset="0"/>
                                    </a:rPr>
                                    <m:t>Engineering</m:t>
                                  </m:r>
                                  <m:r>
                                    <m:rPr>
                                      <m:nor/>
                                    </m:rPr>
                                    <a:rPr lang="en-GB" sz="1700" i="1" dirty="0">
                                      <a:latin typeface="Cambria Math" panose="02040503050406030204" pitchFamily="18" charset="0"/>
                                      <a:cs typeface="Times New Roman" panose="02020603050405020304" pitchFamily="18" charset="0"/>
                                    </a:rPr>
                                    <m:t>, </m:t>
                                  </m:r>
                                  <m:r>
                                    <m:rPr>
                                      <m:nor/>
                                    </m:rPr>
                                    <a:rPr lang="en-US" sz="1700" i="1" dirty="0">
                                      <a:latin typeface="Times New Roman" panose="02020603050405020304" pitchFamily="18" charset="0"/>
                                      <a:cs typeface="Times New Roman" panose="02020603050405020304" pitchFamily="18" charset="0"/>
                                    </a:rPr>
                                    <m:t>Daffodil</m:t>
                                  </m:r>
                                  <m:r>
                                    <m:rPr>
                                      <m:nor/>
                                    </m:rPr>
                                    <a:rPr lang="en-US" sz="1700" i="1" dirty="0">
                                      <a:latin typeface="Times New Roman" panose="02020603050405020304" pitchFamily="18" charset="0"/>
                                      <a:cs typeface="Times New Roman" panose="02020603050405020304" pitchFamily="18" charset="0"/>
                                    </a:rPr>
                                    <m:t> </m:t>
                                  </m:r>
                                  <m:r>
                                    <m:rPr>
                                      <m:nor/>
                                    </m:rPr>
                                    <a:rPr lang="en-US" sz="1700" i="1" dirty="0">
                                      <a:latin typeface="Times New Roman" panose="02020603050405020304" pitchFamily="18" charset="0"/>
                                      <a:cs typeface="Times New Roman" panose="02020603050405020304" pitchFamily="18" charset="0"/>
                                    </a:rPr>
                                    <m:t>International</m:t>
                                  </m:r>
                                  <m:r>
                                    <m:rPr>
                                      <m:nor/>
                                    </m:rPr>
                                    <a:rPr lang="en-US" sz="1700" i="1" dirty="0">
                                      <a:latin typeface="Times New Roman" panose="02020603050405020304" pitchFamily="18" charset="0"/>
                                      <a:cs typeface="Times New Roman" panose="02020603050405020304" pitchFamily="18" charset="0"/>
                                    </a:rPr>
                                    <m:t> </m:t>
                                  </m:r>
                                  <m:r>
                                    <m:rPr>
                                      <m:nor/>
                                    </m:rPr>
                                    <a:rPr lang="en-US" sz="1700" i="1" dirty="0">
                                      <a:latin typeface="Times New Roman" panose="02020603050405020304" pitchFamily="18" charset="0"/>
                                      <a:cs typeface="Times New Roman" panose="02020603050405020304" pitchFamily="18" charset="0"/>
                                    </a:rPr>
                                    <m:t>University</m:t>
                                  </m:r>
                                  <m:r>
                                    <m:rPr>
                                      <m:nor/>
                                    </m:rPr>
                                    <a:rPr lang="en-US" sz="1700" i="1" dirty="0">
                                      <a:latin typeface="Times New Roman" panose="02020603050405020304" pitchFamily="18" charset="0"/>
                                      <a:cs typeface="Times New Roman" panose="02020603050405020304" pitchFamily="18" charset="0"/>
                                    </a:rPr>
                                    <m:t> (</m:t>
                                  </m:r>
                                  <m:r>
                                    <m:rPr>
                                      <m:nor/>
                                    </m:rPr>
                                    <a:rPr lang="en-US" sz="1700" i="1" dirty="0">
                                      <a:latin typeface="Times New Roman" panose="02020603050405020304" pitchFamily="18" charset="0"/>
                                      <a:cs typeface="Times New Roman" panose="02020603050405020304" pitchFamily="18" charset="0"/>
                                    </a:rPr>
                                    <m:t>DIU</m:t>
                                  </m:r>
                                  <m:r>
                                    <m:rPr>
                                      <m:nor/>
                                    </m:rPr>
                                    <a:rPr lang="en-US" sz="1700" i="1" dirty="0">
                                      <a:latin typeface="Times New Roman" panose="02020603050405020304" pitchFamily="18" charset="0"/>
                                      <a:cs typeface="Times New Roman" panose="02020603050405020304" pitchFamily="18" charset="0"/>
                                    </a:rPr>
                                    <m:t>)</m:t>
                                  </m:r>
                                </m:sub>
                              </m:sSub>
                            </m:e>
                          </m:eqArr>
                        </m:sub>
                      </m:sSub>
                    </m:oMath>
                  </m:oMathPara>
                </a14:m>
                <a:r>
                  <a:rPr lang="en-US" sz="1600" dirty="0"/>
                  <a:t/>
                </a:r>
                <a:br>
                  <a:rPr lang="en-US" sz="1600" dirty="0"/>
                </a:br>
                <a:r>
                  <a:rPr lang="en-US" sz="1400" dirty="0"/>
                  <a:t/>
                </a:r>
                <a:br>
                  <a:rPr lang="en-US" sz="1400" dirty="0"/>
                </a:br>
                <a:r>
                  <a:rPr lang="en-US" sz="1400" dirty="0">
                    <a:latin typeface="Cambria" panose="02040503050406030204" pitchFamily="18" charset="0"/>
                    <a:ea typeface="Cambria" panose="02040503050406030204" pitchFamily="18" charset="0"/>
                  </a:rPr>
                  <a:t>                                                                                       </a:t>
                </a:r>
              </a:p>
              <a:p>
                <a:pPr algn="just"/>
                <a:endParaRPr lang="en-US" sz="1400" dirty="0">
                  <a:latin typeface="Cambria" panose="02040503050406030204" pitchFamily="18" charset="0"/>
                  <a:ea typeface="Cambria" panose="02040503050406030204" pitchFamily="18" charset="0"/>
                </a:endParaRPr>
              </a:p>
              <a:p>
                <a:endParaRPr lang="en-US" sz="1400" dirty="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p:txBody>
          </p:sp>
        </mc:Choice>
        <mc:Fallback>
          <p:sp>
            <p:nvSpPr>
              <p:cNvPr id="16" name="Subtitle 15"/>
              <p:cNvSpPr>
                <a:spLocks noGrp="1" noRot="1" noChangeAspect="1" noMove="1" noResize="1" noEditPoints="1" noAdjustHandles="1" noChangeArrowheads="1" noChangeShapeType="1" noTextEdit="1"/>
              </p:cNvSpPr>
              <p:nvPr>
                <p:ph type="subTitle" idx="1"/>
              </p:nvPr>
            </p:nvSpPr>
            <p:spPr>
              <a:xfrm>
                <a:off x="1514680" y="2476936"/>
                <a:ext cx="10023987" cy="3879414"/>
              </a:xfrm>
              <a:blipFill>
                <a:blip r:embed="rId3"/>
                <a:stretch>
                  <a:fillRect/>
                </a:stretch>
              </a:blipFill>
            </p:spPr>
            <p:txBody>
              <a:bodyPr/>
              <a:lstStyle/>
              <a:p>
                <a:r>
                  <a:rPr lang="en-GB">
                    <a:noFill/>
                  </a:rPr>
                  <a:t> </a:t>
                </a:r>
              </a:p>
            </p:txBody>
          </p:sp>
        </mc:Fallback>
      </mc:AlternateContent>
      <p:sp>
        <p:nvSpPr>
          <p:cNvPr id="8" name="Date Placeholder 7"/>
          <p:cNvSpPr>
            <a:spLocks noGrp="1"/>
          </p:cNvSpPr>
          <p:nvPr>
            <p:ph type="dt" sz="half" idx="10"/>
          </p:nvPr>
        </p:nvSpPr>
        <p:spPr/>
        <p:txBody>
          <a:bodyPr/>
          <a:lstStyle/>
          <a:p>
            <a:r>
              <a:rPr lang="en-US" dirty="0"/>
              <a:t>December </a:t>
            </a:r>
            <a:r>
              <a:rPr lang="en-US" dirty="0" smtClean="0"/>
              <a:t>31</a:t>
            </a:r>
            <a:r>
              <a:rPr lang="en-US" dirty="0" smtClean="0"/>
              <a:t>,2022</a:t>
            </a:r>
            <a:endParaRPr lang="en-US" dirty="0"/>
          </a:p>
        </p:txBody>
      </p:sp>
      <p:sp>
        <p:nvSpPr>
          <p:cNvPr id="10" name="TextBox 9"/>
          <p:cNvSpPr txBox="1"/>
          <p:nvPr/>
        </p:nvSpPr>
        <p:spPr>
          <a:xfrm>
            <a:off x="5409222" y="6422217"/>
            <a:ext cx="2728451" cy="276999"/>
          </a:xfrm>
          <a:prstGeom prst="rect">
            <a:avLst/>
          </a:prstGeom>
          <a:noFill/>
        </p:spPr>
        <p:txBody>
          <a:bodyPr wrap="square" rtlCol="0">
            <a:spAutoFit/>
          </a:bodyPr>
          <a:lstStyle/>
          <a:p>
            <a:pPr algn="just"/>
            <a:r>
              <a:rPr lang="en-US" sz="1200" dirty="0" smtClean="0"/>
              <a:t>IEEE </a:t>
            </a:r>
            <a:r>
              <a:rPr lang="en-US" sz="1200" dirty="0"/>
              <a:t>WIECON-ECE 2022</a:t>
            </a:r>
            <a:endParaRPr lang="en-US" sz="1200" dirty="0" smtClean="0"/>
          </a:p>
        </p:txBody>
      </p:sp>
      <p:sp>
        <p:nvSpPr>
          <p:cNvPr id="17" name="Oval 16"/>
          <p:cNvSpPr/>
          <p:nvPr/>
        </p:nvSpPr>
        <p:spPr>
          <a:xfrm>
            <a:off x="380178" y="2743493"/>
            <a:ext cx="1344561" cy="1320492"/>
          </a:xfrm>
          <a:prstGeom prst="ellipse">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Paper ID- </a:t>
            </a:r>
            <a:r>
              <a:rPr lang="en-US" dirty="0" smtClean="0"/>
              <a:t>79</a:t>
            </a:r>
            <a:endParaRPr lang="en-US" dirty="0"/>
          </a:p>
        </p:txBody>
      </p:sp>
      <p:sp>
        <p:nvSpPr>
          <p:cNvPr id="2" name="Minus 1"/>
          <p:cNvSpPr/>
          <p:nvPr/>
        </p:nvSpPr>
        <p:spPr>
          <a:xfrm>
            <a:off x="-2326876" y="6945475"/>
            <a:ext cx="16558591" cy="243007"/>
          </a:xfrm>
          <a:prstGeom prst="mathMinus">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utoShape 6" descr="Image result for logo of diu"/>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18" name="Straight Connector 17">
            <a:extLst>
              <a:ext uri="{FF2B5EF4-FFF2-40B4-BE49-F238E27FC236}">
                <a16:creationId xmlns:a16="http://schemas.microsoft.com/office/drawing/2014/main" id="{7A287585-8524-4747-9126-09042BB91C39}"/>
              </a:ext>
            </a:extLst>
          </p:cNvPr>
          <p:cNvCxnSpPr/>
          <p:nvPr/>
        </p:nvCxnSpPr>
        <p:spPr>
          <a:xfrm>
            <a:off x="405629" y="1688024"/>
            <a:ext cx="11118776" cy="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27326" y="406874"/>
            <a:ext cx="2002521" cy="807972"/>
          </a:xfrm>
          <a:prstGeom prst="rect">
            <a:avLst/>
          </a:prstGeom>
        </p:spPr>
      </p:pic>
    </p:spTree>
    <p:extLst>
      <p:ext uri="{BB962C8B-B14F-4D97-AF65-F5344CB8AC3E}">
        <p14:creationId xmlns:p14="http://schemas.microsoft.com/office/powerpoint/2010/main" val="3622369717"/>
      </p:ext>
    </p:extLst>
  </p:cSld>
  <p:clrMapOvr>
    <a:masterClrMapping/>
  </p:clrMapOvr>
  <mc:AlternateContent xmlns:mc="http://schemas.openxmlformats.org/markup-compatibility/2006" xmlns:p14="http://schemas.microsoft.com/office/powerpoint/2010/main">
    <mc:Choice Requires="p14">
      <p:transition spd="slow" p14:dur="2000" advTm="32428"/>
    </mc:Choice>
    <mc:Fallback xmlns="">
      <p:transition spd="slow" advTm="32428"/>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December </a:t>
            </a:r>
            <a:r>
              <a:rPr lang="en-US" dirty="0" smtClean="0"/>
              <a:t>31</a:t>
            </a:r>
            <a:r>
              <a:rPr lang="en-US" dirty="0" smtClean="0"/>
              <a:t>,2022</a:t>
            </a:r>
            <a:endParaRPr lang="en-US" dirty="0"/>
          </a:p>
        </p:txBody>
      </p:sp>
      <p:sp>
        <p:nvSpPr>
          <p:cNvPr id="6" name="TextBox 5"/>
          <p:cNvSpPr txBox="1"/>
          <p:nvPr/>
        </p:nvSpPr>
        <p:spPr>
          <a:xfrm>
            <a:off x="5131055" y="6351826"/>
            <a:ext cx="2728451" cy="276999"/>
          </a:xfrm>
          <a:prstGeom prst="rect">
            <a:avLst/>
          </a:prstGeom>
          <a:noFill/>
        </p:spPr>
        <p:txBody>
          <a:bodyPr wrap="square" rtlCol="0">
            <a:spAutoFit/>
          </a:bodyPr>
          <a:lstStyle/>
          <a:p>
            <a:pPr algn="just"/>
            <a:r>
              <a:rPr lang="en-US" sz="1200" dirty="0"/>
              <a:t>Paper </a:t>
            </a:r>
            <a:r>
              <a:rPr lang="en-US" sz="1200" dirty="0" smtClean="0"/>
              <a:t>ID-79</a:t>
            </a:r>
            <a:endParaRPr lang="en-US" sz="1200" dirty="0"/>
          </a:p>
        </p:txBody>
      </p:sp>
      <p:sp>
        <p:nvSpPr>
          <p:cNvPr id="9" name="Oval 8"/>
          <p:cNvSpPr/>
          <p:nvPr/>
        </p:nvSpPr>
        <p:spPr>
          <a:xfrm>
            <a:off x="11629847" y="6321196"/>
            <a:ext cx="391614" cy="4260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MS PGothic(Body)"/>
                <a:ea typeface="MS PGothic" panose="020B0600070205080204" pitchFamily="34" charset="-128"/>
              </a:rPr>
              <a:t>2</a:t>
            </a:r>
          </a:p>
        </p:txBody>
      </p:sp>
      <p:sp>
        <p:nvSpPr>
          <p:cNvPr id="3" name="TextBox 2">
            <a:extLst>
              <a:ext uri="{FF2B5EF4-FFF2-40B4-BE49-F238E27FC236}">
                <a16:creationId xmlns:a16="http://schemas.microsoft.com/office/drawing/2014/main" id="{5D222FBF-C2DF-45B3-8F03-96512D013153}"/>
              </a:ext>
            </a:extLst>
          </p:cNvPr>
          <p:cNvSpPr txBox="1"/>
          <p:nvPr/>
        </p:nvSpPr>
        <p:spPr>
          <a:xfrm flipH="1">
            <a:off x="7510674" y="303693"/>
            <a:ext cx="2102678" cy="584775"/>
          </a:xfrm>
          <a:prstGeom prst="rect">
            <a:avLst/>
          </a:prstGeom>
          <a:noFill/>
        </p:spPr>
        <p:txBody>
          <a:bodyPr wrap="square" rtlCol="0">
            <a:spAutoFit/>
          </a:bodyPr>
          <a:lstStyle/>
          <a:p>
            <a:r>
              <a:rPr lang="en-US" sz="32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OUTLINE</a:t>
            </a:r>
          </a:p>
        </p:txBody>
      </p:sp>
      <p:sp>
        <p:nvSpPr>
          <p:cNvPr id="12" name="TextBox 11">
            <a:extLst>
              <a:ext uri="{FF2B5EF4-FFF2-40B4-BE49-F238E27FC236}">
                <a16:creationId xmlns:a16="http://schemas.microsoft.com/office/drawing/2014/main" id="{2CB15425-A745-42F4-8D90-ACD509E03230}"/>
              </a:ext>
            </a:extLst>
          </p:cNvPr>
          <p:cNvSpPr txBox="1"/>
          <p:nvPr/>
        </p:nvSpPr>
        <p:spPr>
          <a:xfrm>
            <a:off x="3155102" y="1495338"/>
            <a:ext cx="5881796" cy="4801314"/>
          </a:xfrm>
          <a:prstGeom prst="rect">
            <a:avLst/>
          </a:prstGeom>
          <a:noFill/>
        </p:spPr>
        <p:txBody>
          <a:bodyPr wrap="square" rtlCol="0">
            <a:spAutoFit/>
          </a:bodyPr>
          <a:lstStyle/>
          <a:p>
            <a:pPr marL="342900" indent="-342900">
              <a:lnSpc>
                <a:spcPct val="150000"/>
              </a:lnSpc>
              <a:buClr>
                <a:schemeClr val="tx2"/>
              </a:buClr>
              <a:buFont typeface="Wingdings" panose="05000000000000000000" pitchFamily="2" charset="2"/>
              <a:buChar char="Ø"/>
            </a:pPr>
            <a:r>
              <a:rPr lang="en-US" sz="2400" dirty="0" smtClean="0">
                <a:latin typeface="Times New Roman" pitchFamily="18" charset="0"/>
                <a:cs typeface="Times New Roman" pitchFamily="18" charset="0"/>
              </a:rPr>
              <a:t>Problem statement</a:t>
            </a:r>
            <a:endParaRPr lang="en-US" sz="2400" dirty="0">
              <a:latin typeface="Times New Roman" pitchFamily="18" charset="0"/>
              <a:cs typeface="Times New Roman" pitchFamily="18" charset="0"/>
            </a:endParaRPr>
          </a:p>
          <a:p>
            <a:pPr marL="342900" indent="-342900">
              <a:lnSpc>
                <a:spcPct val="150000"/>
              </a:lnSpc>
              <a:buClr>
                <a:schemeClr val="tx2"/>
              </a:buClr>
              <a:buFont typeface="Wingdings" panose="05000000000000000000" pitchFamily="2" charset="2"/>
              <a:buChar char="Ø"/>
            </a:pPr>
            <a:r>
              <a:rPr lang="en-US" sz="2400" dirty="0" smtClean="0">
                <a:latin typeface="Times New Roman" pitchFamily="18" charset="0"/>
                <a:cs typeface="Times New Roman" pitchFamily="18" charset="0"/>
              </a:rPr>
              <a:t>Motivation</a:t>
            </a:r>
            <a:endParaRPr lang="en-US" sz="2400" dirty="0">
              <a:latin typeface="Times New Roman" pitchFamily="18" charset="0"/>
              <a:cs typeface="Times New Roman" pitchFamily="18" charset="0"/>
            </a:endParaRPr>
          </a:p>
          <a:p>
            <a:pPr marL="342900" indent="-342900">
              <a:lnSpc>
                <a:spcPct val="150000"/>
              </a:lnSpc>
              <a:buClr>
                <a:schemeClr val="tx2"/>
              </a:buClr>
              <a:buFont typeface="Wingdings" panose="05000000000000000000" pitchFamily="2" charset="2"/>
              <a:buChar char="Ø"/>
            </a:pPr>
            <a:r>
              <a:rPr lang="en-US" sz="2400" dirty="0" smtClean="0">
                <a:latin typeface="Times New Roman" pitchFamily="18" charset="0"/>
                <a:cs typeface="Times New Roman" pitchFamily="18" charset="0"/>
              </a:rPr>
              <a:t>Workflow</a:t>
            </a:r>
            <a:endParaRPr lang="en-US" sz="2400" dirty="0">
              <a:latin typeface="Times New Roman" pitchFamily="18" charset="0"/>
              <a:cs typeface="Times New Roman" pitchFamily="18" charset="0"/>
            </a:endParaRPr>
          </a:p>
          <a:p>
            <a:pPr marL="342900" indent="-342900">
              <a:lnSpc>
                <a:spcPct val="150000"/>
              </a:lnSpc>
              <a:buClr>
                <a:schemeClr val="tx2"/>
              </a:buClr>
              <a:buFont typeface="Wingdings" panose="05000000000000000000" pitchFamily="2" charset="2"/>
              <a:buChar char="Ø"/>
            </a:pPr>
            <a:r>
              <a:rPr lang="en-US" sz="2400" dirty="0" smtClean="0">
                <a:latin typeface="Times New Roman" pitchFamily="18" charset="0"/>
                <a:cs typeface="Times New Roman" pitchFamily="18" charset="0"/>
              </a:rPr>
              <a:t>Methodology</a:t>
            </a:r>
            <a:endParaRPr lang="en-US" sz="2400" dirty="0">
              <a:latin typeface="Times New Roman" pitchFamily="18" charset="0"/>
              <a:cs typeface="Times New Roman" pitchFamily="18" charset="0"/>
            </a:endParaRPr>
          </a:p>
          <a:p>
            <a:pPr marL="342900" indent="-342900">
              <a:lnSpc>
                <a:spcPct val="150000"/>
              </a:lnSpc>
              <a:buClr>
                <a:schemeClr val="tx2"/>
              </a:buClr>
              <a:buFont typeface="Wingdings" panose="05000000000000000000" pitchFamily="2" charset="2"/>
              <a:buChar char="Ø"/>
            </a:pPr>
            <a:r>
              <a:rPr lang="en-US" sz="2400" dirty="0" smtClean="0">
                <a:latin typeface="Times New Roman" pitchFamily="18" charset="0"/>
                <a:cs typeface="Times New Roman" pitchFamily="18" charset="0"/>
              </a:rPr>
              <a:t>Result</a:t>
            </a:r>
            <a:endParaRPr lang="en-US" sz="2400" dirty="0">
              <a:latin typeface="Times New Roman" pitchFamily="18" charset="0"/>
              <a:cs typeface="Times New Roman" pitchFamily="18" charset="0"/>
            </a:endParaRPr>
          </a:p>
          <a:p>
            <a:pPr marL="342900" indent="-342900">
              <a:lnSpc>
                <a:spcPct val="150000"/>
              </a:lnSpc>
              <a:buClr>
                <a:schemeClr val="tx2"/>
              </a:buClr>
              <a:buFont typeface="Wingdings" panose="05000000000000000000" pitchFamily="2" charset="2"/>
              <a:buChar char="Ø"/>
            </a:pPr>
            <a:r>
              <a:rPr lang="en-US" sz="2400" dirty="0" smtClean="0">
                <a:latin typeface="Times New Roman" pitchFamily="18" charset="0"/>
                <a:cs typeface="Times New Roman" pitchFamily="18" charset="0"/>
              </a:rPr>
              <a:t>Discussion</a:t>
            </a:r>
            <a:endParaRPr lang="en-US" sz="2400" dirty="0">
              <a:latin typeface="Times New Roman" pitchFamily="18" charset="0"/>
              <a:cs typeface="Times New Roman" pitchFamily="18" charset="0"/>
            </a:endParaRPr>
          </a:p>
          <a:p>
            <a:pPr marL="342900" indent="-342900">
              <a:lnSpc>
                <a:spcPct val="150000"/>
              </a:lnSpc>
              <a:buClr>
                <a:schemeClr val="tx2"/>
              </a:buClr>
              <a:buFont typeface="Wingdings" panose="05000000000000000000" pitchFamily="2" charset="2"/>
              <a:buChar char="Ø"/>
            </a:pPr>
            <a:r>
              <a:rPr lang="en-US" sz="2400" dirty="0">
                <a:latin typeface="Times New Roman" pitchFamily="18" charset="0"/>
                <a:cs typeface="Times New Roman" pitchFamily="18" charset="0"/>
              </a:rPr>
              <a:t>Conclusion</a:t>
            </a:r>
          </a:p>
          <a:p>
            <a:pPr marL="342900" indent="-342900">
              <a:lnSpc>
                <a:spcPct val="150000"/>
              </a:lnSpc>
              <a:buClr>
                <a:schemeClr val="tx2"/>
              </a:buClr>
              <a:buFont typeface="Wingdings" panose="05000000000000000000" pitchFamily="2" charset="2"/>
              <a:buChar char="Ø"/>
            </a:pPr>
            <a:r>
              <a:rPr lang="en-US" sz="2400" dirty="0">
                <a:latin typeface="Times New Roman" pitchFamily="18" charset="0"/>
                <a:cs typeface="Times New Roman" pitchFamily="18" charset="0"/>
              </a:rPr>
              <a:t>References</a:t>
            </a:r>
          </a:p>
          <a:p>
            <a:endParaRPr lang="en-US" dirty="0"/>
          </a:p>
        </p:txBody>
      </p:sp>
      <p:cxnSp>
        <p:nvCxnSpPr>
          <p:cNvPr id="21" name="Straight Connector 20">
            <a:extLst>
              <a:ext uri="{FF2B5EF4-FFF2-40B4-BE49-F238E27FC236}">
                <a16:creationId xmlns:a16="http://schemas.microsoft.com/office/drawing/2014/main" id="{45253915-89B9-4807-AEFC-DA141BC80A90}"/>
              </a:ext>
            </a:extLst>
          </p:cNvPr>
          <p:cNvCxnSpPr/>
          <p:nvPr/>
        </p:nvCxnSpPr>
        <p:spPr>
          <a:xfrm>
            <a:off x="285565" y="1260628"/>
            <a:ext cx="11620870" cy="0"/>
          </a:xfrm>
          <a:prstGeom prst="line">
            <a:avLst/>
          </a:prstGeom>
          <a:ln w="57150"/>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sp>
        <p:nvSpPr>
          <p:cNvPr id="5" name="Rectangle 4">
            <a:extLst>
              <a:ext uri="{FF2B5EF4-FFF2-40B4-BE49-F238E27FC236}">
                <a16:creationId xmlns:a16="http://schemas.microsoft.com/office/drawing/2014/main" id="{697E8EBD-CA91-458A-8221-F826FDAB18E3}"/>
              </a:ext>
            </a:extLst>
          </p:cNvPr>
          <p:cNvSpPr/>
          <p:nvPr/>
        </p:nvSpPr>
        <p:spPr>
          <a:xfrm>
            <a:off x="285565" y="76945"/>
            <a:ext cx="5115331" cy="1200329"/>
          </a:xfrm>
          <a:prstGeom prst="rect">
            <a:avLst/>
          </a:prstGeom>
        </p:spPr>
        <p:txBody>
          <a:bodyPr wrap="square">
            <a:spAutoFit/>
          </a:bodyPr>
          <a:lstStyle/>
          <a:p>
            <a:r>
              <a:rPr lang="en-GB" sz="2400" b="1" dirty="0">
                <a:solidFill>
                  <a:schemeClr val="accent6">
                    <a:lumMod val="75000"/>
                  </a:schemeClr>
                </a:solidFill>
                <a:latin typeface="Times New Roman" panose="02020603050405020304" pitchFamily="18" charset="0"/>
                <a:cs typeface="Times New Roman" panose="02020603050405020304" pitchFamily="18" charset="0"/>
              </a:rPr>
              <a:t>8th IEEE international Women in Engineering (WIE) Conference on Electrical and Computer Engineering</a:t>
            </a:r>
            <a:endParaRPr lang="en-GB" sz="2400" b="1"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9187905"/>
      </p:ext>
    </p:extLst>
  </p:cSld>
  <p:clrMapOvr>
    <a:masterClrMapping/>
  </p:clrMapOvr>
  <mc:AlternateContent xmlns:mc="http://schemas.openxmlformats.org/markup-compatibility/2006" xmlns:p14="http://schemas.microsoft.com/office/powerpoint/2010/main">
    <mc:Choice Requires="p14">
      <p:transition spd="slow" p14:dur="2000" advTm="20004"/>
    </mc:Choice>
    <mc:Fallback xmlns="">
      <p:transition spd="slow" advTm="20004"/>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December </a:t>
            </a:r>
            <a:r>
              <a:rPr lang="en-US" dirty="0" smtClean="0"/>
              <a:t>31</a:t>
            </a:r>
            <a:r>
              <a:rPr lang="en-US" dirty="0" smtClean="0"/>
              <a:t>,2022</a:t>
            </a:r>
            <a:endParaRPr lang="en-US" dirty="0"/>
          </a:p>
        </p:txBody>
      </p:sp>
      <p:sp>
        <p:nvSpPr>
          <p:cNvPr id="6" name="TextBox 5"/>
          <p:cNvSpPr txBox="1"/>
          <p:nvPr/>
        </p:nvSpPr>
        <p:spPr>
          <a:xfrm>
            <a:off x="5131055" y="6351826"/>
            <a:ext cx="2728451" cy="276999"/>
          </a:xfrm>
          <a:prstGeom prst="rect">
            <a:avLst/>
          </a:prstGeom>
          <a:noFill/>
        </p:spPr>
        <p:txBody>
          <a:bodyPr wrap="square" rtlCol="0">
            <a:spAutoFit/>
          </a:bodyPr>
          <a:lstStyle/>
          <a:p>
            <a:pPr algn="just"/>
            <a:r>
              <a:rPr lang="en-US" sz="1200" dirty="0"/>
              <a:t>Paper </a:t>
            </a:r>
            <a:r>
              <a:rPr lang="en-US" sz="1200" dirty="0" smtClean="0"/>
              <a:t>ID-79</a:t>
            </a:r>
            <a:endParaRPr lang="en-US" sz="1200" dirty="0"/>
          </a:p>
        </p:txBody>
      </p:sp>
      <p:sp>
        <p:nvSpPr>
          <p:cNvPr id="9" name="Oval 8"/>
          <p:cNvSpPr/>
          <p:nvPr/>
        </p:nvSpPr>
        <p:spPr>
          <a:xfrm>
            <a:off x="11629847" y="6321196"/>
            <a:ext cx="391614" cy="4260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MS PGothic(Body)"/>
                <a:ea typeface="MS PGothic" panose="020B0600070205080204" pitchFamily="34" charset="-128"/>
              </a:rPr>
              <a:t>3</a:t>
            </a:r>
          </a:p>
        </p:txBody>
      </p:sp>
      <p:sp>
        <p:nvSpPr>
          <p:cNvPr id="3" name="TextBox 2">
            <a:extLst>
              <a:ext uri="{FF2B5EF4-FFF2-40B4-BE49-F238E27FC236}">
                <a16:creationId xmlns:a16="http://schemas.microsoft.com/office/drawing/2014/main" id="{5D222FBF-C2DF-45B3-8F03-96512D013153}"/>
              </a:ext>
            </a:extLst>
          </p:cNvPr>
          <p:cNvSpPr txBox="1"/>
          <p:nvPr/>
        </p:nvSpPr>
        <p:spPr>
          <a:xfrm flipH="1">
            <a:off x="5638320" y="355706"/>
            <a:ext cx="3613046" cy="584775"/>
          </a:xfrm>
          <a:prstGeom prst="rect">
            <a:avLst/>
          </a:prstGeom>
          <a:noFill/>
        </p:spPr>
        <p:txBody>
          <a:bodyPr wrap="square" rtlCol="0">
            <a:spAutoFit/>
          </a:bodyPr>
          <a:lstStyle/>
          <a:p>
            <a:r>
              <a:rPr lang="en-US" sz="3200" b="1" dirty="0" smtClean="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Problem Statement</a:t>
            </a:r>
            <a:endParaRPr lang="en-US" sz="32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21" name="Straight Connector 20">
            <a:extLst>
              <a:ext uri="{FF2B5EF4-FFF2-40B4-BE49-F238E27FC236}">
                <a16:creationId xmlns:a16="http://schemas.microsoft.com/office/drawing/2014/main" id="{45253915-89B9-4807-AEFC-DA141BC80A90}"/>
              </a:ext>
            </a:extLst>
          </p:cNvPr>
          <p:cNvCxnSpPr/>
          <p:nvPr/>
        </p:nvCxnSpPr>
        <p:spPr>
          <a:xfrm>
            <a:off x="211271" y="1330385"/>
            <a:ext cx="11620870" cy="0"/>
          </a:xfrm>
          <a:prstGeom prst="line">
            <a:avLst/>
          </a:prstGeom>
          <a:ln w="57150"/>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sp>
        <p:nvSpPr>
          <p:cNvPr id="5" name="Rectangle 4">
            <a:extLst>
              <a:ext uri="{FF2B5EF4-FFF2-40B4-BE49-F238E27FC236}">
                <a16:creationId xmlns:a16="http://schemas.microsoft.com/office/drawing/2014/main" id="{697E8EBD-CA91-458A-8221-F826FDAB18E3}"/>
              </a:ext>
            </a:extLst>
          </p:cNvPr>
          <p:cNvSpPr/>
          <p:nvPr/>
        </p:nvSpPr>
        <p:spPr>
          <a:xfrm>
            <a:off x="211271" y="136525"/>
            <a:ext cx="5105312" cy="1200329"/>
          </a:xfrm>
          <a:prstGeom prst="rect">
            <a:avLst/>
          </a:prstGeom>
        </p:spPr>
        <p:txBody>
          <a:bodyPr wrap="square">
            <a:spAutoFit/>
          </a:bodyPr>
          <a:lstStyle/>
          <a:p>
            <a:r>
              <a:rPr lang="en-GB" sz="2400" b="1" dirty="0" smtClean="0">
                <a:solidFill>
                  <a:schemeClr val="accent6">
                    <a:lumMod val="75000"/>
                  </a:schemeClr>
                </a:solidFill>
                <a:latin typeface="Times New Roman" panose="02020603050405020304" pitchFamily="18" charset="0"/>
                <a:cs typeface="Times New Roman" panose="02020603050405020304" pitchFamily="18" charset="0"/>
              </a:rPr>
              <a:t>8th </a:t>
            </a:r>
            <a:r>
              <a:rPr lang="en-GB" sz="2400" b="1" dirty="0">
                <a:solidFill>
                  <a:schemeClr val="accent6">
                    <a:lumMod val="75000"/>
                  </a:schemeClr>
                </a:solidFill>
                <a:latin typeface="Times New Roman" panose="02020603050405020304" pitchFamily="18" charset="0"/>
                <a:cs typeface="Times New Roman" panose="02020603050405020304" pitchFamily="18" charset="0"/>
              </a:rPr>
              <a:t>IEEE international Women in Engineering (WIE) Conference on Electrical and Computer Engineering</a:t>
            </a:r>
            <a:endParaRPr lang="en-US" dirty="0">
              <a:solidFill>
                <a:schemeClr val="accent1">
                  <a:lumMod val="75000"/>
                </a:schemeClr>
              </a:solidFill>
            </a:endParaRPr>
          </a:p>
        </p:txBody>
      </p:sp>
      <p:sp>
        <p:nvSpPr>
          <p:cNvPr id="12" name="Slide Number Placeholder 3">
            <a:extLst>
              <a:ext uri="{FF2B5EF4-FFF2-40B4-BE49-F238E27FC236}">
                <a16:creationId xmlns:a16="http://schemas.microsoft.com/office/drawing/2014/main" id="{96CF5FDE-BF42-4E5B-9005-824C65CED99C}"/>
              </a:ext>
            </a:extLst>
          </p:cNvPr>
          <p:cNvSpPr txBox="1">
            <a:spLocks/>
          </p:cNvSpPr>
          <p:nvPr/>
        </p:nvSpPr>
        <p:spPr>
          <a:xfrm>
            <a:off x="7620000" y="6477000"/>
            <a:ext cx="1334086" cy="381000"/>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F38DF745-7D3F-47F4-83A3-874385CFAA69}" type="slidenum">
              <a:rPr lang="en-US" smtClean="0"/>
              <a:pPr algn="r"/>
              <a:t>3</a:t>
            </a:fld>
            <a:endParaRPr lang="en-US" dirty="0"/>
          </a:p>
        </p:txBody>
      </p:sp>
      <p:sp>
        <p:nvSpPr>
          <p:cNvPr id="16" name="TextBox 15">
            <a:extLst>
              <a:ext uri="{FF2B5EF4-FFF2-40B4-BE49-F238E27FC236}">
                <a16:creationId xmlns:a16="http://schemas.microsoft.com/office/drawing/2014/main" id="{283D78F2-6A76-4087-B355-BDD9C440D298}"/>
              </a:ext>
            </a:extLst>
          </p:cNvPr>
          <p:cNvSpPr txBox="1"/>
          <p:nvPr/>
        </p:nvSpPr>
        <p:spPr>
          <a:xfrm>
            <a:off x="457200" y="1703033"/>
            <a:ext cx="7467600" cy="369332"/>
          </a:xfrm>
          <a:prstGeom prst="rect">
            <a:avLst/>
          </a:prstGeom>
          <a:noFill/>
        </p:spPr>
        <p:txBody>
          <a:bodyPr wrap="square" rtlCol="0">
            <a:spAutoFit/>
          </a:bodyPr>
          <a:lstStyle/>
          <a:p>
            <a:endParaRPr lang="en-US" dirty="0"/>
          </a:p>
        </p:txBody>
      </p:sp>
      <p:sp>
        <p:nvSpPr>
          <p:cNvPr id="33" name="TextBox 32">
            <a:extLst>
              <a:ext uri="{FF2B5EF4-FFF2-40B4-BE49-F238E27FC236}">
                <a16:creationId xmlns:a16="http://schemas.microsoft.com/office/drawing/2014/main" id="{E194E339-9A9F-4853-AFB1-A1425C34EC03}"/>
              </a:ext>
            </a:extLst>
          </p:cNvPr>
          <p:cNvSpPr txBox="1"/>
          <p:nvPr/>
        </p:nvSpPr>
        <p:spPr>
          <a:xfrm>
            <a:off x="3733800" y="4724400"/>
            <a:ext cx="4191000" cy="369332"/>
          </a:xfrm>
          <a:prstGeom prst="rect">
            <a:avLst/>
          </a:prstGeom>
          <a:noFill/>
        </p:spPr>
        <p:txBody>
          <a:bodyPr wrap="square" rtlCol="0">
            <a:spAutoFit/>
          </a:bodyPr>
          <a:lstStyle/>
          <a:p>
            <a:endParaRPr lang="en-US" dirty="0"/>
          </a:p>
        </p:txBody>
      </p:sp>
      <p:sp>
        <p:nvSpPr>
          <p:cNvPr id="35" name="TextBox 34">
            <a:extLst>
              <a:ext uri="{FF2B5EF4-FFF2-40B4-BE49-F238E27FC236}">
                <a16:creationId xmlns:a16="http://schemas.microsoft.com/office/drawing/2014/main" id="{2CB15425-A745-42F4-8D90-ACD509E03230}"/>
              </a:ext>
            </a:extLst>
          </p:cNvPr>
          <p:cNvSpPr txBox="1"/>
          <p:nvPr/>
        </p:nvSpPr>
        <p:spPr>
          <a:xfrm>
            <a:off x="838200" y="1330385"/>
            <a:ext cx="10617926" cy="5078313"/>
          </a:xfrm>
          <a:prstGeom prst="rect">
            <a:avLst/>
          </a:prstGeom>
          <a:noFill/>
        </p:spPr>
        <p:txBody>
          <a:bodyPr wrap="square" rtlCol="0">
            <a:spAutoFit/>
          </a:bodyPr>
          <a:lstStyle/>
          <a:p>
            <a:pPr marL="285750" indent="-285750" algn="just">
              <a:lnSpc>
                <a:spcPct val="150000"/>
              </a:lnSpc>
              <a:buClr>
                <a:schemeClr val="tx2"/>
              </a:buClr>
              <a:buFont typeface="Wingdings" panose="05000000000000000000" pitchFamily="2" charset="2"/>
              <a:buChar char="Ø"/>
            </a:pPr>
            <a:r>
              <a:rPr lang="en-GB" sz="2400" dirty="0" smtClean="0">
                <a:latin typeface="Times New Roman" pitchFamily="18" charset="0"/>
                <a:cs typeface="Times New Roman" pitchFamily="18" charset="0"/>
              </a:rPr>
              <a:t>Stress </a:t>
            </a:r>
            <a:r>
              <a:rPr lang="en-GB" sz="2400" dirty="0">
                <a:latin typeface="Times New Roman" pitchFamily="18" charset="0"/>
                <a:cs typeface="Times New Roman" pitchFamily="18" charset="0"/>
              </a:rPr>
              <a:t>can be defined as any type of change that causes physical, emotional or psychological strain. </a:t>
            </a:r>
            <a:r>
              <a:rPr lang="en-US" sz="2400" dirty="0" smtClean="0">
                <a:latin typeface="Times New Roman" pitchFamily="18" charset="0"/>
                <a:cs typeface="Times New Roman" pitchFamily="18" charset="0"/>
              </a:rPr>
              <a:t>[1</a:t>
            </a:r>
            <a:r>
              <a:rPr lang="en-US" sz="2400" dirty="0" smtClean="0">
                <a:latin typeface="Times New Roman" pitchFamily="18" charset="0"/>
                <a:cs typeface="Times New Roman" pitchFamily="18" charset="0"/>
              </a:rPr>
              <a:t>].</a:t>
            </a:r>
          </a:p>
          <a:p>
            <a:pPr marL="285750" indent="-285750" algn="just">
              <a:lnSpc>
                <a:spcPct val="150000"/>
              </a:lnSpc>
              <a:buClr>
                <a:schemeClr val="tx2"/>
              </a:buClr>
              <a:buFont typeface="Wingdings" panose="05000000000000000000" pitchFamily="2" charset="2"/>
              <a:buChar char="Ø"/>
            </a:pPr>
            <a:r>
              <a:rPr lang="en-GB" sz="2400" dirty="0" smtClean="0">
                <a:latin typeface="Times New Roman" pitchFamily="18" charset="0"/>
                <a:cs typeface="Times New Roman" pitchFamily="18" charset="0"/>
              </a:rPr>
              <a:t>The </a:t>
            </a:r>
            <a:r>
              <a:rPr lang="en-GB" sz="2400" dirty="0">
                <a:latin typeface="Times New Roman" pitchFamily="18" charset="0"/>
                <a:cs typeface="Times New Roman" pitchFamily="18" charset="0"/>
              </a:rPr>
              <a:t>American Institute of Stress reports that 33% of people experience extreme </a:t>
            </a:r>
            <a:r>
              <a:rPr lang="en-GB" sz="2400" dirty="0" smtClean="0">
                <a:latin typeface="Times New Roman" pitchFamily="18" charset="0"/>
                <a:cs typeface="Times New Roman" pitchFamily="18" charset="0"/>
              </a:rPr>
              <a:t>stress and 73</a:t>
            </a:r>
            <a:r>
              <a:rPr lang="en-GB" sz="2400" dirty="0">
                <a:latin typeface="Times New Roman" pitchFamily="18" charset="0"/>
                <a:cs typeface="Times New Roman" pitchFamily="18" charset="0"/>
              </a:rPr>
              <a:t>% of people experience stress that affects their mental health. [</a:t>
            </a:r>
            <a:r>
              <a:rPr lang="en-GB" sz="2400" dirty="0" smtClean="0">
                <a:latin typeface="Times New Roman" pitchFamily="18" charset="0"/>
                <a:cs typeface="Times New Roman" pitchFamily="18" charset="0"/>
              </a:rPr>
              <a:t>2</a:t>
            </a:r>
            <a:r>
              <a:rPr lang="en-GB" sz="2400" dirty="0" smtClean="0">
                <a:latin typeface="Times New Roman" pitchFamily="18" charset="0"/>
                <a:cs typeface="Times New Roman" pitchFamily="18" charset="0"/>
              </a:rPr>
              <a:t>].</a:t>
            </a:r>
          </a:p>
          <a:p>
            <a:pPr marL="285750" indent="-285750" algn="just">
              <a:lnSpc>
                <a:spcPct val="150000"/>
              </a:lnSpc>
              <a:buClr>
                <a:schemeClr val="tx2"/>
              </a:buClr>
              <a:buFont typeface="Wingdings" panose="05000000000000000000" pitchFamily="2" charset="2"/>
              <a:buChar char="Ø"/>
            </a:pPr>
            <a:r>
              <a:rPr lang="en-GB" sz="2400" dirty="0">
                <a:latin typeface="Times New Roman" pitchFamily="18" charset="0"/>
                <a:cs typeface="Times New Roman" pitchFamily="18" charset="0"/>
              </a:rPr>
              <a:t>Stroke can increase anxiety disorders and major depressive </a:t>
            </a:r>
            <a:r>
              <a:rPr lang="en-GB" sz="2400" dirty="0" smtClean="0">
                <a:latin typeface="Times New Roman" pitchFamily="18" charset="0"/>
                <a:cs typeface="Times New Roman" pitchFamily="18" charset="0"/>
              </a:rPr>
              <a:t>disorders [3].</a:t>
            </a:r>
            <a:endParaRPr lang="en-GB" sz="2400" dirty="0" smtClean="0">
              <a:latin typeface="Times New Roman" pitchFamily="18" charset="0"/>
              <a:cs typeface="Times New Roman" pitchFamily="18" charset="0"/>
            </a:endParaRPr>
          </a:p>
          <a:p>
            <a:pPr marL="285750" indent="-285750" algn="just">
              <a:lnSpc>
                <a:spcPct val="150000"/>
              </a:lnSpc>
              <a:buClr>
                <a:schemeClr val="tx2"/>
              </a:buClr>
              <a:buFont typeface="Wingdings" panose="05000000000000000000" pitchFamily="2" charset="2"/>
              <a:buChar char="Ø"/>
            </a:pPr>
            <a:r>
              <a:rPr lang="en-GB" sz="2400" dirty="0" smtClean="0">
                <a:latin typeface="Times New Roman" pitchFamily="18" charset="0"/>
                <a:cs typeface="Times New Roman" pitchFamily="18" charset="0"/>
              </a:rPr>
              <a:t>The damage caused by </a:t>
            </a:r>
            <a:r>
              <a:rPr lang="en-GB" sz="2400" dirty="0" smtClean="0">
                <a:latin typeface="Times New Roman" pitchFamily="18" charset="0"/>
                <a:cs typeface="Times New Roman" pitchFamily="18" charset="0"/>
              </a:rPr>
              <a:t>Stress to </a:t>
            </a:r>
            <a:r>
              <a:rPr lang="en-GB" sz="2400" dirty="0" smtClean="0">
                <a:latin typeface="Times New Roman" pitchFamily="18" charset="0"/>
                <a:cs typeface="Times New Roman" pitchFamily="18" charset="0"/>
              </a:rPr>
              <a:t>a </a:t>
            </a:r>
            <a:r>
              <a:rPr lang="en-GB" sz="2400" dirty="0" smtClean="0">
                <a:latin typeface="Times New Roman" pitchFamily="18" charset="0"/>
                <a:cs typeface="Times New Roman" pitchFamily="18" charset="0"/>
              </a:rPr>
              <a:t>depressive </a:t>
            </a:r>
            <a:r>
              <a:rPr lang="en-GB" sz="2400" dirty="0" smtClean="0">
                <a:latin typeface="Times New Roman" pitchFamily="18" charset="0"/>
                <a:cs typeface="Times New Roman" pitchFamily="18" charset="0"/>
              </a:rPr>
              <a:t>patient is not examined significantly in any kind of research so far.</a:t>
            </a:r>
          </a:p>
          <a:p>
            <a:pPr marL="285750" indent="-285750" algn="just">
              <a:lnSpc>
                <a:spcPct val="150000"/>
              </a:lnSpc>
              <a:buClr>
                <a:schemeClr val="tx2"/>
              </a:buClr>
              <a:buFont typeface="Wingdings" panose="05000000000000000000" pitchFamily="2" charset="2"/>
              <a:buChar char="Ø"/>
            </a:pPr>
            <a:r>
              <a:rPr lang="en-GB" sz="2400" dirty="0" smtClean="0">
                <a:latin typeface="Times New Roman" pitchFamily="18" charset="0"/>
                <a:cs typeface="Times New Roman" pitchFamily="18" charset="0"/>
              </a:rPr>
              <a:t>According to the references mentioned in this paper, show a valid interconnection between </a:t>
            </a:r>
            <a:r>
              <a:rPr lang="en-GB" sz="2400" dirty="0" smtClean="0">
                <a:latin typeface="Times New Roman" pitchFamily="18" charset="0"/>
                <a:cs typeface="Times New Roman" pitchFamily="18" charset="0"/>
              </a:rPr>
              <a:t>stress and depression.</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037554914"/>
      </p:ext>
    </p:extLst>
  </p:cSld>
  <p:clrMapOvr>
    <a:masterClrMapping/>
  </p:clrMapOvr>
  <mc:AlternateContent xmlns:mc="http://schemas.openxmlformats.org/markup-compatibility/2006" xmlns:p14="http://schemas.microsoft.com/office/powerpoint/2010/main">
    <mc:Choice Requires="p14">
      <p:transition spd="slow" p14:dur="2000" advTm="77446"/>
    </mc:Choice>
    <mc:Fallback xmlns="">
      <p:transition spd="slow" advTm="77446"/>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December </a:t>
            </a:r>
            <a:r>
              <a:rPr lang="en-US" dirty="0" smtClean="0"/>
              <a:t>31,2022</a:t>
            </a:r>
            <a:endParaRPr lang="en-US" dirty="0"/>
          </a:p>
        </p:txBody>
      </p:sp>
      <p:sp>
        <p:nvSpPr>
          <p:cNvPr id="9" name="TextBox 8"/>
          <p:cNvSpPr txBox="1"/>
          <p:nvPr/>
        </p:nvSpPr>
        <p:spPr>
          <a:xfrm>
            <a:off x="692331" y="1658676"/>
            <a:ext cx="10554789" cy="45243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GB" sz="2400" dirty="0" smtClean="0">
                <a:latin typeface="Times New Roman" panose="02020603050405020304" pitchFamily="18" charset="0"/>
                <a:ea typeface="Cambria" panose="02040503050406030204" pitchFamily="18" charset="0"/>
                <a:cs typeface="Times New Roman" panose="02020603050405020304" pitchFamily="18" charset="0"/>
              </a:rPr>
              <a:t>According </a:t>
            </a:r>
            <a:r>
              <a:rPr lang="en-GB" sz="2400" dirty="0">
                <a:latin typeface="Times New Roman" panose="02020603050405020304" pitchFamily="18" charset="0"/>
                <a:ea typeface="Cambria" panose="02040503050406030204" pitchFamily="18" charset="0"/>
                <a:cs typeface="Times New Roman" panose="02020603050405020304" pitchFamily="18" charset="0"/>
              </a:rPr>
              <a:t>to the World Health Organization, depression disorder affects around 350 million individuals of every age worldwide [4</a:t>
            </a:r>
            <a:r>
              <a:rPr lang="en-GB" sz="2400" dirty="0" smtClean="0">
                <a:latin typeface="Times New Roman" panose="02020603050405020304" pitchFamily="18" charset="0"/>
                <a:ea typeface="Cambria" panose="02040503050406030204" pitchFamily="18" charset="0"/>
                <a:cs typeface="Times New Roman" panose="02020603050405020304" pitchFamily="18" charset="0"/>
              </a:rPr>
              <a:t>].</a:t>
            </a:r>
          </a:p>
          <a:p>
            <a:pPr marL="342900" indent="-342900" algn="just">
              <a:lnSpc>
                <a:spcPct val="150000"/>
              </a:lnSpc>
              <a:buFont typeface="Wingdings" panose="05000000000000000000" pitchFamily="2" charset="2"/>
              <a:buChar char="Ø"/>
            </a:pPr>
            <a:r>
              <a:rPr lang="en-GB" sz="2400" dirty="0">
                <a:latin typeface="Times New Roman" panose="02020603050405020304" pitchFamily="18" charset="0"/>
                <a:ea typeface="Cambria" panose="02040503050406030204" pitchFamily="18" charset="0"/>
                <a:cs typeface="Times New Roman" panose="02020603050405020304" pitchFamily="18" charset="0"/>
              </a:rPr>
              <a:t>The American Institute of Stress reports that 77% of people experience stress that affects their physical health.[3</a:t>
            </a:r>
            <a:r>
              <a:rPr lang="en-GB" sz="2400" dirty="0" smtClean="0">
                <a:latin typeface="Times New Roman" panose="02020603050405020304" pitchFamily="18" charset="0"/>
                <a:ea typeface="Cambria" panose="02040503050406030204" pitchFamily="18" charset="0"/>
                <a:cs typeface="Times New Roman" panose="02020603050405020304" pitchFamily="18" charset="0"/>
              </a:rPr>
              <a:t>].</a:t>
            </a:r>
          </a:p>
          <a:p>
            <a:pPr marL="342900" indent="-342900" algn="just">
              <a:lnSpc>
                <a:spcPct val="150000"/>
              </a:lnSpc>
              <a:buFont typeface="Wingdings" panose="05000000000000000000" pitchFamily="2" charset="2"/>
              <a:buChar char="Ø"/>
            </a:pPr>
            <a:r>
              <a:rPr lang="en-US" sz="2400" dirty="0" smtClean="0">
                <a:latin typeface="Times New Roman" panose="02020603050405020304" pitchFamily="18" charset="0"/>
                <a:ea typeface="Cambria" panose="02040503050406030204" pitchFamily="18" charset="0"/>
                <a:cs typeface="Times New Roman" panose="02020603050405020304" pitchFamily="18" charset="0"/>
              </a:rPr>
              <a:t>Patients with </a:t>
            </a:r>
            <a:r>
              <a:rPr lang="en-US" sz="2400" dirty="0" smtClean="0">
                <a:latin typeface="Times New Roman" panose="02020603050405020304" pitchFamily="18" charset="0"/>
                <a:ea typeface="Cambria" panose="02040503050406030204" pitchFamily="18" charset="0"/>
                <a:cs typeface="Times New Roman" panose="02020603050405020304" pitchFamily="18" charset="0"/>
              </a:rPr>
              <a:t>stress are </a:t>
            </a:r>
            <a:r>
              <a:rPr lang="en-US" sz="2400" dirty="0" smtClean="0">
                <a:latin typeface="Times New Roman" panose="02020603050405020304" pitchFamily="18" charset="0"/>
                <a:ea typeface="Cambria" panose="02040503050406030204" pitchFamily="18" charset="0"/>
                <a:cs typeface="Times New Roman" panose="02020603050405020304" pitchFamily="18" charset="0"/>
              </a:rPr>
              <a:t>responsible for  the increased risk of developing </a:t>
            </a:r>
            <a:r>
              <a:rPr lang="en-US" sz="2400" dirty="0" smtClean="0">
                <a:latin typeface="Times New Roman" panose="02020603050405020304" pitchFamily="18" charset="0"/>
                <a:ea typeface="Cambria" panose="02040503050406030204" pitchFamily="18" charset="0"/>
                <a:cs typeface="Times New Roman" panose="02020603050405020304" pitchFamily="18" charset="0"/>
              </a:rPr>
              <a:t>depression.</a:t>
            </a:r>
            <a:endParaRPr lang="en-US" sz="2400" dirty="0" smtClean="0">
              <a:latin typeface="Times New Roman" panose="02020603050405020304" pitchFamily="18" charset="0"/>
              <a:ea typeface="Cambria" panose="020405030504060302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sz="2400" dirty="0" smtClean="0">
                <a:latin typeface="Times New Roman" panose="02020603050405020304" pitchFamily="18" charset="0"/>
                <a:ea typeface="Cambria" panose="02040503050406030204" pitchFamily="18" charset="0"/>
                <a:cs typeface="Times New Roman" panose="02020603050405020304" pitchFamily="18" charset="0"/>
              </a:rPr>
              <a:t>Experiments have been accomplished regarding the genome sequence of </a:t>
            </a:r>
            <a:r>
              <a:rPr lang="en-US" sz="2400" dirty="0" smtClean="0">
                <a:latin typeface="Times New Roman" panose="02020603050405020304" pitchFamily="18" charset="0"/>
                <a:ea typeface="Cambria" panose="02040503050406030204" pitchFamily="18" charset="0"/>
                <a:cs typeface="Times New Roman" panose="02020603050405020304" pitchFamily="18" charset="0"/>
              </a:rPr>
              <a:t>stress </a:t>
            </a:r>
            <a:r>
              <a:rPr lang="en-US" sz="2400" dirty="0" smtClean="0">
                <a:latin typeface="Times New Roman" panose="02020603050405020304" pitchFamily="18" charset="0"/>
                <a:ea typeface="Cambria" panose="02040503050406030204" pitchFamily="18" charset="0"/>
                <a:cs typeface="Times New Roman" panose="02020603050405020304" pitchFamily="18" charset="0"/>
              </a:rPr>
              <a:t>sample that has found similarities with the sample of </a:t>
            </a:r>
            <a:r>
              <a:rPr lang="en-US" sz="2400" dirty="0" smtClean="0">
                <a:latin typeface="Times New Roman" panose="02020603050405020304" pitchFamily="18" charset="0"/>
                <a:ea typeface="Cambria" panose="02040503050406030204" pitchFamily="18" charset="0"/>
                <a:cs typeface="Times New Roman" panose="02020603050405020304" pitchFamily="18" charset="0"/>
              </a:rPr>
              <a:t>depression.</a:t>
            </a:r>
            <a:endParaRPr lang="en-US" sz="2400" dirty="0" smtClean="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0" name="TextBox 9"/>
          <p:cNvSpPr txBox="1"/>
          <p:nvPr/>
        </p:nvSpPr>
        <p:spPr>
          <a:xfrm>
            <a:off x="5080748" y="6373966"/>
            <a:ext cx="2728451" cy="276999"/>
          </a:xfrm>
          <a:prstGeom prst="rect">
            <a:avLst/>
          </a:prstGeom>
          <a:noFill/>
        </p:spPr>
        <p:txBody>
          <a:bodyPr wrap="square" rtlCol="0">
            <a:spAutoFit/>
          </a:bodyPr>
          <a:lstStyle/>
          <a:p>
            <a:pPr algn="just"/>
            <a:r>
              <a:rPr lang="en-US" sz="1200" dirty="0"/>
              <a:t>Paper </a:t>
            </a:r>
            <a:r>
              <a:rPr lang="en-US" sz="1200" dirty="0" smtClean="0"/>
              <a:t>ID-79</a:t>
            </a:r>
            <a:endParaRPr lang="en-US" sz="1200" dirty="0"/>
          </a:p>
        </p:txBody>
      </p:sp>
      <p:sp>
        <p:nvSpPr>
          <p:cNvPr id="11" name="Oval 10"/>
          <p:cNvSpPr/>
          <p:nvPr/>
        </p:nvSpPr>
        <p:spPr>
          <a:xfrm>
            <a:off x="11629847" y="6321196"/>
            <a:ext cx="391614" cy="4260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MS PGothic(Body)"/>
                <a:ea typeface="MS PGothic" panose="020B0600070205080204" pitchFamily="34" charset="-128"/>
              </a:rPr>
              <a:t>4</a:t>
            </a:r>
          </a:p>
        </p:txBody>
      </p:sp>
      <p:sp>
        <p:nvSpPr>
          <p:cNvPr id="5" name="Rectangle 4">
            <a:extLst>
              <a:ext uri="{FF2B5EF4-FFF2-40B4-BE49-F238E27FC236}">
                <a16:creationId xmlns:a16="http://schemas.microsoft.com/office/drawing/2014/main" id="{44E6F3D1-56F1-4704-94F2-025054E9BB45}"/>
              </a:ext>
            </a:extLst>
          </p:cNvPr>
          <p:cNvSpPr/>
          <p:nvPr/>
        </p:nvSpPr>
        <p:spPr>
          <a:xfrm>
            <a:off x="375608" y="329627"/>
            <a:ext cx="5437364" cy="1200329"/>
          </a:xfrm>
          <a:prstGeom prst="rect">
            <a:avLst/>
          </a:prstGeom>
        </p:spPr>
        <p:txBody>
          <a:bodyPr wrap="square">
            <a:spAutoFit/>
          </a:bodyPr>
          <a:lstStyle/>
          <a:p>
            <a:r>
              <a:rPr lang="en-GB" sz="2400" b="1" dirty="0" smtClean="0">
                <a:solidFill>
                  <a:schemeClr val="accent6">
                    <a:lumMod val="75000"/>
                  </a:schemeClr>
                </a:solidFill>
                <a:latin typeface="Times New Roman" panose="02020603050405020304" pitchFamily="18" charset="0"/>
                <a:cs typeface="Times New Roman" panose="02020603050405020304" pitchFamily="18" charset="0"/>
              </a:rPr>
              <a:t>8th </a:t>
            </a:r>
            <a:r>
              <a:rPr lang="en-GB" sz="2400" b="1" dirty="0">
                <a:solidFill>
                  <a:schemeClr val="accent6">
                    <a:lumMod val="75000"/>
                  </a:schemeClr>
                </a:solidFill>
                <a:latin typeface="Times New Roman" panose="02020603050405020304" pitchFamily="18" charset="0"/>
                <a:cs typeface="Times New Roman" panose="02020603050405020304" pitchFamily="18" charset="0"/>
              </a:rPr>
              <a:t>IEEE international Women in Engineering (WIE) Conference on Electrical and Computer Engineering</a:t>
            </a:r>
            <a:endParaRPr lang="en-US" sz="2400" b="1" dirty="0">
              <a:solidFill>
                <a:schemeClr val="accent6">
                  <a:lumMod val="75000"/>
                </a:schemeClr>
              </a:solidFill>
              <a:latin typeface="Times New Roman" panose="02020603050405020304" pitchFamily="18" charset="0"/>
              <a:cs typeface="Times New Roman" panose="02020603050405020304" pitchFamily="18" charset="0"/>
            </a:endParaRPr>
          </a:p>
        </p:txBody>
      </p:sp>
      <p:cxnSp>
        <p:nvCxnSpPr>
          <p:cNvPr id="15" name="Straight Connector 14">
            <a:extLst>
              <a:ext uri="{FF2B5EF4-FFF2-40B4-BE49-F238E27FC236}">
                <a16:creationId xmlns:a16="http://schemas.microsoft.com/office/drawing/2014/main" id="{D41BA06D-23D9-45BB-9C23-90583987FD32}"/>
              </a:ext>
            </a:extLst>
          </p:cNvPr>
          <p:cNvCxnSpPr/>
          <p:nvPr/>
        </p:nvCxnSpPr>
        <p:spPr>
          <a:xfrm>
            <a:off x="467913" y="1557683"/>
            <a:ext cx="11319627" cy="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11E33DD-9007-4BE2-A2F4-49728346B00D}"/>
              </a:ext>
            </a:extLst>
          </p:cNvPr>
          <p:cNvSpPr/>
          <p:nvPr/>
        </p:nvSpPr>
        <p:spPr>
          <a:xfrm>
            <a:off x="6782330" y="370916"/>
            <a:ext cx="2121093" cy="584775"/>
          </a:xfrm>
          <a:prstGeom prst="rect">
            <a:avLst/>
          </a:prstGeom>
        </p:spPr>
        <p:txBody>
          <a:bodyPr wrap="none">
            <a:spAutoFit/>
          </a:bodyPr>
          <a:lstStyle/>
          <a:p>
            <a:r>
              <a:rPr lang="en-US" sz="3200" b="1" dirty="0" smtClean="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Motivation</a:t>
            </a:r>
            <a:endParaRPr lang="en-US" sz="32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0260069"/>
      </p:ext>
    </p:extLst>
  </p:cSld>
  <p:clrMapOvr>
    <a:masterClrMapping/>
  </p:clrMapOvr>
  <mc:AlternateContent xmlns:mc="http://schemas.openxmlformats.org/markup-compatibility/2006" xmlns:p14="http://schemas.microsoft.com/office/powerpoint/2010/main">
    <mc:Choice Requires="p14">
      <p:transition spd="slow" p14:dur="2000" advTm="21068"/>
    </mc:Choice>
    <mc:Fallback xmlns="">
      <p:transition spd="slow" advTm="21068"/>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December </a:t>
            </a:r>
            <a:r>
              <a:rPr lang="en-US" dirty="0" smtClean="0"/>
              <a:t>31</a:t>
            </a:r>
            <a:r>
              <a:rPr lang="en-US" dirty="0" smtClean="0"/>
              <a:t>,2022</a:t>
            </a:r>
            <a:endParaRPr lang="en-US" dirty="0"/>
          </a:p>
        </p:txBody>
      </p:sp>
      <p:sp>
        <p:nvSpPr>
          <p:cNvPr id="10" name="TextBox 9"/>
          <p:cNvSpPr txBox="1"/>
          <p:nvPr/>
        </p:nvSpPr>
        <p:spPr>
          <a:xfrm>
            <a:off x="5080748" y="6373966"/>
            <a:ext cx="2728451" cy="276999"/>
          </a:xfrm>
          <a:prstGeom prst="rect">
            <a:avLst/>
          </a:prstGeom>
          <a:noFill/>
        </p:spPr>
        <p:txBody>
          <a:bodyPr wrap="square" rtlCol="0">
            <a:spAutoFit/>
          </a:bodyPr>
          <a:lstStyle/>
          <a:p>
            <a:pPr algn="just"/>
            <a:r>
              <a:rPr lang="en-US" sz="1200" dirty="0"/>
              <a:t>Paper </a:t>
            </a:r>
            <a:r>
              <a:rPr lang="en-US" sz="1200" dirty="0" smtClean="0"/>
              <a:t>ID-79</a:t>
            </a:r>
            <a:endParaRPr lang="en-US" sz="1200" dirty="0"/>
          </a:p>
        </p:txBody>
      </p:sp>
      <p:sp>
        <p:nvSpPr>
          <p:cNvPr id="11" name="Oval 10"/>
          <p:cNvSpPr/>
          <p:nvPr/>
        </p:nvSpPr>
        <p:spPr>
          <a:xfrm>
            <a:off x="11629847" y="6321196"/>
            <a:ext cx="391614" cy="4260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MS PGothic(Body)"/>
                <a:ea typeface="MS PGothic" panose="020B0600070205080204" pitchFamily="34" charset="-128"/>
              </a:rPr>
              <a:t>5</a:t>
            </a:r>
          </a:p>
        </p:txBody>
      </p:sp>
      <p:sp>
        <p:nvSpPr>
          <p:cNvPr id="5" name="Rectangle 4">
            <a:extLst>
              <a:ext uri="{FF2B5EF4-FFF2-40B4-BE49-F238E27FC236}">
                <a16:creationId xmlns:a16="http://schemas.microsoft.com/office/drawing/2014/main" id="{44E6F3D1-56F1-4704-94F2-025054E9BB45}"/>
              </a:ext>
            </a:extLst>
          </p:cNvPr>
          <p:cNvSpPr/>
          <p:nvPr/>
        </p:nvSpPr>
        <p:spPr>
          <a:xfrm>
            <a:off x="375608" y="329627"/>
            <a:ext cx="5149981" cy="1200329"/>
          </a:xfrm>
          <a:prstGeom prst="rect">
            <a:avLst/>
          </a:prstGeom>
        </p:spPr>
        <p:txBody>
          <a:bodyPr wrap="square">
            <a:spAutoFit/>
          </a:bodyPr>
          <a:lstStyle/>
          <a:p>
            <a:r>
              <a:rPr lang="en-GB" sz="2400" b="1" dirty="0" smtClean="0">
                <a:solidFill>
                  <a:schemeClr val="accent6">
                    <a:lumMod val="75000"/>
                  </a:schemeClr>
                </a:solidFill>
                <a:latin typeface="Times New Roman" panose="02020603050405020304" pitchFamily="18" charset="0"/>
                <a:cs typeface="Times New Roman" panose="02020603050405020304" pitchFamily="18" charset="0"/>
              </a:rPr>
              <a:t>8th </a:t>
            </a:r>
            <a:r>
              <a:rPr lang="en-GB" sz="2400" b="1" dirty="0">
                <a:solidFill>
                  <a:schemeClr val="accent6">
                    <a:lumMod val="75000"/>
                  </a:schemeClr>
                </a:solidFill>
                <a:latin typeface="Times New Roman" panose="02020603050405020304" pitchFamily="18" charset="0"/>
                <a:cs typeface="Times New Roman" panose="02020603050405020304" pitchFamily="18" charset="0"/>
              </a:rPr>
              <a:t>IEEE international Women in Engineering (WIE) Conference on Electrical and Computer Engineering</a:t>
            </a:r>
            <a:endParaRPr lang="en-US" dirty="0">
              <a:solidFill>
                <a:schemeClr val="accent1">
                  <a:lumMod val="75000"/>
                </a:schemeClr>
              </a:solidFill>
            </a:endParaRPr>
          </a:p>
        </p:txBody>
      </p:sp>
      <p:cxnSp>
        <p:nvCxnSpPr>
          <p:cNvPr id="15" name="Straight Connector 14">
            <a:extLst>
              <a:ext uri="{FF2B5EF4-FFF2-40B4-BE49-F238E27FC236}">
                <a16:creationId xmlns:a16="http://schemas.microsoft.com/office/drawing/2014/main" id="{D41BA06D-23D9-45BB-9C23-90583987FD32}"/>
              </a:ext>
            </a:extLst>
          </p:cNvPr>
          <p:cNvCxnSpPr/>
          <p:nvPr/>
        </p:nvCxnSpPr>
        <p:spPr>
          <a:xfrm>
            <a:off x="470303" y="1487122"/>
            <a:ext cx="11319627" cy="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11E33DD-9007-4BE2-A2F4-49728346B00D}"/>
              </a:ext>
            </a:extLst>
          </p:cNvPr>
          <p:cNvSpPr/>
          <p:nvPr/>
        </p:nvSpPr>
        <p:spPr>
          <a:xfrm>
            <a:off x="6782330" y="370916"/>
            <a:ext cx="1939762" cy="584775"/>
          </a:xfrm>
          <a:prstGeom prst="rect">
            <a:avLst/>
          </a:prstGeom>
        </p:spPr>
        <p:txBody>
          <a:bodyPr wrap="none">
            <a:spAutoFit/>
          </a:bodyPr>
          <a:lstStyle/>
          <a:p>
            <a:r>
              <a:rPr lang="en-US" sz="3200" b="1" dirty="0" smtClean="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Workflow</a:t>
            </a:r>
            <a:endParaRPr lang="en-US" sz="32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TextBox 6"/>
          <p:cNvSpPr txBox="1"/>
          <p:nvPr/>
        </p:nvSpPr>
        <p:spPr>
          <a:xfrm>
            <a:off x="3918857" y="5890999"/>
            <a:ext cx="3422468" cy="369332"/>
          </a:xfrm>
          <a:prstGeom prst="rect">
            <a:avLst/>
          </a:prstGeom>
          <a:noFill/>
        </p:spPr>
        <p:txBody>
          <a:bodyPr wrap="square" rtlCol="0">
            <a:spAutoFit/>
          </a:bodyPr>
          <a:lstStyle/>
          <a:p>
            <a:r>
              <a:rPr lang="en-GB" dirty="0" smtClean="0"/>
              <a:t>Fig: Workflow of the current study</a:t>
            </a:r>
            <a:endParaRPr lang="en-GB"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20686" y="1737360"/>
            <a:ext cx="7981406" cy="3918857"/>
          </a:xfrm>
          <a:prstGeom prst="rect">
            <a:avLst/>
          </a:prstGeom>
        </p:spPr>
      </p:pic>
    </p:spTree>
    <p:extLst>
      <p:ext uri="{BB962C8B-B14F-4D97-AF65-F5344CB8AC3E}">
        <p14:creationId xmlns:p14="http://schemas.microsoft.com/office/powerpoint/2010/main" val="790387774"/>
      </p:ext>
    </p:extLst>
  </p:cSld>
  <p:clrMapOvr>
    <a:masterClrMapping/>
  </p:clrMapOvr>
  <mc:AlternateContent xmlns:mc="http://schemas.openxmlformats.org/markup-compatibility/2006" xmlns:p14="http://schemas.microsoft.com/office/powerpoint/2010/main">
    <mc:Choice Requires="p14">
      <p:transition spd="slow" p14:dur="2000" advTm="21068"/>
    </mc:Choice>
    <mc:Fallback xmlns="">
      <p:transition spd="slow" advTm="21068"/>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December </a:t>
            </a:r>
            <a:r>
              <a:rPr lang="en-US" dirty="0" smtClean="0"/>
              <a:t>31</a:t>
            </a:r>
            <a:r>
              <a:rPr lang="en-US" dirty="0" smtClean="0"/>
              <a:t>,2022</a:t>
            </a:r>
            <a:endParaRPr lang="en-US" dirty="0"/>
          </a:p>
        </p:txBody>
      </p:sp>
      <p:sp>
        <p:nvSpPr>
          <p:cNvPr id="10" name="TextBox 9"/>
          <p:cNvSpPr txBox="1"/>
          <p:nvPr/>
        </p:nvSpPr>
        <p:spPr>
          <a:xfrm>
            <a:off x="5080748" y="6373966"/>
            <a:ext cx="2728451" cy="276999"/>
          </a:xfrm>
          <a:prstGeom prst="rect">
            <a:avLst/>
          </a:prstGeom>
          <a:noFill/>
        </p:spPr>
        <p:txBody>
          <a:bodyPr wrap="square" rtlCol="0">
            <a:spAutoFit/>
          </a:bodyPr>
          <a:lstStyle/>
          <a:p>
            <a:pPr algn="just"/>
            <a:r>
              <a:rPr lang="en-US" sz="1200" dirty="0"/>
              <a:t>Paper </a:t>
            </a:r>
            <a:r>
              <a:rPr lang="en-US" sz="1200" dirty="0" smtClean="0"/>
              <a:t>ID-79</a:t>
            </a:r>
            <a:endParaRPr lang="en-US" sz="1200" dirty="0"/>
          </a:p>
        </p:txBody>
      </p:sp>
      <p:sp>
        <p:nvSpPr>
          <p:cNvPr id="11" name="Oval 10"/>
          <p:cNvSpPr/>
          <p:nvPr/>
        </p:nvSpPr>
        <p:spPr>
          <a:xfrm>
            <a:off x="11629847" y="6321196"/>
            <a:ext cx="361856" cy="4260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MS PGothic(Body)"/>
                <a:ea typeface="MS PGothic" panose="020B0600070205080204" pitchFamily="34" charset="-128"/>
              </a:rPr>
              <a:t>6</a:t>
            </a:r>
          </a:p>
        </p:txBody>
      </p:sp>
      <p:sp>
        <p:nvSpPr>
          <p:cNvPr id="5" name="Rectangle 4">
            <a:extLst>
              <a:ext uri="{FF2B5EF4-FFF2-40B4-BE49-F238E27FC236}">
                <a16:creationId xmlns:a16="http://schemas.microsoft.com/office/drawing/2014/main" id="{44E6F3D1-56F1-4704-94F2-025054E9BB45}"/>
              </a:ext>
            </a:extLst>
          </p:cNvPr>
          <p:cNvSpPr/>
          <p:nvPr/>
        </p:nvSpPr>
        <p:spPr>
          <a:xfrm>
            <a:off x="375607" y="329627"/>
            <a:ext cx="5523479" cy="1200329"/>
          </a:xfrm>
          <a:prstGeom prst="rect">
            <a:avLst/>
          </a:prstGeom>
        </p:spPr>
        <p:txBody>
          <a:bodyPr wrap="square">
            <a:spAutoFit/>
          </a:bodyPr>
          <a:lstStyle/>
          <a:p>
            <a:r>
              <a:rPr lang="en-GB" sz="2400" b="1" dirty="0" smtClean="0">
                <a:solidFill>
                  <a:schemeClr val="accent6">
                    <a:lumMod val="75000"/>
                  </a:schemeClr>
                </a:solidFill>
                <a:latin typeface="Times New Roman" panose="02020603050405020304" pitchFamily="18" charset="0"/>
                <a:cs typeface="Times New Roman" panose="02020603050405020304" pitchFamily="18" charset="0"/>
              </a:rPr>
              <a:t>8th </a:t>
            </a:r>
            <a:r>
              <a:rPr lang="en-GB" sz="2400" b="1" dirty="0">
                <a:solidFill>
                  <a:schemeClr val="accent6">
                    <a:lumMod val="75000"/>
                  </a:schemeClr>
                </a:solidFill>
                <a:latin typeface="Times New Roman" panose="02020603050405020304" pitchFamily="18" charset="0"/>
                <a:cs typeface="Times New Roman" panose="02020603050405020304" pitchFamily="18" charset="0"/>
              </a:rPr>
              <a:t>IEEE international Women in Engineering (WIE) Conference on Electrical and Computer Engineering</a:t>
            </a:r>
            <a:endParaRPr lang="en-US" dirty="0">
              <a:solidFill>
                <a:schemeClr val="accent1">
                  <a:lumMod val="75000"/>
                </a:schemeClr>
              </a:solidFill>
            </a:endParaRPr>
          </a:p>
        </p:txBody>
      </p:sp>
      <p:cxnSp>
        <p:nvCxnSpPr>
          <p:cNvPr id="15" name="Straight Connector 14">
            <a:extLst>
              <a:ext uri="{FF2B5EF4-FFF2-40B4-BE49-F238E27FC236}">
                <a16:creationId xmlns:a16="http://schemas.microsoft.com/office/drawing/2014/main" id="{D41BA06D-23D9-45BB-9C23-90583987FD32}"/>
              </a:ext>
            </a:extLst>
          </p:cNvPr>
          <p:cNvCxnSpPr/>
          <p:nvPr/>
        </p:nvCxnSpPr>
        <p:spPr>
          <a:xfrm>
            <a:off x="470302" y="1529956"/>
            <a:ext cx="11319627" cy="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11E33DD-9007-4BE2-A2F4-49728346B00D}"/>
              </a:ext>
            </a:extLst>
          </p:cNvPr>
          <p:cNvSpPr/>
          <p:nvPr/>
        </p:nvSpPr>
        <p:spPr>
          <a:xfrm>
            <a:off x="6130116" y="329627"/>
            <a:ext cx="3113160" cy="584775"/>
          </a:xfrm>
          <a:prstGeom prst="rect">
            <a:avLst/>
          </a:prstGeom>
        </p:spPr>
        <p:txBody>
          <a:bodyPr wrap="none">
            <a:spAutoFit/>
          </a:bodyPr>
          <a:lstStyle/>
          <a:p>
            <a:r>
              <a:rPr lang="en-US" sz="3200" b="1" dirty="0" smtClean="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Workflow Cont..</a:t>
            </a:r>
            <a:endParaRPr lang="en-US" sz="32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TextBox 8"/>
          <p:cNvSpPr txBox="1"/>
          <p:nvPr/>
        </p:nvSpPr>
        <p:spPr>
          <a:xfrm>
            <a:off x="838200" y="1841863"/>
            <a:ext cx="10356669" cy="4154984"/>
          </a:xfrm>
          <a:prstGeom prst="rect">
            <a:avLst/>
          </a:prstGeom>
          <a:noFill/>
        </p:spPr>
        <p:txBody>
          <a:bodyPr wrap="square" rtlCol="0">
            <a:spAutoFit/>
          </a:bodyPr>
          <a:lstStyle/>
          <a:p>
            <a:pPr marL="285750" indent="-285750" algn="just">
              <a:buFont typeface="Wingdings" panose="05000000000000000000" pitchFamily="2" charset="2"/>
              <a:buChar char="Ø"/>
            </a:pPr>
            <a:r>
              <a:rPr lang="en-GB" sz="2400" dirty="0" smtClean="0">
                <a:latin typeface="Times New Roman" panose="02020603050405020304" pitchFamily="18" charset="0"/>
                <a:cs typeface="Times New Roman" panose="02020603050405020304" pitchFamily="18" charset="0"/>
              </a:rPr>
              <a:t>The complexities of </a:t>
            </a:r>
            <a:r>
              <a:rPr lang="en-GB" sz="2400" dirty="0" smtClean="0">
                <a:latin typeface="Times New Roman" panose="02020603050405020304" pitchFamily="18" charset="0"/>
                <a:cs typeface="Times New Roman" panose="02020603050405020304" pitchFamily="18" charset="0"/>
              </a:rPr>
              <a:t>stress </a:t>
            </a:r>
            <a:r>
              <a:rPr lang="en-GB" sz="2400" dirty="0" smtClean="0">
                <a:latin typeface="Times New Roman" panose="02020603050405020304" pitchFamily="18" charset="0"/>
                <a:cs typeface="Times New Roman" panose="02020603050405020304" pitchFamily="18" charset="0"/>
              </a:rPr>
              <a:t>and </a:t>
            </a:r>
            <a:r>
              <a:rPr lang="en-GB" sz="2400" dirty="0" smtClean="0">
                <a:latin typeface="Times New Roman" panose="02020603050405020304" pitchFamily="18" charset="0"/>
                <a:cs typeface="Times New Roman" panose="02020603050405020304" pitchFamily="18" charset="0"/>
              </a:rPr>
              <a:t>depression is </a:t>
            </a:r>
            <a:r>
              <a:rPr lang="en-GB" sz="2400" dirty="0" smtClean="0">
                <a:latin typeface="Times New Roman" panose="02020603050405020304" pitchFamily="18" charset="0"/>
                <a:cs typeface="Times New Roman" panose="02020603050405020304" pitchFamily="18" charset="0"/>
              </a:rPr>
              <a:t>immense and </a:t>
            </a:r>
            <a:r>
              <a:rPr lang="en-GB" sz="2400" dirty="0">
                <a:latin typeface="Times New Roman" panose="02020603050405020304" pitchFamily="18" charset="0"/>
                <a:cs typeface="Times New Roman" panose="02020603050405020304" pitchFamily="18" charset="0"/>
              </a:rPr>
              <a:t>GSE183648 </a:t>
            </a:r>
            <a:r>
              <a:rPr lang="en-GB" sz="2400" dirty="0" smtClean="0">
                <a:latin typeface="Times New Roman" panose="02020603050405020304" pitchFamily="18" charset="0"/>
                <a:cs typeface="Times New Roman" panose="02020603050405020304" pitchFamily="18" charset="0"/>
              </a:rPr>
              <a:t>and </a:t>
            </a:r>
            <a:r>
              <a:rPr lang="en-GB" sz="2400" dirty="0">
                <a:latin typeface="Times New Roman" panose="02020603050405020304" pitchFamily="18" charset="0"/>
                <a:cs typeface="Times New Roman" panose="02020603050405020304" pitchFamily="18" charset="0"/>
              </a:rPr>
              <a:t>GSE101521 </a:t>
            </a:r>
            <a:r>
              <a:rPr lang="en-GB" sz="2400" dirty="0" smtClean="0">
                <a:latin typeface="Times New Roman" panose="02020603050405020304" pitchFamily="18" charset="0"/>
                <a:cs typeface="Times New Roman" panose="02020603050405020304" pitchFamily="18" charset="0"/>
              </a:rPr>
              <a:t>datasets are used to have a comparative genomic analysis on both </a:t>
            </a:r>
            <a:r>
              <a:rPr lang="en-GB" sz="2400" dirty="0" smtClean="0">
                <a:latin typeface="Times New Roman" panose="02020603050405020304" pitchFamily="18" charset="0"/>
                <a:cs typeface="Times New Roman" panose="02020603050405020304" pitchFamily="18" charset="0"/>
              </a:rPr>
              <a:t>stress </a:t>
            </a:r>
            <a:r>
              <a:rPr lang="en-GB" sz="2400" dirty="0" smtClean="0">
                <a:latin typeface="Times New Roman" panose="02020603050405020304" pitchFamily="18" charset="0"/>
                <a:cs typeface="Times New Roman" panose="02020603050405020304" pitchFamily="18" charset="0"/>
              </a:rPr>
              <a:t>and </a:t>
            </a:r>
            <a:r>
              <a:rPr lang="en-GB" sz="2400" dirty="0" smtClean="0">
                <a:latin typeface="Times New Roman" panose="02020603050405020304" pitchFamily="18" charset="0"/>
                <a:cs typeface="Times New Roman" panose="02020603050405020304" pitchFamily="18" charset="0"/>
              </a:rPr>
              <a:t>depression</a:t>
            </a:r>
            <a:r>
              <a:rPr lang="en-GB" sz="2400" dirty="0" smtClean="0">
                <a:latin typeface="Times New Roman" panose="02020603050405020304" pitchFamily="18" charset="0"/>
                <a:cs typeface="Times New Roman" panose="02020603050405020304" pitchFamily="18" charset="0"/>
              </a:rPr>
              <a:t>.</a:t>
            </a:r>
            <a:endParaRPr lang="en-GB" sz="2400"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 Differentially expressed genes (DEGs) were identified from both </a:t>
            </a:r>
            <a:r>
              <a:rPr lang="en-GB" sz="2400" dirty="0">
                <a:latin typeface="Times New Roman" panose="02020603050405020304" pitchFamily="18" charset="0"/>
                <a:cs typeface="Times New Roman" panose="02020603050405020304" pitchFamily="18" charset="0"/>
              </a:rPr>
              <a:t>GSE183648 and GSE101521 </a:t>
            </a:r>
            <a:r>
              <a:rPr lang="en-GB" sz="2400" dirty="0">
                <a:latin typeface="Times New Roman" panose="02020603050405020304" pitchFamily="18" charset="0"/>
                <a:cs typeface="Times New Roman" panose="02020603050405020304" pitchFamily="18" charset="0"/>
              </a:rPr>
              <a:t>datasets to identify the common genes between </a:t>
            </a:r>
            <a:r>
              <a:rPr lang="en-GB" sz="2400" dirty="0" smtClean="0">
                <a:latin typeface="Times New Roman" panose="02020603050405020304" pitchFamily="18" charset="0"/>
                <a:cs typeface="Times New Roman" panose="02020603050405020304" pitchFamily="18" charset="0"/>
              </a:rPr>
              <a:t>stress </a:t>
            </a:r>
            <a:r>
              <a:rPr lang="en-GB" sz="2400" dirty="0">
                <a:latin typeface="Times New Roman" panose="02020603050405020304" pitchFamily="18" charset="0"/>
                <a:cs typeface="Times New Roman" panose="02020603050405020304" pitchFamily="18" charset="0"/>
              </a:rPr>
              <a:t>and </a:t>
            </a:r>
            <a:r>
              <a:rPr lang="en-GB" sz="2400" dirty="0" smtClean="0">
                <a:latin typeface="Times New Roman" panose="02020603050405020304" pitchFamily="18" charset="0"/>
                <a:cs typeface="Times New Roman" panose="02020603050405020304" pitchFamily="18" charset="0"/>
              </a:rPr>
              <a:t>depression</a:t>
            </a:r>
            <a:r>
              <a:rPr lang="en-GB" sz="2400" dirty="0" smtClean="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sample</a:t>
            </a:r>
            <a:r>
              <a:rPr lang="en-GB" sz="2400"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r>
              <a:rPr lang="en-GB" sz="2400" dirty="0" smtClean="0">
                <a:latin typeface="Times New Roman" panose="02020603050405020304" pitchFamily="18" charset="0"/>
                <a:cs typeface="Times New Roman" panose="02020603050405020304" pitchFamily="18" charset="0"/>
              </a:rPr>
              <a:t>According to the common DEGs a Protein-protein interactions (PPIs) network is designed.</a:t>
            </a:r>
          </a:p>
          <a:p>
            <a:pPr marL="285750" indent="-285750" algn="just">
              <a:buFont typeface="Wingdings" panose="05000000000000000000" pitchFamily="2" charset="2"/>
              <a:buChar char="Ø"/>
            </a:pPr>
            <a:r>
              <a:rPr lang="en-GB" sz="2400" dirty="0" smtClean="0">
                <a:latin typeface="Times New Roman" panose="02020603050405020304" pitchFamily="18" charset="0"/>
                <a:cs typeface="Times New Roman" panose="02020603050405020304" pitchFamily="18" charset="0"/>
              </a:rPr>
              <a:t>Applying topological algorithms, hub nodes were identified.</a:t>
            </a:r>
          </a:p>
          <a:p>
            <a:pPr marL="285750" indent="-285750" algn="just">
              <a:buFont typeface="Wingdings" panose="05000000000000000000" pitchFamily="2" charset="2"/>
              <a:buChar char="Ø"/>
            </a:pPr>
            <a:r>
              <a:rPr lang="en-GB" sz="2400" dirty="0" smtClean="0">
                <a:latin typeface="Times New Roman" panose="02020603050405020304" pitchFamily="18" charset="0"/>
                <a:cs typeface="Times New Roman" panose="02020603050405020304" pitchFamily="18" charset="0"/>
              </a:rPr>
              <a:t>Finally the drug compounds were suggested for the corresponding common DEGs.</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1049208"/>
      </p:ext>
    </p:extLst>
  </p:cSld>
  <p:clrMapOvr>
    <a:masterClrMapping/>
  </p:clrMapOvr>
  <mc:AlternateContent xmlns:mc="http://schemas.openxmlformats.org/markup-compatibility/2006" xmlns:p14="http://schemas.microsoft.com/office/powerpoint/2010/main">
    <mc:Choice Requires="p14">
      <p:transition spd="slow" p14:dur="2000" advTm="21068"/>
    </mc:Choice>
    <mc:Fallback xmlns="">
      <p:transition spd="slow" advTm="21068"/>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December </a:t>
            </a:r>
            <a:r>
              <a:rPr lang="en-US" dirty="0" smtClean="0"/>
              <a:t>31,2022</a:t>
            </a:r>
            <a:endParaRPr lang="en-US" dirty="0"/>
          </a:p>
        </p:txBody>
      </p:sp>
      <p:sp>
        <p:nvSpPr>
          <p:cNvPr id="10" name="TextBox 9"/>
          <p:cNvSpPr txBox="1"/>
          <p:nvPr/>
        </p:nvSpPr>
        <p:spPr>
          <a:xfrm>
            <a:off x="5080748" y="6373966"/>
            <a:ext cx="2728451" cy="276999"/>
          </a:xfrm>
          <a:prstGeom prst="rect">
            <a:avLst/>
          </a:prstGeom>
          <a:noFill/>
        </p:spPr>
        <p:txBody>
          <a:bodyPr wrap="square" rtlCol="0">
            <a:spAutoFit/>
          </a:bodyPr>
          <a:lstStyle/>
          <a:p>
            <a:pPr algn="just"/>
            <a:r>
              <a:rPr lang="en-US" sz="1200" dirty="0"/>
              <a:t>Paper </a:t>
            </a:r>
            <a:r>
              <a:rPr lang="en-US" sz="1200" dirty="0" smtClean="0"/>
              <a:t>ID-79</a:t>
            </a:r>
            <a:endParaRPr lang="en-US" sz="1200" dirty="0"/>
          </a:p>
        </p:txBody>
      </p:sp>
      <p:sp>
        <p:nvSpPr>
          <p:cNvPr id="11" name="Oval 10"/>
          <p:cNvSpPr/>
          <p:nvPr/>
        </p:nvSpPr>
        <p:spPr>
          <a:xfrm>
            <a:off x="11629847" y="6321196"/>
            <a:ext cx="391614" cy="4260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MS PGothic(Body)"/>
                <a:ea typeface="MS PGothic" panose="020B0600070205080204" pitchFamily="34" charset="-128"/>
              </a:rPr>
              <a:t>7</a:t>
            </a:r>
          </a:p>
        </p:txBody>
      </p:sp>
      <p:sp>
        <p:nvSpPr>
          <p:cNvPr id="5" name="Rectangle 4">
            <a:extLst>
              <a:ext uri="{FF2B5EF4-FFF2-40B4-BE49-F238E27FC236}">
                <a16:creationId xmlns:a16="http://schemas.microsoft.com/office/drawing/2014/main" id="{44E6F3D1-56F1-4704-94F2-025054E9BB45}"/>
              </a:ext>
            </a:extLst>
          </p:cNvPr>
          <p:cNvSpPr/>
          <p:nvPr/>
        </p:nvSpPr>
        <p:spPr>
          <a:xfrm>
            <a:off x="375607" y="329627"/>
            <a:ext cx="5581056" cy="1200329"/>
          </a:xfrm>
          <a:prstGeom prst="rect">
            <a:avLst/>
          </a:prstGeom>
        </p:spPr>
        <p:txBody>
          <a:bodyPr wrap="square">
            <a:spAutoFit/>
          </a:bodyPr>
          <a:lstStyle/>
          <a:p>
            <a:r>
              <a:rPr lang="en-GB" sz="2400" b="1" dirty="0" smtClean="0">
                <a:solidFill>
                  <a:schemeClr val="accent6">
                    <a:lumMod val="75000"/>
                  </a:schemeClr>
                </a:solidFill>
                <a:latin typeface="Times New Roman" panose="02020603050405020304" pitchFamily="18" charset="0"/>
                <a:cs typeface="Times New Roman" panose="02020603050405020304" pitchFamily="18" charset="0"/>
              </a:rPr>
              <a:t>8th </a:t>
            </a:r>
            <a:r>
              <a:rPr lang="en-GB" sz="2400" b="1" dirty="0">
                <a:solidFill>
                  <a:schemeClr val="accent6">
                    <a:lumMod val="75000"/>
                  </a:schemeClr>
                </a:solidFill>
                <a:latin typeface="Times New Roman" panose="02020603050405020304" pitchFamily="18" charset="0"/>
                <a:cs typeface="Times New Roman" panose="02020603050405020304" pitchFamily="18" charset="0"/>
              </a:rPr>
              <a:t>IEEE international Women in Engineering (WIE) Conference on Electrical and Computer Engineering</a:t>
            </a:r>
            <a:endParaRPr lang="en-US" sz="2400" b="1" dirty="0">
              <a:solidFill>
                <a:schemeClr val="accent6">
                  <a:lumMod val="75000"/>
                </a:schemeClr>
              </a:solidFill>
              <a:latin typeface="Times New Roman" panose="02020603050405020304" pitchFamily="18" charset="0"/>
              <a:cs typeface="Times New Roman" panose="02020603050405020304" pitchFamily="18" charset="0"/>
            </a:endParaRPr>
          </a:p>
        </p:txBody>
      </p:sp>
      <p:cxnSp>
        <p:nvCxnSpPr>
          <p:cNvPr id="15" name="Straight Connector 14">
            <a:extLst>
              <a:ext uri="{FF2B5EF4-FFF2-40B4-BE49-F238E27FC236}">
                <a16:creationId xmlns:a16="http://schemas.microsoft.com/office/drawing/2014/main" id="{D41BA06D-23D9-45BB-9C23-90583987FD32}"/>
              </a:ext>
            </a:extLst>
          </p:cNvPr>
          <p:cNvCxnSpPr/>
          <p:nvPr/>
        </p:nvCxnSpPr>
        <p:spPr>
          <a:xfrm>
            <a:off x="470302" y="1529956"/>
            <a:ext cx="11319627" cy="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11E33DD-9007-4BE2-A2F4-49728346B00D}"/>
              </a:ext>
            </a:extLst>
          </p:cNvPr>
          <p:cNvSpPr/>
          <p:nvPr/>
        </p:nvSpPr>
        <p:spPr>
          <a:xfrm>
            <a:off x="6130116" y="329627"/>
            <a:ext cx="2738250" cy="584775"/>
          </a:xfrm>
          <a:prstGeom prst="rect">
            <a:avLst/>
          </a:prstGeom>
        </p:spPr>
        <p:txBody>
          <a:bodyPr wrap="none">
            <a:spAutoFit/>
          </a:bodyPr>
          <a:lstStyle/>
          <a:p>
            <a:r>
              <a:rPr lang="en-US" sz="3200" b="1" dirty="0" smtClean="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Methodologies</a:t>
            </a:r>
            <a:endParaRPr lang="en-US" sz="32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Box 5"/>
          <p:cNvSpPr txBox="1"/>
          <p:nvPr/>
        </p:nvSpPr>
        <p:spPr>
          <a:xfrm>
            <a:off x="1060269" y="1834906"/>
            <a:ext cx="5784669" cy="523220"/>
          </a:xfrm>
          <a:prstGeom prst="rect">
            <a:avLst/>
          </a:prstGeom>
          <a:noFill/>
        </p:spPr>
        <p:txBody>
          <a:bodyPr wrap="square" rtlCol="0">
            <a:spAutoFit/>
          </a:bodyPr>
          <a:lstStyle/>
          <a:p>
            <a:r>
              <a:rPr lang="en-GB" sz="2800" b="1" dirty="0" smtClean="0">
                <a:latin typeface="Times New Roman" panose="02020603050405020304" pitchFamily="18" charset="0"/>
                <a:cs typeface="Times New Roman" panose="02020603050405020304" pitchFamily="18" charset="0"/>
              </a:rPr>
              <a:t>Information of datasets</a:t>
            </a:r>
            <a:endParaRPr lang="en-GB"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838200" y="2542947"/>
            <a:ext cx="9927772" cy="3016210"/>
          </a:xfrm>
          <a:prstGeom prst="rect">
            <a:avLst/>
          </a:prstGeom>
          <a:noFill/>
        </p:spPr>
        <p:txBody>
          <a:bodyPr wrap="square" rtlCol="0">
            <a:spAutoFit/>
          </a:bodyPr>
          <a:lstStyle/>
          <a:p>
            <a:pPr marL="285750" indent="-285750">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GSE183648 and GSE101521 </a:t>
            </a:r>
            <a:r>
              <a:rPr lang="en-GB" sz="2400" dirty="0">
                <a:latin typeface="Times New Roman" panose="02020603050405020304" pitchFamily="18" charset="0"/>
                <a:cs typeface="Times New Roman" panose="02020603050405020304" pitchFamily="18" charset="0"/>
              </a:rPr>
              <a:t>datasets are used to, which have been obtained from Gene Expression Omnibus (GEO) database</a:t>
            </a:r>
            <a:r>
              <a:rPr lang="en-GB" sz="2400" dirty="0" smtClean="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Ø"/>
            </a:pPr>
            <a:r>
              <a:rPr lang="en-GB" sz="2400" dirty="0" smtClean="0">
                <a:latin typeface="Times New Roman" panose="02020603050405020304" pitchFamily="18" charset="0"/>
                <a:cs typeface="Times New Roman" panose="02020603050405020304" pitchFamily="18" charset="0"/>
              </a:rPr>
              <a:t>GEO database contains microarray and high throughput sequencing datasets, which is under </a:t>
            </a:r>
            <a:r>
              <a:rPr lang="en-GB" sz="2400" dirty="0">
                <a:latin typeface="Times New Roman" panose="02020603050405020304" pitchFamily="18" charset="0"/>
                <a:cs typeface="Times New Roman" panose="02020603050405020304" pitchFamily="18" charset="0"/>
              </a:rPr>
              <a:t>the platform of National </a:t>
            </a:r>
            <a:r>
              <a:rPr lang="en-GB" sz="2400" dirty="0" err="1">
                <a:latin typeface="Times New Roman" panose="02020603050405020304" pitchFamily="18" charset="0"/>
                <a:cs typeface="Times New Roman" panose="02020603050405020304" pitchFamily="18" charset="0"/>
              </a:rPr>
              <a:t>Center</a:t>
            </a:r>
            <a:r>
              <a:rPr lang="en-GB" sz="2400" dirty="0">
                <a:latin typeface="Times New Roman" panose="02020603050405020304" pitchFamily="18" charset="0"/>
                <a:cs typeface="Times New Roman" panose="02020603050405020304" pitchFamily="18" charset="0"/>
              </a:rPr>
              <a:t> for Biotechnology Information (NCBI</a:t>
            </a:r>
            <a:r>
              <a:rPr lang="en-GB" sz="2400" dirty="0" smtClean="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Ø"/>
            </a:pPr>
            <a:r>
              <a:rPr lang="en-GB" sz="2400" dirty="0" smtClean="0">
                <a:latin typeface="Times New Roman" panose="02020603050405020304" pitchFamily="18" charset="0"/>
                <a:cs typeface="Times New Roman" panose="02020603050405020304" pitchFamily="18" charset="0"/>
              </a:rPr>
              <a:t>GSE183648 </a:t>
            </a:r>
            <a:r>
              <a:rPr lang="en-GB" sz="2400" dirty="0" smtClean="0">
                <a:latin typeface="Times New Roman" panose="02020603050405020304" pitchFamily="18" charset="0"/>
                <a:cs typeface="Times New Roman" panose="02020603050405020304" pitchFamily="18" charset="0"/>
              </a:rPr>
              <a:t>that </a:t>
            </a:r>
            <a:r>
              <a:rPr lang="en-GB" sz="2400" dirty="0" smtClean="0">
                <a:latin typeface="Times New Roman" panose="02020603050405020304" pitchFamily="18" charset="0"/>
                <a:cs typeface="Times New Roman" panose="02020603050405020304" pitchFamily="18" charset="0"/>
              </a:rPr>
              <a:t>shows the complex infected samples of </a:t>
            </a:r>
            <a:r>
              <a:rPr lang="en-GB" sz="2400" dirty="0" smtClean="0">
                <a:latin typeface="Times New Roman" panose="02020603050405020304" pitchFamily="18" charset="0"/>
                <a:cs typeface="Times New Roman" panose="02020603050405020304" pitchFamily="18" charset="0"/>
              </a:rPr>
              <a:t>stress </a:t>
            </a:r>
            <a:r>
              <a:rPr lang="en-GB" sz="2400" dirty="0" smtClean="0">
                <a:latin typeface="Times New Roman" panose="02020603050405020304" pitchFamily="18" charset="0"/>
                <a:cs typeface="Times New Roman" panose="02020603050405020304" pitchFamily="18" charset="0"/>
              </a:rPr>
              <a:t>sample and </a:t>
            </a:r>
            <a:r>
              <a:rPr lang="en-GB" sz="2400" dirty="0">
                <a:latin typeface="Times New Roman" panose="02020603050405020304" pitchFamily="18" charset="0"/>
                <a:cs typeface="Times New Roman" panose="02020603050405020304" pitchFamily="18" charset="0"/>
              </a:rPr>
              <a:t>GSE101521 </a:t>
            </a:r>
            <a:r>
              <a:rPr lang="en-GB" sz="2400" dirty="0" smtClean="0">
                <a:latin typeface="Times New Roman" panose="02020603050405020304" pitchFamily="18" charset="0"/>
                <a:cs typeface="Times New Roman" panose="02020603050405020304" pitchFamily="18" charset="0"/>
              </a:rPr>
              <a:t>represents </a:t>
            </a:r>
            <a:r>
              <a:rPr lang="en-GB" sz="2400" dirty="0" smtClean="0">
                <a:latin typeface="Times New Roman" panose="02020603050405020304" pitchFamily="18" charset="0"/>
                <a:cs typeface="Times New Roman" panose="02020603050405020304" pitchFamily="18" charset="0"/>
              </a:rPr>
              <a:t>depression patient </a:t>
            </a:r>
            <a:r>
              <a:rPr lang="en-GB" sz="2400" dirty="0" smtClean="0">
                <a:latin typeface="Times New Roman" panose="02020603050405020304" pitchFamily="18" charset="0"/>
                <a:cs typeface="Times New Roman" panose="02020603050405020304" pitchFamily="18" charset="0"/>
              </a:rPr>
              <a:t>sample.</a:t>
            </a:r>
          </a:p>
          <a:p>
            <a:pPr marL="285750" indent="-285750">
              <a:buFont typeface="Wingdings" panose="05000000000000000000" pitchFamily="2" charset="2"/>
              <a:buChar char="Ø"/>
            </a:pPr>
            <a:endParaRPr lang="en-GB" dirty="0"/>
          </a:p>
        </p:txBody>
      </p:sp>
    </p:spTree>
    <p:extLst>
      <p:ext uri="{BB962C8B-B14F-4D97-AF65-F5344CB8AC3E}">
        <p14:creationId xmlns:p14="http://schemas.microsoft.com/office/powerpoint/2010/main" val="1551556859"/>
      </p:ext>
    </p:extLst>
  </p:cSld>
  <p:clrMapOvr>
    <a:masterClrMapping/>
  </p:clrMapOvr>
  <mc:AlternateContent xmlns:mc="http://schemas.openxmlformats.org/markup-compatibility/2006" xmlns:p14="http://schemas.microsoft.com/office/powerpoint/2010/main">
    <mc:Choice Requires="p14">
      <p:transition spd="slow" p14:dur="2000" advTm="21068"/>
    </mc:Choice>
    <mc:Fallback xmlns="">
      <p:transition spd="slow" advTm="21068"/>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December </a:t>
            </a:r>
            <a:r>
              <a:rPr lang="en-US" dirty="0" smtClean="0"/>
              <a:t>31</a:t>
            </a:r>
            <a:r>
              <a:rPr lang="en-US" dirty="0" smtClean="0"/>
              <a:t>,2022</a:t>
            </a:r>
            <a:endParaRPr lang="en-US" dirty="0"/>
          </a:p>
        </p:txBody>
      </p:sp>
      <p:sp>
        <p:nvSpPr>
          <p:cNvPr id="10" name="TextBox 9"/>
          <p:cNvSpPr txBox="1"/>
          <p:nvPr/>
        </p:nvSpPr>
        <p:spPr>
          <a:xfrm>
            <a:off x="5080748" y="6373966"/>
            <a:ext cx="2728451" cy="276999"/>
          </a:xfrm>
          <a:prstGeom prst="rect">
            <a:avLst/>
          </a:prstGeom>
          <a:noFill/>
        </p:spPr>
        <p:txBody>
          <a:bodyPr wrap="square" rtlCol="0">
            <a:spAutoFit/>
          </a:bodyPr>
          <a:lstStyle/>
          <a:p>
            <a:pPr algn="just"/>
            <a:r>
              <a:rPr lang="en-US" sz="1200" dirty="0"/>
              <a:t>Paper </a:t>
            </a:r>
            <a:r>
              <a:rPr lang="en-US" sz="1200" dirty="0" smtClean="0"/>
              <a:t>ID-79</a:t>
            </a:r>
            <a:endParaRPr lang="en-US" sz="1200" dirty="0"/>
          </a:p>
        </p:txBody>
      </p:sp>
      <p:sp>
        <p:nvSpPr>
          <p:cNvPr id="11" name="Oval 10"/>
          <p:cNvSpPr/>
          <p:nvPr/>
        </p:nvSpPr>
        <p:spPr>
          <a:xfrm>
            <a:off x="11629847" y="6321196"/>
            <a:ext cx="391614" cy="4260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MS PGothic(Body)"/>
                <a:ea typeface="MS PGothic" panose="020B0600070205080204" pitchFamily="34" charset="-128"/>
              </a:rPr>
              <a:t>8</a:t>
            </a:r>
          </a:p>
        </p:txBody>
      </p:sp>
      <p:sp>
        <p:nvSpPr>
          <p:cNvPr id="5" name="Rectangle 4">
            <a:extLst>
              <a:ext uri="{FF2B5EF4-FFF2-40B4-BE49-F238E27FC236}">
                <a16:creationId xmlns:a16="http://schemas.microsoft.com/office/drawing/2014/main" id="{44E6F3D1-56F1-4704-94F2-025054E9BB45}"/>
              </a:ext>
            </a:extLst>
          </p:cNvPr>
          <p:cNvSpPr/>
          <p:nvPr/>
        </p:nvSpPr>
        <p:spPr>
          <a:xfrm>
            <a:off x="375607" y="329627"/>
            <a:ext cx="5523479" cy="1200329"/>
          </a:xfrm>
          <a:prstGeom prst="rect">
            <a:avLst/>
          </a:prstGeom>
        </p:spPr>
        <p:txBody>
          <a:bodyPr wrap="square">
            <a:spAutoFit/>
          </a:bodyPr>
          <a:lstStyle/>
          <a:p>
            <a:r>
              <a:rPr lang="en-GB" sz="2400" b="1" dirty="0" smtClean="0">
                <a:solidFill>
                  <a:schemeClr val="accent6">
                    <a:lumMod val="75000"/>
                  </a:schemeClr>
                </a:solidFill>
                <a:latin typeface="Times New Roman" panose="02020603050405020304" pitchFamily="18" charset="0"/>
                <a:cs typeface="Times New Roman" panose="02020603050405020304" pitchFamily="18" charset="0"/>
              </a:rPr>
              <a:t>8th </a:t>
            </a:r>
            <a:r>
              <a:rPr lang="en-GB" sz="2400" b="1" dirty="0">
                <a:solidFill>
                  <a:schemeClr val="accent6">
                    <a:lumMod val="75000"/>
                  </a:schemeClr>
                </a:solidFill>
                <a:latin typeface="Times New Roman" panose="02020603050405020304" pitchFamily="18" charset="0"/>
                <a:cs typeface="Times New Roman" panose="02020603050405020304" pitchFamily="18" charset="0"/>
              </a:rPr>
              <a:t>IEEE international Women in Engineering (WIE) Conference on Electrical and Computer Engineering</a:t>
            </a:r>
            <a:endParaRPr lang="en-US" dirty="0">
              <a:solidFill>
                <a:schemeClr val="accent1">
                  <a:lumMod val="75000"/>
                </a:schemeClr>
              </a:solidFill>
            </a:endParaRPr>
          </a:p>
        </p:txBody>
      </p:sp>
      <p:cxnSp>
        <p:nvCxnSpPr>
          <p:cNvPr id="15" name="Straight Connector 14">
            <a:extLst>
              <a:ext uri="{FF2B5EF4-FFF2-40B4-BE49-F238E27FC236}">
                <a16:creationId xmlns:a16="http://schemas.microsoft.com/office/drawing/2014/main" id="{D41BA06D-23D9-45BB-9C23-90583987FD32}"/>
              </a:ext>
            </a:extLst>
          </p:cNvPr>
          <p:cNvCxnSpPr/>
          <p:nvPr/>
        </p:nvCxnSpPr>
        <p:spPr>
          <a:xfrm>
            <a:off x="483366" y="1529956"/>
            <a:ext cx="11319627" cy="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11E33DD-9007-4BE2-A2F4-49728346B00D}"/>
              </a:ext>
            </a:extLst>
          </p:cNvPr>
          <p:cNvSpPr/>
          <p:nvPr/>
        </p:nvSpPr>
        <p:spPr>
          <a:xfrm>
            <a:off x="5307156" y="373304"/>
            <a:ext cx="3911648" cy="584775"/>
          </a:xfrm>
          <a:prstGeom prst="rect">
            <a:avLst/>
          </a:prstGeom>
        </p:spPr>
        <p:txBody>
          <a:bodyPr wrap="none">
            <a:spAutoFit/>
          </a:bodyPr>
          <a:lstStyle/>
          <a:p>
            <a:r>
              <a:rPr lang="en-US" sz="3200" b="1" dirty="0" smtClean="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Methodologies Cont..</a:t>
            </a:r>
            <a:endParaRPr lang="en-US" sz="32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Box 5"/>
          <p:cNvSpPr txBox="1"/>
          <p:nvPr/>
        </p:nvSpPr>
        <p:spPr>
          <a:xfrm>
            <a:off x="838200" y="1753433"/>
            <a:ext cx="6748930" cy="523220"/>
          </a:xfrm>
          <a:prstGeom prst="rect">
            <a:avLst/>
          </a:prstGeom>
          <a:noFill/>
        </p:spPr>
        <p:txBody>
          <a:bodyPr wrap="square" rtlCol="0">
            <a:spAutoFit/>
          </a:bodyPr>
          <a:lstStyle/>
          <a:p>
            <a:r>
              <a:rPr lang="en-GB" sz="2800" b="1" dirty="0" smtClean="0">
                <a:latin typeface="Times New Roman" panose="02020603050405020304" pitchFamily="18" charset="0"/>
                <a:cs typeface="Times New Roman" panose="02020603050405020304" pitchFamily="18" charset="0"/>
              </a:rPr>
              <a:t>Identification of DEGs and common gene</a:t>
            </a:r>
            <a:endParaRPr lang="en-GB"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838200" y="2609879"/>
            <a:ext cx="10773508" cy="3046988"/>
          </a:xfrm>
          <a:prstGeom prst="rect">
            <a:avLst/>
          </a:prstGeom>
          <a:noFill/>
        </p:spPr>
        <p:txBody>
          <a:bodyPr wrap="square" rtlCol="0">
            <a:spAutoFit/>
          </a:bodyPr>
          <a:lstStyle/>
          <a:p>
            <a:pPr marL="285750" indent="-285750" algn="just">
              <a:buFont typeface="Wingdings" panose="05000000000000000000" pitchFamily="2" charset="2"/>
              <a:buChar char="Ø"/>
            </a:pPr>
            <a:r>
              <a:rPr lang="en-GB" sz="2400" dirty="0" smtClean="0">
                <a:latin typeface="Times New Roman" panose="02020603050405020304" pitchFamily="18" charset="0"/>
                <a:cs typeface="Times New Roman" panose="02020603050405020304" pitchFamily="18" charset="0"/>
              </a:rPr>
              <a:t>GEO2R tool that uses </a:t>
            </a:r>
            <a:r>
              <a:rPr lang="en-GB" sz="2400" dirty="0" err="1" smtClean="0">
                <a:latin typeface="Times New Roman" panose="02020603050405020304" pitchFamily="18" charset="0"/>
                <a:cs typeface="Times New Roman" panose="02020603050405020304" pitchFamily="18" charset="0"/>
              </a:rPr>
              <a:t>limma</a:t>
            </a:r>
            <a:r>
              <a:rPr lang="en-GB" sz="2400" dirty="0" smtClean="0">
                <a:latin typeface="Times New Roman" panose="02020603050405020304" pitchFamily="18" charset="0"/>
                <a:cs typeface="Times New Roman" panose="02020603050405020304" pitchFamily="18" charset="0"/>
              </a:rPr>
              <a:t> package of R programming language is used to identify the DEGs </a:t>
            </a:r>
            <a:r>
              <a:rPr lang="en-GB" sz="2400" dirty="0">
                <a:latin typeface="Times New Roman" panose="02020603050405020304" pitchFamily="18" charset="0"/>
                <a:cs typeface="Times New Roman" panose="02020603050405020304" pitchFamily="18" charset="0"/>
              </a:rPr>
              <a:t>for </a:t>
            </a:r>
            <a:r>
              <a:rPr lang="en-GB" sz="2400" dirty="0">
                <a:latin typeface="Times New Roman" panose="02020603050405020304" pitchFamily="18" charset="0"/>
                <a:cs typeface="Times New Roman" panose="02020603050405020304" pitchFamily="18" charset="0"/>
              </a:rPr>
              <a:t>GSE183648 and GSE101521 </a:t>
            </a:r>
            <a:r>
              <a:rPr lang="en-GB" sz="2400" dirty="0" smtClean="0">
                <a:latin typeface="Times New Roman" panose="02020603050405020304" pitchFamily="18" charset="0"/>
                <a:cs typeface="Times New Roman" panose="02020603050405020304" pitchFamily="18" charset="0"/>
              </a:rPr>
              <a:t>datasets.</a:t>
            </a:r>
          </a:p>
          <a:p>
            <a:pPr marL="285750" indent="-285750" algn="just">
              <a:buFont typeface="Wingdings" panose="05000000000000000000" pitchFamily="2" charset="2"/>
              <a:buChar char="Ø"/>
            </a:pPr>
            <a:r>
              <a:rPr lang="en-GB" sz="2400" dirty="0" smtClean="0">
                <a:latin typeface="Times New Roman" panose="02020603050405020304" pitchFamily="18" charset="0"/>
                <a:cs typeface="Times New Roman" panose="02020603050405020304" pitchFamily="18" charset="0"/>
              </a:rPr>
              <a:t>Adjusted p-value &lt; 0.05 and log2 fold change (absolute) &gt; 1.0 were used as a </a:t>
            </a:r>
            <a:r>
              <a:rPr lang="en-GB" sz="2400" dirty="0" err="1" smtClean="0">
                <a:latin typeface="Times New Roman" panose="02020603050405020304" pitchFamily="18" charset="0"/>
                <a:cs typeface="Times New Roman" panose="02020603050405020304" pitchFamily="18" charset="0"/>
              </a:rPr>
              <a:t>preprocessing</a:t>
            </a:r>
            <a:r>
              <a:rPr lang="en-GB" sz="2400" dirty="0" smtClean="0">
                <a:latin typeface="Times New Roman" panose="02020603050405020304" pitchFamily="18" charset="0"/>
                <a:cs typeface="Times New Roman" panose="02020603050405020304" pitchFamily="18" charset="0"/>
              </a:rPr>
              <a:t> steps for both the datasets as a </a:t>
            </a:r>
            <a:r>
              <a:rPr lang="en-GB" sz="2400" dirty="0" err="1" smtClean="0">
                <a:latin typeface="Times New Roman" panose="02020603050405020304" pitchFamily="18" charset="0"/>
                <a:cs typeface="Times New Roman" panose="02020603050405020304" pitchFamily="18" charset="0"/>
              </a:rPr>
              <a:t>cutoff</a:t>
            </a:r>
            <a:r>
              <a:rPr lang="en-GB" sz="2400" dirty="0" smtClean="0">
                <a:latin typeface="Times New Roman" panose="02020603050405020304" pitchFamily="18" charset="0"/>
                <a:cs typeface="Times New Roman" panose="02020603050405020304" pitchFamily="18" charset="0"/>
              </a:rPr>
              <a:t> criteria.</a:t>
            </a:r>
            <a:endParaRPr lang="en-GB" dirty="0" smtClean="0"/>
          </a:p>
          <a:p>
            <a:pPr marL="285750" indent="-285750" algn="just">
              <a:buFont typeface="Wingdings" panose="05000000000000000000" pitchFamily="2" charset="2"/>
              <a:buChar char="Ø"/>
            </a:pPr>
            <a:r>
              <a:rPr lang="en-GB" sz="2400" dirty="0" err="1" smtClean="0">
                <a:latin typeface="Times New Roman" panose="02020603050405020304" pitchFamily="18" charset="0"/>
                <a:cs typeface="Times New Roman" panose="02020603050405020304" pitchFamily="18" charset="0"/>
              </a:rPr>
              <a:t>Benjamini</a:t>
            </a:r>
            <a:r>
              <a:rPr lang="en-GB" sz="2400" dirty="0" smtClean="0">
                <a:latin typeface="Times New Roman" panose="02020603050405020304" pitchFamily="18" charset="0"/>
                <a:cs typeface="Times New Roman" panose="02020603050405020304" pitchFamily="18" charset="0"/>
              </a:rPr>
              <a:t>-Hochberg </a:t>
            </a:r>
            <a:r>
              <a:rPr lang="en-GB" sz="2400" dirty="0">
                <a:latin typeface="Times New Roman" panose="02020603050405020304" pitchFamily="18" charset="0"/>
                <a:cs typeface="Times New Roman" panose="02020603050405020304" pitchFamily="18" charset="0"/>
              </a:rPr>
              <a:t>was accomplished as a false discovery rate (FDR) handling methodology</a:t>
            </a:r>
            <a:r>
              <a:rPr lang="en-GB" sz="2400"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r>
              <a:rPr lang="en-GB" sz="2400" dirty="0" smtClean="0">
                <a:latin typeface="Times New Roman" panose="02020603050405020304" pitchFamily="18" charset="0"/>
                <a:cs typeface="Times New Roman" panose="02020603050405020304" pitchFamily="18" charset="0"/>
              </a:rPr>
              <a:t>After the identification of DEGs, the common DEGs between </a:t>
            </a:r>
            <a:r>
              <a:rPr lang="en-GB" sz="2400" dirty="0">
                <a:latin typeface="Times New Roman" panose="02020603050405020304" pitchFamily="18" charset="0"/>
                <a:cs typeface="Times New Roman" panose="02020603050405020304" pitchFamily="18" charset="0"/>
              </a:rPr>
              <a:t>GSE183648 and GSE101521 </a:t>
            </a:r>
            <a:r>
              <a:rPr lang="en-GB" sz="2400" dirty="0" smtClean="0">
                <a:latin typeface="Times New Roman" panose="02020603050405020304" pitchFamily="18" charset="0"/>
                <a:cs typeface="Times New Roman" panose="02020603050405020304" pitchFamily="18" charset="0"/>
              </a:rPr>
              <a:t>datasets were achieved using R programming language.</a:t>
            </a:r>
          </a:p>
        </p:txBody>
      </p:sp>
    </p:spTree>
    <p:extLst>
      <p:ext uri="{BB962C8B-B14F-4D97-AF65-F5344CB8AC3E}">
        <p14:creationId xmlns:p14="http://schemas.microsoft.com/office/powerpoint/2010/main" val="3379399545"/>
      </p:ext>
    </p:extLst>
  </p:cSld>
  <p:clrMapOvr>
    <a:masterClrMapping/>
  </p:clrMapOvr>
  <mc:AlternateContent xmlns:mc="http://schemas.openxmlformats.org/markup-compatibility/2006" xmlns:p14="http://schemas.microsoft.com/office/powerpoint/2010/main">
    <mc:Choice Requires="p14">
      <p:transition spd="slow" p14:dur="2000" advTm="21068"/>
    </mc:Choice>
    <mc:Fallback xmlns="">
      <p:transition spd="slow" advTm="21068"/>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December </a:t>
            </a:r>
            <a:r>
              <a:rPr lang="en-US" dirty="0" smtClean="0"/>
              <a:t>31</a:t>
            </a:r>
            <a:r>
              <a:rPr lang="en-US" dirty="0" smtClean="0"/>
              <a:t>,2022</a:t>
            </a:r>
            <a:endParaRPr lang="en-US" dirty="0"/>
          </a:p>
        </p:txBody>
      </p:sp>
      <p:sp>
        <p:nvSpPr>
          <p:cNvPr id="10" name="TextBox 9"/>
          <p:cNvSpPr txBox="1"/>
          <p:nvPr/>
        </p:nvSpPr>
        <p:spPr>
          <a:xfrm>
            <a:off x="5080748" y="6373966"/>
            <a:ext cx="2728451" cy="276999"/>
          </a:xfrm>
          <a:prstGeom prst="rect">
            <a:avLst/>
          </a:prstGeom>
          <a:noFill/>
        </p:spPr>
        <p:txBody>
          <a:bodyPr wrap="square" rtlCol="0">
            <a:spAutoFit/>
          </a:bodyPr>
          <a:lstStyle/>
          <a:p>
            <a:pPr algn="just"/>
            <a:r>
              <a:rPr lang="en-US" sz="1200" dirty="0"/>
              <a:t>Paper </a:t>
            </a:r>
            <a:r>
              <a:rPr lang="en-US" sz="1200" dirty="0" smtClean="0"/>
              <a:t>ID-79</a:t>
            </a:r>
            <a:endParaRPr lang="en-US" sz="1200" dirty="0"/>
          </a:p>
        </p:txBody>
      </p:sp>
      <p:sp>
        <p:nvSpPr>
          <p:cNvPr id="11" name="Oval 10"/>
          <p:cNvSpPr/>
          <p:nvPr/>
        </p:nvSpPr>
        <p:spPr>
          <a:xfrm>
            <a:off x="11629847" y="6321196"/>
            <a:ext cx="391614" cy="4260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MS PGothic(Body)"/>
                <a:ea typeface="MS PGothic" panose="020B0600070205080204" pitchFamily="34" charset="-128"/>
              </a:rPr>
              <a:t>9</a:t>
            </a:r>
          </a:p>
        </p:txBody>
      </p:sp>
      <p:sp>
        <p:nvSpPr>
          <p:cNvPr id="5" name="Rectangle 4">
            <a:extLst>
              <a:ext uri="{FF2B5EF4-FFF2-40B4-BE49-F238E27FC236}">
                <a16:creationId xmlns:a16="http://schemas.microsoft.com/office/drawing/2014/main" id="{44E6F3D1-56F1-4704-94F2-025054E9BB45}"/>
              </a:ext>
            </a:extLst>
          </p:cNvPr>
          <p:cNvSpPr/>
          <p:nvPr/>
        </p:nvSpPr>
        <p:spPr>
          <a:xfrm>
            <a:off x="375607" y="329627"/>
            <a:ext cx="5523479" cy="1200329"/>
          </a:xfrm>
          <a:prstGeom prst="rect">
            <a:avLst/>
          </a:prstGeom>
        </p:spPr>
        <p:txBody>
          <a:bodyPr wrap="square">
            <a:spAutoFit/>
          </a:bodyPr>
          <a:lstStyle/>
          <a:p>
            <a:r>
              <a:rPr lang="en-GB" sz="2400" b="1" dirty="0" smtClean="0">
                <a:solidFill>
                  <a:schemeClr val="accent6">
                    <a:lumMod val="75000"/>
                  </a:schemeClr>
                </a:solidFill>
                <a:latin typeface="Times New Roman" panose="02020603050405020304" pitchFamily="18" charset="0"/>
                <a:cs typeface="Times New Roman" panose="02020603050405020304" pitchFamily="18" charset="0"/>
              </a:rPr>
              <a:t>8th </a:t>
            </a:r>
            <a:r>
              <a:rPr lang="en-GB" sz="2400" b="1" dirty="0">
                <a:solidFill>
                  <a:schemeClr val="accent6">
                    <a:lumMod val="75000"/>
                  </a:schemeClr>
                </a:solidFill>
                <a:latin typeface="Times New Roman" panose="02020603050405020304" pitchFamily="18" charset="0"/>
                <a:cs typeface="Times New Roman" panose="02020603050405020304" pitchFamily="18" charset="0"/>
              </a:rPr>
              <a:t>IEEE international Women in Engineering (WIE) Conference on Electrical and Computer Engineering</a:t>
            </a:r>
            <a:endParaRPr lang="en-US" dirty="0">
              <a:solidFill>
                <a:schemeClr val="accent1">
                  <a:lumMod val="75000"/>
                </a:schemeClr>
              </a:solidFill>
            </a:endParaRPr>
          </a:p>
        </p:txBody>
      </p:sp>
      <p:cxnSp>
        <p:nvCxnSpPr>
          <p:cNvPr id="15" name="Straight Connector 14">
            <a:extLst>
              <a:ext uri="{FF2B5EF4-FFF2-40B4-BE49-F238E27FC236}">
                <a16:creationId xmlns:a16="http://schemas.microsoft.com/office/drawing/2014/main" id="{D41BA06D-23D9-45BB-9C23-90583987FD32}"/>
              </a:ext>
            </a:extLst>
          </p:cNvPr>
          <p:cNvCxnSpPr/>
          <p:nvPr/>
        </p:nvCxnSpPr>
        <p:spPr>
          <a:xfrm>
            <a:off x="496429" y="1558319"/>
            <a:ext cx="11319627" cy="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11E33DD-9007-4BE2-A2F4-49728346B00D}"/>
              </a:ext>
            </a:extLst>
          </p:cNvPr>
          <p:cNvSpPr/>
          <p:nvPr/>
        </p:nvSpPr>
        <p:spPr>
          <a:xfrm>
            <a:off x="5620665" y="488079"/>
            <a:ext cx="3911648" cy="584775"/>
          </a:xfrm>
          <a:prstGeom prst="rect">
            <a:avLst/>
          </a:prstGeom>
        </p:spPr>
        <p:txBody>
          <a:bodyPr wrap="none">
            <a:spAutoFit/>
          </a:bodyPr>
          <a:lstStyle/>
          <a:p>
            <a:r>
              <a:rPr lang="en-US" sz="3200" b="1" dirty="0" smtClean="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Methodologies Cont..</a:t>
            </a:r>
            <a:endParaRPr lang="en-US" sz="32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Box 5"/>
          <p:cNvSpPr txBox="1"/>
          <p:nvPr/>
        </p:nvSpPr>
        <p:spPr>
          <a:xfrm>
            <a:off x="866503" y="1558319"/>
            <a:ext cx="10252166" cy="954107"/>
          </a:xfrm>
          <a:prstGeom prst="rect">
            <a:avLst/>
          </a:prstGeom>
          <a:noFill/>
        </p:spPr>
        <p:txBody>
          <a:bodyPr wrap="square" rtlCol="0">
            <a:spAutoFit/>
          </a:bodyPr>
          <a:lstStyle/>
          <a:p>
            <a:r>
              <a:rPr lang="en-GB" sz="2800" b="1" dirty="0" smtClean="0">
                <a:latin typeface="Times New Roman" panose="02020603050405020304" pitchFamily="18" charset="0"/>
                <a:cs typeface="Times New Roman" panose="02020603050405020304" pitchFamily="18" charset="0"/>
              </a:rPr>
              <a:t>Design of Protein-protein interactions (PPIs) network and hub</a:t>
            </a:r>
          </a:p>
          <a:p>
            <a:r>
              <a:rPr lang="en-GB" sz="2800" b="1" dirty="0">
                <a:latin typeface="Times New Roman" panose="02020603050405020304" pitchFamily="18" charset="0"/>
                <a:cs typeface="Times New Roman" panose="02020603050405020304" pitchFamily="18" charset="0"/>
              </a:rPr>
              <a:t>g</a:t>
            </a:r>
            <a:r>
              <a:rPr lang="en-GB" sz="2800" b="1" dirty="0" smtClean="0">
                <a:latin typeface="Times New Roman" panose="02020603050405020304" pitchFamily="18" charset="0"/>
                <a:cs typeface="Times New Roman" panose="02020603050405020304" pitchFamily="18" charset="0"/>
              </a:rPr>
              <a:t>ene identification</a:t>
            </a:r>
            <a:endParaRPr lang="en-GB"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778730" y="2898581"/>
            <a:ext cx="10773508" cy="2677656"/>
          </a:xfrm>
          <a:prstGeom prst="rect">
            <a:avLst/>
          </a:prstGeom>
          <a:noFill/>
        </p:spPr>
        <p:txBody>
          <a:bodyPr wrap="square" rtlCol="0">
            <a:spAutoFit/>
          </a:bodyPr>
          <a:lstStyle/>
          <a:p>
            <a:pPr marL="285750" indent="-285750" algn="just">
              <a:buFont typeface="Wingdings" panose="05000000000000000000" pitchFamily="2" charset="2"/>
              <a:buChar char="Ø"/>
            </a:pPr>
            <a:r>
              <a:rPr lang="en-GB" sz="2400" dirty="0" smtClean="0">
                <a:latin typeface="Times New Roman" panose="02020603050405020304" pitchFamily="18" charset="0"/>
                <a:cs typeface="Times New Roman" panose="02020603050405020304" pitchFamily="18" charset="0"/>
              </a:rPr>
              <a:t>According to the common genes, Protein-protein interactions network is designed </a:t>
            </a:r>
            <a:r>
              <a:rPr lang="en-GB" sz="2400" dirty="0">
                <a:latin typeface="Times New Roman" panose="02020603050405020304" pitchFamily="18" charset="0"/>
                <a:cs typeface="Times New Roman" panose="02020603050405020304" pitchFamily="18" charset="0"/>
              </a:rPr>
              <a:t>using Search Tool for the Retrieval of Interacting Genes (STRING</a:t>
            </a:r>
            <a:r>
              <a:rPr lang="en-GB" sz="2400"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r>
              <a:rPr lang="en-GB" sz="2400" dirty="0" smtClean="0">
                <a:latin typeface="Times New Roman" panose="02020603050405020304" pitchFamily="18" charset="0"/>
                <a:cs typeface="Times New Roman" panose="02020603050405020304" pitchFamily="18" charset="0"/>
              </a:rPr>
              <a:t>A medium confidence score of 0.400 were selected for obtaining the total PPIs network.</a:t>
            </a:r>
          </a:p>
          <a:p>
            <a:pPr marL="285750" indent="-285750" algn="just">
              <a:buFont typeface="Wingdings" panose="05000000000000000000" pitchFamily="2" charset="2"/>
              <a:buChar char="Ø"/>
            </a:pPr>
            <a:r>
              <a:rPr lang="en-GB" sz="2400" dirty="0" smtClean="0">
                <a:latin typeface="Times New Roman" panose="02020603050405020304" pitchFamily="18" charset="0"/>
                <a:cs typeface="Times New Roman" panose="02020603050405020304" pitchFamily="18" charset="0"/>
              </a:rPr>
              <a:t>The visualization of the PPIs network is customized using </a:t>
            </a:r>
            <a:r>
              <a:rPr lang="en-GB" sz="2400" dirty="0" err="1" smtClean="0">
                <a:latin typeface="Times New Roman" panose="02020603050405020304" pitchFamily="18" charset="0"/>
                <a:cs typeface="Times New Roman" panose="02020603050405020304" pitchFamily="18" charset="0"/>
              </a:rPr>
              <a:t>Cytoscape</a:t>
            </a:r>
            <a:r>
              <a:rPr lang="en-GB" sz="2400" dirty="0" smtClean="0">
                <a:latin typeface="Times New Roman" panose="02020603050405020304" pitchFamily="18" charset="0"/>
                <a:cs typeface="Times New Roman" panose="02020603050405020304" pitchFamily="18" charset="0"/>
              </a:rPr>
              <a:t> software.</a:t>
            </a:r>
          </a:p>
          <a:p>
            <a:pPr marL="285750" indent="-285750" algn="just">
              <a:buFont typeface="Wingdings" panose="05000000000000000000" pitchFamily="2" charset="2"/>
              <a:buChar char="Ø"/>
            </a:pPr>
            <a:r>
              <a:rPr lang="en-GB" sz="2400" dirty="0" smtClean="0">
                <a:latin typeface="Times New Roman" panose="02020603050405020304" pitchFamily="18" charset="0"/>
                <a:cs typeface="Times New Roman" panose="02020603050405020304" pitchFamily="18" charset="0"/>
              </a:rPr>
              <a:t>Topological degree algorithm was applied on the PPIs network to identify the hub genes and </a:t>
            </a:r>
            <a:r>
              <a:rPr lang="en-GB" sz="2400" dirty="0" err="1" smtClean="0">
                <a:latin typeface="Times New Roman" panose="02020603050405020304" pitchFamily="18" charset="0"/>
                <a:cs typeface="Times New Roman" panose="02020603050405020304" pitchFamily="18" charset="0"/>
              </a:rPr>
              <a:t>Cytohubba</a:t>
            </a:r>
            <a:r>
              <a:rPr lang="en-GB" sz="2400" dirty="0" smtClean="0">
                <a:latin typeface="Times New Roman" panose="02020603050405020304" pitchFamily="18" charset="0"/>
                <a:cs typeface="Times New Roman" panose="02020603050405020304" pitchFamily="18" charset="0"/>
              </a:rPr>
              <a:t> plugin was used for the purpose of analysis.</a:t>
            </a:r>
          </a:p>
        </p:txBody>
      </p:sp>
    </p:spTree>
    <p:extLst>
      <p:ext uri="{BB962C8B-B14F-4D97-AF65-F5344CB8AC3E}">
        <p14:creationId xmlns:p14="http://schemas.microsoft.com/office/powerpoint/2010/main" val="353147103"/>
      </p:ext>
    </p:extLst>
  </p:cSld>
  <p:clrMapOvr>
    <a:masterClrMapping/>
  </p:clrMapOvr>
  <mc:AlternateContent xmlns:mc="http://schemas.openxmlformats.org/markup-compatibility/2006" xmlns:p14="http://schemas.microsoft.com/office/powerpoint/2010/main">
    <mc:Choice Requires="p14">
      <p:transition spd="slow" p14:dur="2000" advTm="21068"/>
    </mc:Choice>
    <mc:Fallback xmlns="">
      <p:transition spd="slow" advTm="21068"/>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December </a:t>
            </a:r>
            <a:r>
              <a:rPr lang="en-US" dirty="0" smtClean="0"/>
              <a:t>31,2022</a:t>
            </a:r>
            <a:endParaRPr lang="en-US" dirty="0"/>
          </a:p>
        </p:txBody>
      </p:sp>
      <p:sp>
        <p:nvSpPr>
          <p:cNvPr id="10" name="TextBox 9"/>
          <p:cNvSpPr txBox="1"/>
          <p:nvPr/>
        </p:nvSpPr>
        <p:spPr>
          <a:xfrm>
            <a:off x="5420383" y="6364151"/>
            <a:ext cx="2728451" cy="276999"/>
          </a:xfrm>
          <a:prstGeom prst="rect">
            <a:avLst/>
          </a:prstGeom>
          <a:noFill/>
        </p:spPr>
        <p:txBody>
          <a:bodyPr wrap="square" rtlCol="0">
            <a:spAutoFit/>
          </a:bodyPr>
          <a:lstStyle/>
          <a:p>
            <a:pPr algn="just"/>
            <a:r>
              <a:rPr lang="en-US" sz="1200" dirty="0"/>
              <a:t>Paper </a:t>
            </a:r>
            <a:r>
              <a:rPr lang="en-US" sz="1200" dirty="0" smtClean="0"/>
              <a:t>ID-79</a:t>
            </a:r>
            <a:endParaRPr lang="en-US" sz="1200" dirty="0"/>
          </a:p>
        </p:txBody>
      </p:sp>
      <p:sp>
        <p:nvSpPr>
          <p:cNvPr id="11" name="Oval 10"/>
          <p:cNvSpPr/>
          <p:nvPr/>
        </p:nvSpPr>
        <p:spPr>
          <a:xfrm>
            <a:off x="11416937" y="6321196"/>
            <a:ext cx="627017" cy="4260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latin typeface="MS PGothic(Body)"/>
                <a:ea typeface="MS PGothic" panose="020B0600070205080204" pitchFamily="34" charset="-128"/>
              </a:rPr>
              <a:t>10</a:t>
            </a:r>
            <a:endParaRPr lang="en-US" sz="1200" dirty="0">
              <a:latin typeface="MS PGothic(Body)"/>
              <a:ea typeface="MS PGothic" panose="020B0600070205080204" pitchFamily="34" charset="-128"/>
            </a:endParaRPr>
          </a:p>
        </p:txBody>
      </p:sp>
      <p:sp>
        <p:nvSpPr>
          <p:cNvPr id="5" name="Rectangle 4">
            <a:extLst>
              <a:ext uri="{FF2B5EF4-FFF2-40B4-BE49-F238E27FC236}">
                <a16:creationId xmlns:a16="http://schemas.microsoft.com/office/drawing/2014/main" id="{44E6F3D1-56F1-4704-94F2-025054E9BB45}"/>
              </a:ext>
            </a:extLst>
          </p:cNvPr>
          <p:cNvSpPr/>
          <p:nvPr/>
        </p:nvSpPr>
        <p:spPr>
          <a:xfrm>
            <a:off x="375607" y="329627"/>
            <a:ext cx="5523479" cy="1200329"/>
          </a:xfrm>
          <a:prstGeom prst="rect">
            <a:avLst/>
          </a:prstGeom>
        </p:spPr>
        <p:txBody>
          <a:bodyPr wrap="square">
            <a:spAutoFit/>
          </a:bodyPr>
          <a:lstStyle/>
          <a:p>
            <a:r>
              <a:rPr lang="en-GB" sz="2400" b="1" dirty="0" smtClean="0">
                <a:solidFill>
                  <a:schemeClr val="accent6">
                    <a:lumMod val="75000"/>
                  </a:schemeClr>
                </a:solidFill>
                <a:latin typeface="Times New Roman" panose="02020603050405020304" pitchFamily="18" charset="0"/>
                <a:cs typeface="Times New Roman" panose="02020603050405020304" pitchFamily="18" charset="0"/>
              </a:rPr>
              <a:t>8th </a:t>
            </a:r>
            <a:r>
              <a:rPr lang="en-GB" sz="2400" b="1" dirty="0">
                <a:solidFill>
                  <a:schemeClr val="accent6">
                    <a:lumMod val="75000"/>
                  </a:schemeClr>
                </a:solidFill>
                <a:latin typeface="Times New Roman" panose="02020603050405020304" pitchFamily="18" charset="0"/>
                <a:cs typeface="Times New Roman" panose="02020603050405020304" pitchFamily="18" charset="0"/>
              </a:rPr>
              <a:t>IEEE international Women in Engineering (WIE) Conference on Electrical and Computer Engineering</a:t>
            </a:r>
            <a:endParaRPr lang="en-US" dirty="0">
              <a:solidFill>
                <a:schemeClr val="accent1">
                  <a:lumMod val="75000"/>
                </a:schemeClr>
              </a:solidFill>
            </a:endParaRPr>
          </a:p>
        </p:txBody>
      </p:sp>
      <p:cxnSp>
        <p:nvCxnSpPr>
          <p:cNvPr id="15" name="Straight Connector 14">
            <a:extLst>
              <a:ext uri="{FF2B5EF4-FFF2-40B4-BE49-F238E27FC236}">
                <a16:creationId xmlns:a16="http://schemas.microsoft.com/office/drawing/2014/main" id="{D41BA06D-23D9-45BB-9C23-90583987FD32}"/>
              </a:ext>
            </a:extLst>
          </p:cNvPr>
          <p:cNvCxnSpPr/>
          <p:nvPr/>
        </p:nvCxnSpPr>
        <p:spPr>
          <a:xfrm>
            <a:off x="375607" y="1629212"/>
            <a:ext cx="11319627" cy="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11E33DD-9007-4BE2-A2F4-49728346B00D}"/>
              </a:ext>
            </a:extLst>
          </p:cNvPr>
          <p:cNvSpPr/>
          <p:nvPr/>
        </p:nvSpPr>
        <p:spPr>
          <a:xfrm>
            <a:off x="5964283" y="503832"/>
            <a:ext cx="3911648" cy="584775"/>
          </a:xfrm>
          <a:prstGeom prst="rect">
            <a:avLst/>
          </a:prstGeom>
        </p:spPr>
        <p:txBody>
          <a:bodyPr wrap="none">
            <a:spAutoFit/>
          </a:bodyPr>
          <a:lstStyle/>
          <a:p>
            <a:r>
              <a:rPr lang="en-US" sz="3200" b="1" dirty="0" smtClean="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Methodologies Cont..</a:t>
            </a:r>
            <a:endParaRPr lang="en-US" sz="32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Box 5"/>
          <p:cNvSpPr txBox="1"/>
          <p:nvPr/>
        </p:nvSpPr>
        <p:spPr>
          <a:xfrm>
            <a:off x="838200" y="2222281"/>
            <a:ext cx="10252166" cy="523220"/>
          </a:xfrm>
          <a:prstGeom prst="rect">
            <a:avLst/>
          </a:prstGeom>
          <a:noFill/>
        </p:spPr>
        <p:txBody>
          <a:bodyPr wrap="square" rtlCol="0">
            <a:spAutoFit/>
          </a:bodyPr>
          <a:lstStyle/>
          <a:p>
            <a:r>
              <a:rPr lang="en-GB" sz="2800" b="1" dirty="0" smtClean="0">
                <a:latin typeface="Times New Roman" panose="02020603050405020304" pitchFamily="18" charset="0"/>
                <a:cs typeface="Times New Roman" panose="02020603050405020304" pitchFamily="18" charset="0"/>
              </a:rPr>
              <a:t>Drug Compounds Prediction</a:t>
            </a:r>
            <a:endParaRPr lang="en-GB"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778730" y="2898581"/>
            <a:ext cx="10773508" cy="175432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GB" sz="2400" dirty="0" smtClean="0">
                <a:latin typeface="Times New Roman" panose="02020603050405020304" pitchFamily="18" charset="0"/>
                <a:cs typeface="Times New Roman" panose="02020603050405020304" pitchFamily="18" charset="0"/>
              </a:rPr>
              <a:t>Associative drug compounds according to the </a:t>
            </a:r>
            <a:r>
              <a:rPr lang="en-GB" sz="2400" dirty="0" smtClean="0">
                <a:latin typeface="Times New Roman" panose="02020603050405020304" pitchFamily="18" charset="0"/>
                <a:cs typeface="Times New Roman" panose="02020603050405020304" pitchFamily="18" charset="0"/>
              </a:rPr>
              <a:t>stress </a:t>
            </a:r>
            <a:r>
              <a:rPr lang="en-GB" sz="2400" dirty="0" smtClean="0">
                <a:latin typeface="Times New Roman" panose="02020603050405020304" pitchFamily="18" charset="0"/>
                <a:cs typeface="Times New Roman" panose="02020603050405020304" pitchFamily="18" charset="0"/>
              </a:rPr>
              <a:t>and </a:t>
            </a:r>
            <a:r>
              <a:rPr lang="en-GB" sz="2400" dirty="0" smtClean="0">
                <a:latin typeface="Times New Roman" panose="02020603050405020304" pitchFamily="18" charset="0"/>
                <a:cs typeface="Times New Roman" panose="02020603050405020304" pitchFamily="18" charset="0"/>
              </a:rPr>
              <a:t>depression sample </a:t>
            </a:r>
            <a:r>
              <a:rPr lang="en-GB" sz="2400" dirty="0" smtClean="0">
                <a:latin typeface="Times New Roman" panose="02020603050405020304" pitchFamily="18" charset="0"/>
                <a:cs typeface="Times New Roman" panose="02020603050405020304" pitchFamily="18" charset="0"/>
              </a:rPr>
              <a:t>were identified using the Drug Signature database (</a:t>
            </a:r>
            <a:r>
              <a:rPr lang="en-GB" sz="2400" dirty="0" err="1" smtClean="0">
                <a:latin typeface="Times New Roman" panose="02020603050405020304" pitchFamily="18" charset="0"/>
                <a:cs typeface="Times New Roman" panose="02020603050405020304" pitchFamily="18" charset="0"/>
              </a:rPr>
              <a:t>DSigDB</a:t>
            </a:r>
            <a:r>
              <a:rPr lang="en-GB" sz="2400" dirty="0" smtClean="0">
                <a:latin typeface="Times New Roman" panose="02020603050405020304" pitchFamily="18" charset="0"/>
                <a:cs typeface="Times New Roman" panose="02020603050405020304" pitchFamily="18" charset="0"/>
              </a:rPr>
              <a:t>) database.</a:t>
            </a:r>
          </a:p>
          <a:p>
            <a:pPr marL="285750" indent="-285750" algn="just">
              <a:lnSpc>
                <a:spcPct val="150000"/>
              </a:lnSpc>
              <a:buFont typeface="Wingdings" panose="05000000000000000000" pitchFamily="2" charset="2"/>
              <a:buChar char="Ø"/>
            </a:pPr>
            <a:r>
              <a:rPr lang="en-GB" sz="2400" dirty="0" smtClean="0">
                <a:latin typeface="Times New Roman" panose="02020603050405020304" pitchFamily="18" charset="0"/>
                <a:cs typeface="Times New Roman" panose="02020603050405020304" pitchFamily="18" charset="0"/>
              </a:rPr>
              <a:t>The drug compounds were predicted under the platform of web tool </a:t>
            </a:r>
            <a:r>
              <a:rPr lang="en-GB" sz="2400" dirty="0" err="1" smtClean="0">
                <a:latin typeface="Times New Roman" panose="02020603050405020304" pitchFamily="18" charset="0"/>
                <a:cs typeface="Times New Roman" panose="02020603050405020304" pitchFamily="18" charset="0"/>
              </a:rPr>
              <a:t>Enrichr</a:t>
            </a:r>
            <a:r>
              <a:rPr lang="en-GB" sz="24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30642680"/>
      </p:ext>
    </p:extLst>
  </p:cSld>
  <p:clrMapOvr>
    <a:masterClrMapping/>
  </p:clrMapOvr>
  <mc:AlternateContent xmlns:mc="http://schemas.openxmlformats.org/markup-compatibility/2006" xmlns:p14="http://schemas.microsoft.com/office/powerpoint/2010/main">
    <mc:Choice Requires="p14">
      <p:transition spd="slow" p14:dur="2000" advTm="21068"/>
    </mc:Choice>
    <mc:Fallback xmlns="">
      <p:transition spd="slow" advTm="21068"/>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December </a:t>
            </a:r>
            <a:r>
              <a:rPr lang="en-US" dirty="0" smtClean="0"/>
              <a:t>31</a:t>
            </a:r>
            <a:r>
              <a:rPr lang="en-US" dirty="0" smtClean="0"/>
              <a:t>,2022</a:t>
            </a:r>
            <a:endParaRPr lang="en-US" dirty="0"/>
          </a:p>
        </p:txBody>
      </p:sp>
      <p:sp>
        <p:nvSpPr>
          <p:cNvPr id="10" name="TextBox 9"/>
          <p:cNvSpPr txBox="1"/>
          <p:nvPr/>
        </p:nvSpPr>
        <p:spPr>
          <a:xfrm>
            <a:off x="5080748" y="6373966"/>
            <a:ext cx="2728451" cy="276999"/>
          </a:xfrm>
          <a:prstGeom prst="rect">
            <a:avLst/>
          </a:prstGeom>
          <a:noFill/>
        </p:spPr>
        <p:txBody>
          <a:bodyPr wrap="square" rtlCol="0">
            <a:spAutoFit/>
          </a:bodyPr>
          <a:lstStyle/>
          <a:p>
            <a:pPr algn="just"/>
            <a:r>
              <a:rPr lang="en-US" sz="1200" dirty="0"/>
              <a:t>Paper </a:t>
            </a:r>
            <a:r>
              <a:rPr lang="en-US" sz="1200" dirty="0" smtClean="0"/>
              <a:t>ID-79</a:t>
            </a:r>
            <a:endParaRPr lang="en-US" sz="1200" dirty="0"/>
          </a:p>
        </p:txBody>
      </p:sp>
      <p:sp>
        <p:nvSpPr>
          <p:cNvPr id="11" name="Oval 10"/>
          <p:cNvSpPr/>
          <p:nvPr/>
        </p:nvSpPr>
        <p:spPr>
          <a:xfrm>
            <a:off x="11508377" y="6321196"/>
            <a:ext cx="513084" cy="4260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latin typeface="MS PGothic(Body)"/>
                <a:ea typeface="MS PGothic" panose="020B0600070205080204" pitchFamily="34" charset="-128"/>
              </a:rPr>
              <a:t>11</a:t>
            </a:r>
            <a:endParaRPr lang="en-US" sz="1200" dirty="0">
              <a:latin typeface="MS PGothic(Body)"/>
              <a:ea typeface="MS PGothic" panose="020B0600070205080204" pitchFamily="34" charset="-128"/>
            </a:endParaRPr>
          </a:p>
        </p:txBody>
      </p:sp>
      <p:sp>
        <p:nvSpPr>
          <p:cNvPr id="5" name="Rectangle 4">
            <a:extLst>
              <a:ext uri="{FF2B5EF4-FFF2-40B4-BE49-F238E27FC236}">
                <a16:creationId xmlns:a16="http://schemas.microsoft.com/office/drawing/2014/main" id="{44E6F3D1-56F1-4704-94F2-025054E9BB45}"/>
              </a:ext>
            </a:extLst>
          </p:cNvPr>
          <p:cNvSpPr/>
          <p:nvPr/>
        </p:nvSpPr>
        <p:spPr>
          <a:xfrm>
            <a:off x="375607" y="329627"/>
            <a:ext cx="5523479" cy="1200329"/>
          </a:xfrm>
          <a:prstGeom prst="rect">
            <a:avLst/>
          </a:prstGeom>
        </p:spPr>
        <p:txBody>
          <a:bodyPr wrap="square">
            <a:spAutoFit/>
          </a:bodyPr>
          <a:lstStyle/>
          <a:p>
            <a:r>
              <a:rPr lang="en-GB" sz="2400" b="1" dirty="0" smtClean="0">
                <a:solidFill>
                  <a:schemeClr val="accent6">
                    <a:lumMod val="75000"/>
                  </a:schemeClr>
                </a:solidFill>
                <a:latin typeface="Times New Roman" panose="02020603050405020304" pitchFamily="18" charset="0"/>
                <a:cs typeface="Times New Roman" panose="02020603050405020304" pitchFamily="18" charset="0"/>
              </a:rPr>
              <a:t>8th </a:t>
            </a:r>
            <a:r>
              <a:rPr lang="en-GB" sz="2400" b="1" dirty="0">
                <a:solidFill>
                  <a:schemeClr val="accent6">
                    <a:lumMod val="75000"/>
                  </a:schemeClr>
                </a:solidFill>
                <a:latin typeface="Times New Roman" panose="02020603050405020304" pitchFamily="18" charset="0"/>
                <a:cs typeface="Times New Roman" panose="02020603050405020304" pitchFamily="18" charset="0"/>
              </a:rPr>
              <a:t>IEEE international Women in Engineering (WIE) Conference on Electrical and Computer Engineering</a:t>
            </a:r>
            <a:endParaRPr lang="en-US" dirty="0">
              <a:solidFill>
                <a:schemeClr val="accent1">
                  <a:lumMod val="75000"/>
                </a:schemeClr>
              </a:solidFill>
            </a:endParaRPr>
          </a:p>
        </p:txBody>
      </p:sp>
      <p:cxnSp>
        <p:nvCxnSpPr>
          <p:cNvPr id="15" name="Straight Connector 14">
            <a:extLst>
              <a:ext uri="{FF2B5EF4-FFF2-40B4-BE49-F238E27FC236}">
                <a16:creationId xmlns:a16="http://schemas.microsoft.com/office/drawing/2014/main" id="{D41BA06D-23D9-45BB-9C23-90583987FD32}"/>
              </a:ext>
            </a:extLst>
          </p:cNvPr>
          <p:cNvCxnSpPr/>
          <p:nvPr/>
        </p:nvCxnSpPr>
        <p:spPr>
          <a:xfrm>
            <a:off x="470302" y="1529956"/>
            <a:ext cx="11319627" cy="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11E33DD-9007-4BE2-A2F4-49728346B00D}"/>
              </a:ext>
            </a:extLst>
          </p:cNvPr>
          <p:cNvSpPr/>
          <p:nvPr/>
        </p:nvSpPr>
        <p:spPr>
          <a:xfrm>
            <a:off x="6444973" y="545627"/>
            <a:ext cx="1462260" cy="584775"/>
          </a:xfrm>
          <a:prstGeom prst="rect">
            <a:avLst/>
          </a:prstGeom>
        </p:spPr>
        <p:txBody>
          <a:bodyPr wrap="none">
            <a:spAutoFit/>
          </a:bodyPr>
          <a:lstStyle/>
          <a:p>
            <a:r>
              <a:rPr lang="en-US" sz="3200" b="1" dirty="0" smtClean="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Results</a:t>
            </a:r>
            <a:endParaRPr lang="en-US" sz="32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TextBox 8"/>
          <p:cNvSpPr txBox="1"/>
          <p:nvPr/>
        </p:nvSpPr>
        <p:spPr>
          <a:xfrm>
            <a:off x="951781" y="1698151"/>
            <a:ext cx="10356669" cy="523220"/>
          </a:xfrm>
          <a:prstGeom prst="rect">
            <a:avLst/>
          </a:prstGeom>
          <a:noFill/>
        </p:spPr>
        <p:txBody>
          <a:bodyPr wrap="square" rtlCol="0">
            <a:spAutoFit/>
          </a:bodyPr>
          <a:lstStyle/>
          <a:p>
            <a:pPr algn="just"/>
            <a:r>
              <a:rPr lang="en-GB" sz="2800" b="1" dirty="0" smtClean="0">
                <a:latin typeface="Times New Roman" panose="02020603050405020304" pitchFamily="18" charset="0"/>
                <a:cs typeface="Times New Roman" panose="02020603050405020304" pitchFamily="18" charset="0"/>
              </a:rPr>
              <a:t>Common Gene Identification</a:t>
            </a:r>
            <a:endParaRPr lang="en-GB"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992777" y="5673180"/>
            <a:ext cx="10358845" cy="646331"/>
          </a:xfrm>
          <a:prstGeom prst="rect">
            <a:avLst/>
          </a:prstGeom>
          <a:noFill/>
        </p:spPr>
        <p:txBody>
          <a:bodyPr wrap="square" rtlCol="0">
            <a:spAutoFit/>
          </a:bodyPr>
          <a:lstStyle/>
          <a:p>
            <a:pPr algn="just"/>
            <a:r>
              <a:rPr lang="en-GB" dirty="0" smtClean="0"/>
              <a:t>Stress </a:t>
            </a:r>
            <a:r>
              <a:rPr lang="en-GB" dirty="0" smtClean="0"/>
              <a:t>contains total of </a:t>
            </a:r>
            <a:r>
              <a:rPr lang="en-GB" dirty="0" smtClean="0"/>
              <a:t>1545</a:t>
            </a:r>
            <a:r>
              <a:rPr lang="en-GB" dirty="0" smtClean="0"/>
              <a:t> </a:t>
            </a:r>
            <a:r>
              <a:rPr lang="en-GB" dirty="0" smtClean="0"/>
              <a:t>DEGs and the bipolar disorder sample contains total of </a:t>
            </a:r>
            <a:r>
              <a:rPr lang="en-GB" dirty="0" smtClean="0"/>
              <a:t>461 </a:t>
            </a:r>
            <a:r>
              <a:rPr lang="en-GB" dirty="0" smtClean="0"/>
              <a:t>DEGs. Among them </a:t>
            </a:r>
            <a:r>
              <a:rPr lang="en-GB" dirty="0" smtClean="0"/>
              <a:t>18 </a:t>
            </a:r>
            <a:r>
              <a:rPr lang="en-GB" dirty="0" smtClean="0"/>
              <a:t>Genes were identified as common DEGs.</a:t>
            </a:r>
            <a:endParaRPr lang="en-GB"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7346" y="2221371"/>
            <a:ext cx="5410955" cy="3451808"/>
          </a:xfrm>
          <a:prstGeom prst="rect">
            <a:avLst/>
          </a:prstGeom>
        </p:spPr>
      </p:pic>
    </p:spTree>
    <p:extLst>
      <p:ext uri="{BB962C8B-B14F-4D97-AF65-F5344CB8AC3E}">
        <p14:creationId xmlns:p14="http://schemas.microsoft.com/office/powerpoint/2010/main" val="3310975243"/>
      </p:ext>
    </p:extLst>
  </p:cSld>
  <p:clrMapOvr>
    <a:masterClrMapping/>
  </p:clrMapOvr>
  <mc:AlternateContent xmlns:mc="http://schemas.openxmlformats.org/markup-compatibility/2006" xmlns:p14="http://schemas.microsoft.com/office/powerpoint/2010/main">
    <mc:Choice Requires="p14">
      <p:transition spd="slow" p14:dur="2000" advTm="21068"/>
    </mc:Choice>
    <mc:Fallback xmlns="">
      <p:transition spd="slow" advTm="21068"/>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December </a:t>
            </a:r>
            <a:r>
              <a:rPr lang="en-US" dirty="0" smtClean="0"/>
              <a:t>31</a:t>
            </a:r>
            <a:r>
              <a:rPr lang="en-US" dirty="0" smtClean="0"/>
              <a:t>,2022</a:t>
            </a:r>
            <a:endParaRPr lang="en-US" dirty="0"/>
          </a:p>
        </p:txBody>
      </p:sp>
      <p:sp>
        <p:nvSpPr>
          <p:cNvPr id="10" name="TextBox 9"/>
          <p:cNvSpPr txBox="1"/>
          <p:nvPr/>
        </p:nvSpPr>
        <p:spPr>
          <a:xfrm>
            <a:off x="5080748" y="6373966"/>
            <a:ext cx="2728451" cy="276999"/>
          </a:xfrm>
          <a:prstGeom prst="rect">
            <a:avLst/>
          </a:prstGeom>
          <a:noFill/>
        </p:spPr>
        <p:txBody>
          <a:bodyPr wrap="square" rtlCol="0">
            <a:spAutoFit/>
          </a:bodyPr>
          <a:lstStyle/>
          <a:p>
            <a:pPr algn="just"/>
            <a:r>
              <a:rPr lang="en-US" sz="1200" dirty="0"/>
              <a:t>Paper </a:t>
            </a:r>
            <a:r>
              <a:rPr lang="en-US" sz="1200" dirty="0" smtClean="0"/>
              <a:t>ID-79</a:t>
            </a:r>
            <a:endParaRPr lang="en-US" sz="1200" dirty="0"/>
          </a:p>
        </p:txBody>
      </p:sp>
      <p:sp>
        <p:nvSpPr>
          <p:cNvPr id="11" name="Oval 10"/>
          <p:cNvSpPr/>
          <p:nvPr/>
        </p:nvSpPr>
        <p:spPr>
          <a:xfrm>
            <a:off x="11482251" y="6321196"/>
            <a:ext cx="539210" cy="4260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latin typeface="MS PGothic(Body)"/>
                <a:ea typeface="MS PGothic" panose="020B0600070205080204" pitchFamily="34" charset="-128"/>
              </a:rPr>
              <a:t>12</a:t>
            </a:r>
            <a:endParaRPr lang="en-US" sz="1200" dirty="0">
              <a:latin typeface="MS PGothic(Body)"/>
              <a:ea typeface="MS PGothic" panose="020B0600070205080204" pitchFamily="34" charset="-128"/>
            </a:endParaRPr>
          </a:p>
        </p:txBody>
      </p:sp>
      <p:sp>
        <p:nvSpPr>
          <p:cNvPr id="5" name="Rectangle 4">
            <a:extLst>
              <a:ext uri="{FF2B5EF4-FFF2-40B4-BE49-F238E27FC236}">
                <a16:creationId xmlns:a16="http://schemas.microsoft.com/office/drawing/2014/main" id="{44E6F3D1-56F1-4704-94F2-025054E9BB45}"/>
              </a:ext>
            </a:extLst>
          </p:cNvPr>
          <p:cNvSpPr/>
          <p:nvPr/>
        </p:nvSpPr>
        <p:spPr>
          <a:xfrm>
            <a:off x="375607" y="329627"/>
            <a:ext cx="5554930" cy="1200329"/>
          </a:xfrm>
          <a:prstGeom prst="rect">
            <a:avLst/>
          </a:prstGeom>
        </p:spPr>
        <p:txBody>
          <a:bodyPr wrap="square">
            <a:spAutoFit/>
          </a:bodyPr>
          <a:lstStyle/>
          <a:p>
            <a:r>
              <a:rPr lang="en-GB" sz="2400" b="1" dirty="0" smtClean="0">
                <a:solidFill>
                  <a:schemeClr val="accent6">
                    <a:lumMod val="75000"/>
                  </a:schemeClr>
                </a:solidFill>
                <a:latin typeface="Times New Roman" panose="02020603050405020304" pitchFamily="18" charset="0"/>
                <a:cs typeface="Times New Roman" panose="02020603050405020304" pitchFamily="18" charset="0"/>
              </a:rPr>
              <a:t>8th </a:t>
            </a:r>
            <a:r>
              <a:rPr lang="en-GB" sz="2400" b="1" dirty="0">
                <a:solidFill>
                  <a:schemeClr val="accent6">
                    <a:lumMod val="75000"/>
                  </a:schemeClr>
                </a:solidFill>
                <a:latin typeface="Times New Roman" panose="02020603050405020304" pitchFamily="18" charset="0"/>
                <a:cs typeface="Times New Roman" panose="02020603050405020304" pitchFamily="18" charset="0"/>
              </a:rPr>
              <a:t>IEEE international Women in Engineering (WIE) Conference on Electrical and Computer Engineering</a:t>
            </a:r>
            <a:endParaRPr lang="en-US" dirty="0">
              <a:solidFill>
                <a:schemeClr val="accent1">
                  <a:lumMod val="75000"/>
                </a:schemeClr>
              </a:solidFill>
            </a:endParaRPr>
          </a:p>
        </p:txBody>
      </p:sp>
      <p:cxnSp>
        <p:nvCxnSpPr>
          <p:cNvPr id="15" name="Straight Connector 14">
            <a:extLst>
              <a:ext uri="{FF2B5EF4-FFF2-40B4-BE49-F238E27FC236}">
                <a16:creationId xmlns:a16="http://schemas.microsoft.com/office/drawing/2014/main" id="{D41BA06D-23D9-45BB-9C23-90583987FD32}"/>
              </a:ext>
            </a:extLst>
          </p:cNvPr>
          <p:cNvCxnSpPr/>
          <p:nvPr/>
        </p:nvCxnSpPr>
        <p:spPr>
          <a:xfrm>
            <a:off x="470302" y="1529956"/>
            <a:ext cx="11319627" cy="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11E33DD-9007-4BE2-A2F4-49728346B00D}"/>
              </a:ext>
            </a:extLst>
          </p:cNvPr>
          <p:cNvSpPr/>
          <p:nvPr/>
        </p:nvSpPr>
        <p:spPr>
          <a:xfrm>
            <a:off x="6444973" y="371871"/>
            <a:ext cx="2804878" cy="584775"/>
          </a:xfrm>
          <a:prstGeom prst="rect">
            <a:avLst/>
          </a:prstGeom>
        </p:spPr>
        <p:txBody>
          <a:bodyPr wrap="square">
            <a:spAutoFit/>
          </a:bodyPr>
          <a:lstStyle/>
          <a:p>
            <a:r>
              <a:rPr lang="en-US" sz="3200" b="1" dirty="0" smtClean="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Results Cont..</a:t>
            </a:r>
            <a:endParaRPr lang="en-US" sz="32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TextBox 8"/>
          <p:cNvSpPr txBox="1"/>
          <p:nvPr/>
        </p:nvSpPr>
        <p:spPr>
          <a:xfrm>
            <a:off x="838200" y="1589484"/>
            <a:ext cx="10356669" cy="523220"/>
          </a:xfrm>
          <a:prstGeom prst="rect">
            <a:avLst/>
          </a:prstGeom>
          <a:noFill/>
        </p:spPr>
        <p:txBody>
          <a:bodyPr wrap="square" rtlCol="0">
            <a:spAutoFit/>
          </a:bodyPr>
          <a:lstStyle/>
          <a:p>
            <a:pPr algn="just"/>
            <a:r>
              <a:rPr lang="en-GB" sz="2800" b="1" dirty="0" smtClean="0">
                <a:latin typeface="Times New Roman" panose="02020603050405020304" pitchFamily="18" charset="0"/>
                <a:cs typeface="Times New Roman" panose="02020603050405020304" pitchFamily="18" charset="0"/>
              </a:rPr>
              <a:t>Protein-protein interactions (PPIs) network</a:t>
            </a:r>
            <a:endParaRPr lang="en-GB"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992777" y="5673180"/>
            <a:ext cx="10358845" cy="646331"/>
          </a:xfrm>
          <a:prstGeom prst="rect">
            <a:avLst/>
          </a:prstGeom>
          <a:noFill/>
        </p:spPr>
        <p:txBody>
          <a:bodyPr wrap="square" rtlCol="0">
            <a:spAutoFit/>
          </a:bodyPr>
          <a:lstStyle/>
          <a:p>
            <a:pPr algn="just"/>
            <a:r>
              <a:rPr lang="en-GB" dirty="0" smtClean="0">
                <a:latin typeface="Times New Roman" panose="02020603050405020304" pitchFamily="18" charset="0"/>
                <a:cs typeface="Times New Roman" panose="02020603050405020304" pitchFamily="18" charset="0"/>
              </a:rPr>
              <a:t>PPIs network for </a:t>
            </a:r>
            <a:r>
              <a:rPr lang="en-GB" dirty="0" smtClean="0">
                <a:latin typeface="Times New Roman" panose="02020603050405020304" pitchFamily="18" charset="0"/>
                <a:cs typeface="Times New Roman" panose="02020603050405020304" pitchFamily="18" charset="0"/>
              </a:rPr>
              <a:t>18 </a:t>
            </a:r>
            <a:r>
              <a:rPr lang="en-GB" dirty="0" smtClean="0">
                <a:latin typeface="Times New Roman" panose="02020603050405020304" pitchFamily="18" charset="0"/>
                <a:cs typeface="Times New Roman" panose="02020603050405020304" pitchFamily="18" charset="0"/>
              </a:rPr>
              <a:t>common DEGs. The genes which are in </a:t>
            </a:r>
            <a:r>
              <a:rPr lang="en-GB" dirty="0" smtClean="0">
                <a:latin typeface="Times New Roman" panose="02020603050405020304" pitchFamily="18" charset="0"/>
                <a:cs typeface="Times New Roman" panose="02020603050405020304" pitchFamily="18" charset="0"/>
              </a:rPr>
              <a:t>purple </a:t>
            </a:r>
            <a:r>
              <a:rPr lang="en-GB" dirty="0" err="1" smtClean="0">
                <a:latin typeface="Times New Roman" panose="02020603050405020304" pitchFamily="18" charset="0"/>
                <a:cs typeface="Times New Roman" panose="02020603050405020304" pitchFamily="18" charset="0"/>
              </a:rPr>
              <a:t>color</a:t>
            </a:r>
            <a:r>
              <a:rPr lang="en-GB" dirty="0" smtClean="0">
                <a:latin typeface="Times New Roman" panose="02020603050405020304" pitchFamily="18" charset="0"/>
                <a:cs typeface="Times New Roman" panose="02020603050405020304" pitchFamily="18" charset="0"/>
              </a:rPr>
              <a:t> are the hub genes. The network contains </a:t>
            </a:r>
            <a:r>
              <a:rPr lang="en-GB" dirty="0" smtClean="0">
                <a:latin typeface="Times New Roman" panose="02020603050405020304" pitchFamily="18" charset="0"/>
                <a:cs typeface="Times New Roman" panose="02020603050405020304" pitchFamily="18" charset="0"/>
              </a:rPr>
              <a:t>95</a:t>
            </a:r>
            <a:r>
              <a:rPr lang="en-GB" dirty="0" smtClean="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nodes and </a:t>
            </a:r>
            <a:r>
              <a:rPr lang="en-GB" dirty="0" smtClean="0">
                <a:latin typeface="Times New Roman" panose="02020603050405020304" pitchFamily="18" charset="0"/>
                <a:cs typeface="Times New Roman" panose="02020603050405020304" pitchFamily="18" charset="0"/>
              </a:rPr>
              <a:t>94</a:t>
            </a:r>
            <a:r>
              <a:rPr lang="en-GB" dirty="0" smtClean="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edges.</a:t>
            </a:r>
            <a:endParaRPr lang="en-GB"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0584" y="2066428"/>
            <a:ext cx="6839905" cy="3569913"/>
          </a:xfrm>
          <a:prstGeom prst="rect">
            <a:avLst/>
          </a:prstGeom>
        </p:spPr>
      </p:pic>
    </p:spTree>
    <p:extLst>
      <p:ext uri="{BB962C8B-B14F-4D97-AF65-F5344CB8AC3E}">
        <p14:creationId xmlns:p14="http://schemas.microsoft.com/office/powerpoint/2010/main" val="704968109"/>
      </p:ext>
    </p:extLst>
  </p:cSld>
  <p:clrMapOvr>
    <a:masterClrMapping/>
  </p:clrMapOvr>
  <mc:AlternateContent xmlns:mc="http://schemas.openxmlformats.org/markup-compatibility/2006" xmlns:p14="http://schemas.microsoft.com/office/powerpoint/2010/main">
    <mc:Choice Requires="p14">
      <p:transition spd="slow" p14:dur="2000" advTm="21068"/>
    </mc:Choice>
    <mc:Fallback xmlns="">
      <p:transition spd="slow" advTm="21068"/>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December </a:t>
            </a:r>
            <a:r>
              <a:rPr lang="en-US" dirty="0" smtClean="0"/>
              <a:t>31</a:t>
            </a:r>
            <a:r>
              <a:rPr lang="en-US" dirty="0" smtClean="0"/>
              <a:t>,2022</a:t>
            </a:r>
            <a:endParaRPr lang="en-US" dirty="0"/>
          </a:p>
        </p:txBody>
      </p:sp>
      <p:sp>
        <p:nvSpPr>
          <p:cNvPr id="10" name="TextBox 9"/>
          <p:cNvSpPr txBox="1"/>
          <p:nvPr/>
        </p:nvSpPr>
        <p:spPr>
          <a:xfrm>
            <a:off x="5080748" y="6373966"/>
            <a:ext cx="2728451" cy="276999"/>
          </a:xfrm>
          <a:prstGeom prst="rect">
            <a:avLst/>
          </a:prstGeom>
          <a:noFill/>
        </p:spPr>
        <p:txBody>
          <a:bodyPr wrap="square" rtlCol="0">
            <a:spAutoFit/>
          </a:bodyPr>
          <a:lstStyle/>
          <a:p>
            <a:pPr algn="just"/>
            <a:r>
              <a:rPr lang="en-US" sz="1200" dirty="0"/>
              <a:t>Paper </a:t>
            </a:r>
            <a:r>
              <a:rPr lang="en-US" sz="1200" dirty="0" smtClean="0"/>
              <a:t>ID-79</a:t>
            </a:r>
            <a:endParaRPr lang="en-US" sz="1200" dirty="0"/>
          </a:p>
        </p:txBody>
      </p:sp>
      <p:sp>
        <p:nvSpPr>
          <p:cNvPr id="11" name="Oval 10"/>
          <p:cNvSpPr/>
          <p:nvPr/>
        </p:nvSpPr>
        <p:spPr>
          <a:xfrm>
            <a:off x="11508378" y="6321196"/>
            <a:ext cx="513084" cy="4260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latin typeface="MS PGothic(Body)"/>
                <a:ea typeface="MS PGothic" panose="020B0600070205080204" pitchFamily="34" charset="-128"/>
              </a:rPr>
              <a:t>13</a:t>
            </a:r>
            <a:endParaRPr lang="en-US" sz="1200" dirty="0">
              <a:latin typeface="MS PGothic(Body)"/>
              <a:ea typeface="MS PGothic" panose="020B0600070205080204" pitchFamily="34" charset="-128"/>
            </a:endParaRPr>
          </a:p>
        </p:txBody>
      </p:sp>
      <p:sp>
        <p:nvSpPr>
          <p:cNvPr id="5" name="Rectangle 4">
            <a:extLst>
              <a:ext uri="{FF2B5EF4-FFF2-40B4-BE49-F238E27FC236}">
                <a16:creationId xmlns:a16="http://schemas.microsoft.com/office/drawing/2014/main" id="{44E6F3D1-56F1-4704-94F2-025054E9BB45}"/>
              </a:ext>
            </a:extLst>
          </p:cNvPr>
          <p:cNvSpPr/>
          <p:nvPr/>
        </p:nvSpPr>
        <p:spPr>
          <a:xfrm>
            <a:off x="375607" y="329627"/>
            <a:ext cx="5523479" cy="1200329"/>
          </a:xfrm>
          <a:prstGeom prst="rect">
            <a:avLst/>
          </a:prstGeom>
        </p:spPr>
        <p:txBody>
          <a:bodyPr wrap="square">
            <a:spAutoFit/>
          </a:bodyPr>
          <a:lstStyle/>
          <a:p>
            <a:r>
              <a:rPr lang="en-GB" sz="2400" b="1" dirty="0" smtClean="0">
                <a:solidFill>
                  <a:schemeClr val="accent6">
                    <a:lumMod val="75000"/>
                  </a:schemeClr>
                </a:solidFill>
                <a:latin typeface="Times New Roman" panose="02020603050405020304" pitchFamily="18" charset="0"/>
                <a:cs typeface="Times New Roman" panose="02020603050405020304" pitchFamily="18" charset="0"/>
              </a:rPr>
              <a:t>8th </a:t>
            </a:r>
            <a:r>
              <a:rPr lang="en-GB" sz="2400" b="1" dirty="0">
                <a:solidFill>
                  <a:schemeClr val="accent6">
                    <a:lumMod val="75000"/>
                  </a:schemeClr>
                </a:solidFill>
                <a:latin typeface="Times New Roman" panose="02020603050405020304" pitchFamily="18" charset="0"/>
                <a:cs typeface="Times New Roman" panose="02020603050405020304" pitchFamily="18" charset="0"/>
              </a:rPr>
              <a:t>IEEE international Women in Engineering (WIE) Conference on Electrical and Computer Engineering</a:t>
            </a:r>
            <a:endParaRPr lang="en-US" dirty="0">
              <a:solidFill>
                <a:schemeClr val="accent1">
                  <a:lumMod val="75000"/>
                </a:schemeClr>
              </a:solidFill>
            </a:endParaRPr>
          </a:p>
        </p:txBody>
      </p:sp>
      <p:cxnSp>
        <p:nvCxnSpPr>
          <p:cNvPr id="15" name="Straight Connector 14">
            <a:extLst>
              <a:ext uri="{FF2B5EF4-FFF2-40B4-BE49-F238E27FC236}">
                <a16:creationId xmlns:a16="http://schemas.microsoft.com/office/drawing/2014/main" id="{D41BA06D-23D9-45BB-9C23-90583987FD32}"/>
              </a:ext>
            </a:extLst>
          </p:cNvPr>
          <p:cNvCxnSpPr/>
          <p:nvPr/>
        </p:nvCxnSpPr>
        <p:spPr>
          <a:xfrm>
            <a:off x="470302" y="1572776"/>
            <a:ext cx="11319627" cy="0"/>
          </a:xfrm>
          <a:prstGeom prst="line">
            <a:avLst/>
          </a:prstGeom>
          <a:ln w="571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11E33DD-9007-4BE2-A2F4-49728346B00D}"/>
              </a:ext>
            </a:extLst>
          </p:cNvPr>
          <p:cNvSpPr/>
          <p:nvPr/>
        </p:nvSpPr>
        <p:spPr>
          <a:xfrm>
            <a:off x="6352184" y="361134"/>
            <a:ext cx="2635658" cy="584775"/>
          </a:xfrm>
          <a:prstGeom prst="rect">
            <a:avLst/>
          </a:prstGeom>
        </p:spPr>
        <p:txBody>
          <a:bodyPr wrap="none">
            <a:spAutoFit/>
          </a:bodyPr>
          <a:lstStyle/>
          <a:p>
            <a:r>
              <a:rPr lang="en-US" sz="3200" b="1" dirty="0" smtClean="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Results Cont..</a:t>
            </a:r>
            <a:endParaRPr lang="en-US" sz="32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TextBox 8"/>
          <p:cNvSpPr txBox="1"/>
          <p:nvPr/>
        </p:nvSpPr>
        <p:spPr>
          <a:xfrm>
            <a:off x="838200" y="1589484"/>
            <a:ext cx="10356669" cy="523220"/>
          </a:xfrm>
          <a:prstGeom prst="rect">
            <a:avLst/>
          </a:prstGeom>
          <a:noFill/>
        </p:spPr>
        <p:txBody>
          <a:bodyPr wrap="square" rtlCol="0">
            <a:spAutoFit/>
          </a:bodyPr>
          <a:lstStyle/>
          <a:p>
            <a:pPr algn="just"/>
            <a:r>
              <a:rPr lang="en-GB" sz="2800" b="1" dirty="0" smtClean="0">
                <a:latin typeface="Times New Roman" panose="02020603050405020304" pitchFamily="18" charset="0"/>
                <a:cs typeface="Times New Roman" panose="02020603050405020304" pitchFamily="18" charset="0"/>
              </a:rPr>
              <a:t>Hub gene analysis</a:t>
            </a:r>
            <a:endParaRPr lang="en-GB" sz="28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838200" y="2281981"/>
            <a:ext cx="9209314" cy="2862322"/>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Hub genes indicate the nodes in a network that have the maximum number of connections</a:t>
            </a:r>
            <a:r>
              <a:rPr lang="en-GB" sz="2400" dirty="0" smtClean="0">
                <a:latin typeface="Times New Roman" panose="02020603050405020304" pitchFamily="18" charset="0"/>
                <a:cs typeface="Times New Roman" panose="02020603050405020304" pitchFamily="18" charset="0"/>
              </a:rPr>
              <a:t>.</a:t>
            </a:r>
          </a:p>
          <a:p>
            <a:pPr marL="285750" indent="-285750">
              <a:lnSpc>
                <a:spcPct val="150000"/>
              </a:lnSpc>
              <a:buFont typeface="Wingdings" panose="05000000000000000000" pitchFamily="2" charset="2"/>
              <a:buChar char="Ø"/>
            </a:pPr>
            <a:r>
              <a:rPr lang="en-GB" sz="2400" dirty="0" smtClean="0">
                <a:latin typeface="Times New Roman" panose="02020603050405020304" pitchFamily="18" charset="0"/>
                <a:cs typeface="Times New Roman" panose="02020603050405020304" pitchFamily="18" charset="0"/>
              </a:rPr>
              <a:t>Top 10 hub genes form the PPIs network.</a:t>
            </a:r>
          </a:p>
          <a:p>
            <a:pPr marL="285750" indent="-285750">
              <a:lnSpc>
                <a:spcPct val="150000"/>
              </a:lnSpc>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ITGB3, ANGPTL4, ITGB1, PPARA, RXRA, CHD9, COL3A1, FGB, TLN1, and FBN1 are </a:t>
            </a:r>
            <a:r>
              <a:rPr lang="en-GB" sz="2400" dirty="0">
                <a:latin typeface="Times New Roman" panose="02020603050405020304" pitchFamily="18" charset="0"/>
                <a:cs typeface="Times New Roman" panose="02020603050405020304" pitchFamily="18" charset="0"/>
              </a:rPr>
              <a:t>the top common DEGs.</a:t>
            </a:r>
          </a:p>
        </p:txBody>
      </p:sp>
    </p:spTree>
    <p:extLst>
      <p:ext uri="{BB962C8B-B14F-4D97-AF65-F5344CB8AC3E}">
        <p14:creationId xmlns:p14="http://schemas.microsoft.com/office/powerpoint/2010/main" val="3475707483"/>
      </p:ext>
    </p:extLst>
  </p:cSld>
  <p:clrMapOvr>
    <a:masterClrMapping/>
  </p:clrMapOvr>
  <mc:AlternateContent xmlns:mc="http://schemas.openxmlformats.org/markup-compatibility/2006" xmlns:p14="http://schemas.microsoft.com/office/powerpoint/2010/main">
    <mc:Choice Requires="p14">
      <p:transition spd="slow" p14:dur="2000" advTm="21068"/>
    </mc:Choice>
    <mc:Fallback xmlns="">
      <p:transition spd="slow" advTm="21068"/>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December </a:t>
            </a:r>
            <a:r>
              <a:rPr lang="en-US" dirty="0" smtClean="0"/>
              <a:t>31</a:t>
            </a:r>
            <a:r>
              <a:rPr lang="en-US" dirty="0" smtClean="0"/>
              <a:t>,2022</a:t>
            </a:r>
            <a:endParaRPr lang="en-US" dirty="0"/>
          </a:p>
        </p:txBody>
      </p:sp>
      <p:sp>
        <p:nvSpPr>
          <p:cNvPr id="6" name="TextBox 5"/>
          <p:cNvSpPr txBox="1"/>
          <p:nvPr/>
        </p:nvSpPr>
        <p:spPr>
          <a:xfrm>
            <a:off x="5131055" y="6351826"/>
            <a:ext cx="2728451" cy="276999"/>
          </a:xfrm>
          <a:prstGeom prst="rect">
            <a:avLst/>
          </a:prstGeom>
          <a:noFill/>
        </p:spPr>
        <p:txBody>
          <a:bodyPr wrap="square" rtlCol="0">
            <a:spAutoFit/>
          </a:bodyPr>
          <a:lstStyle/>
          <a:p>
            <a:pPr algn="just"/>
            <a:r>
              <a:rPr lang="en-US" sz="1200" dirty="0"/>
              <a:t>Paper </a:t>
            </a:r>
            <a:r>
              <a:rPr lang="en-US" sz="1200" dirty="0" smtClean="0"/>
              <a:t>ID-79</a:t>
            </a:r>
            <a:endParaRPr lang="en-US" sz="1200" dirty="0"/>
          </a:p>
        </p:txBody>
      </p:sp>
      <p:sp>
        <p:nvSpPr>
          <p:cNvPr id="9" name="Oval 8"/>
          <p:cNvSpPr/>
          <p:nvPr/>
        </p:nvSpPr>
        <p:spPr>
          <a:xfrm>
            <a:off x="11484793" y="6321196"/>
            <a:ext cx="536668" cy="4260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latin typeface="MS PGothic(Body)"/>
                <a:ea typeface="MS PGothic" panose="020B0600070205080204" pitchFamily="34" charset="-128"/>
              </a:rPr>
              <a:t>14</a:t>
            </a:r>
            <a:endParaRPr lang="en-US" sz="1200" dirty="0">
              <a:latin typeface="MS PGothic(Body)"/>
              <a:ea typeface="MS PGothic" panose="020B0600070205080204" pitchFamily="34" charset="-128"/>
            </a:endParaRPr>
          </a:p>
        </p:txBody>
      </p:sp>
      <p:sp>
        <p:nvSpPr>
          <p:cNvPr id="3" name="TextBox 2">
            <a:extLst>
              <a:ext uri="{FF2B5EF4-FFF2-40B4-BE49-F238E27FC236}">
                <a16:creationId xmlns:a16="http://schemas.microsoft.com/office/drawing/2014/main" id="{5D222FBF-C2DF-45B3-8F03-96512D013153}"/>
              </a:ext>
            </a:extLst>
          </p:cNvPr>
          <p:cNvSpPr txBox="1"/>
          <p:nvPr/>
        </p:nvSpPr>
        <p:spPr>
          <a:xfrm flipH="1">
            <a:off x="5890687" y="382746"/>
            <a:ext cx="2932399" cy="523220"/>
          </a:xfrm>
          <a:prstGeom prst="rect">
            <a:avLst/>
          </a:prstGeom>
          <a:noFill/>
        </p:spPr>
        <p:txBody>
          <a:bodyPr wrap="square" rtlCol="0">
            <a:spAutoFit/>
          </a:bodyPr>
          <a:lstStyle/>
          <a:p>
            <a:r>
              <a:rPr lang="en-US" sz="2800" b="1" dirty="0" smtClean="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ea typeface="Cambria" panose="02040503050406030204" pitchFamily="18" charset="0"/>
                <a:cs typeface="Times New Roman" panose="02020603050405020304" pitchFamily="18" charset="0"/>
              </a:rPr>
              <a:t>Results Cont.. </a:t>
            </a:r>
            <a:endParaRPr lang="en-US" sz="28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21" name="Straight Connector 20">
            <a:extLst>
              <a:ext uri="{FF2B5EF4-FFF2-40B4-BE49-F238E27FC236}">
                <a16:creationId xmlns:a16="http://schemas.microsoft.com/office/drawing/2014/main" id="{45253915-89B9-4807-AEFC-DA141BC80A90}"/>
              </a:ext>
            </a:extLst>
          </p:cNvPr>
          <p:cNvCxnSpPr/>
          <p:nvPr/>
        </p:nvCxnSpPr>
        <p:spPr>
          <a:xfrm>
            <a:off x="211270" y="1336854"/>
            <a:ext cx="11620870" cy="0"/>
          </a:xfrm>
          <a:prstGeom prst="line">
            <a:avLst/>
          </a:prstGeom>
          <a:ln w="57150"/>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sp>
        <p:nvSpPr>
          <p:cNvPr id="5" name="Rectangle 4">
            <a:extLst>
              <a:ext uri="{FF2B5EF4-FFF2-40B4-BE49-F238E27FC236}">
                <a16:creationId xmlns:a16="http://schemas.microsoft.com/office/drawing/2014/main" id="{697E8EBD-CA91-458A-8221-F826FDAB18E3}"/>
              </a:ext>
            </a:extLst>
          </p:cNvPr>
          <p:cNvSpPr/>
          <p:nvPr/>
        </p:nvSpPr>
        <p:spPr>
          <a:xfrm>
            <a:off x="211270" y="136525"/>
            <a:ext cx="5249003" cy="1200329"/>
          </a:xfrm>
          <a:prstGeom prst="rect">
            <a:avLst/>
          </a:prstGeom>
        </p:spPr>
        <p:txBody>
          <a:bodyPr wrap="square">
            <a:spAutoFit/>
          </a:bodyPr>
          <a:lstStyle/>
          <a:p>
            <a:r>
              <a:rPr lang="en-GB" sz="2400" b="1" dirty="0" smtClean="0">
                <a:solidFill>
                  <a:schemeClr val="accent6">
                    <a:lumMod val="75000"/>
                  </a:schemeClr>
                </a:solidFill>
                <a:latin typeface="Times New Roman" panose="02020603050405020304" pitchFamily="18" charset="0"/>
                <a:cs typeface="Times New Roman" panose="02020603050405020304" pitchFamily="18" charset="0"/>
              </a:rPr>
              <a:t>8th </a:t>
            </a:r>
            <a:r>
              <a:rPr lang="en-GB" sz="2400" b="1" dirty="0">
                <a:solidFill>
                  <a:schemeClr val="accent6">
                    <a:lumMod val="75000"/>
                  </a:schemeClr>
                </a:solidFill>
                <a:latin typeface="Times New Roman" panose="02020603050405020304" pitchFamily="18" charset="0"/>
                <a:cs typeface="Times New Roman" panose="02020603050405020304" pitchFamily="18" charset="0"/>
              </a:rPr>
              <a:t>IEEE international Women in Engineering (WIE) Conference on Electrical and Computer Engineering</a:t>
            </a:r>
            <a:endParaRPr lang="en-US" dirty="0"/>
          </a:p>
        </p:txBody>
      </p:sp>
      <p:graphicFrame>
        <p:nvGraphicFramePr>
          <p:cNvPr id="2" name="Table 1">
            <a:extLst>
              <a:ext uri="{FF2B5EF4-FFF2-40B4-BE49-F238E27FC236}">
                <a16:creationId xmlns:a16="http://schemas.microsoft.com/office/drawing/2014/main" id="{11E121CA-B277-43BB-834B-892C15C20B44}"/>
              </a:ext>
            </a:extLst>
          </p:cNvPr>
          <p:cNvGraphicFramePr>
            <a:graphicFrameLocks noGrp="1"/>
          </p:cNvGraphicFramePr>
          <p:nvPr>
            <p:extLst>
              <p:ext uri="{D42A27DB-BD31-4B8C-83A1-F6EECF244321}">
                <p14:modId xmlns:p14="http://schemas.microsoft.com/office/powerpoint/2010/main" val="2861465380"/>
              </p:ext>
            </p:extLst>
          </p:nvPr>
        </p:nvGraphicFramePr>
        <p:xfrm>
          <a:off x="1204347" y="2908670"/>
          <a:ext cx="9507196" cy="3025099"/>
        </p:xfrm>
        <a:graphic>
          <a:graphicData uri="http://schemas.openxmlformats.org/drawingml/2006/table">
            <a:tbl>
              <a:tblPr firstRow="1" bandRow="1">
                <a:tableStyleId>{5C22544A-7EE6-4342-B048-85BDC9FD1C3A}</a:tableStyleId>
              </a:tblPr>
              <a:tblGrid>
                <a:gridCol w="3485219">
                  <a:extLst>
                    <a:ext uri="{9D8B030D-6E8A-4147-A177-3AD203B41FA5}">
                      <a16:colId xmlns:a16="http://schemas.microsoft.com/office/drawing/2014/main" val="376043047"/>
                    </a:ext>
                  </a:extLst>
                </a:gridCol>
                <a:gridCol w="1410788">
                  <a:extLst>
                    <a:ext uri="{9D8B030D-6E8A-4147-A177-3AD203B41FA5}">
                      <a16:colId xmlns:a16="http://schemas.microsoft.com/office/drawing/2014/main" val="805826675"/>
                    </a:ext>
                  </a:extLst>
                </a:gridCol>
                <a:gridCol w="1995655">
                  <a:extLst>
                    <a:ext uri="{9D8B030D-6E8A-4147-A177-3AD203B41FA5}">
                      <a16:colId xmlns:a16="http://schemas.microsoft.com/office/drawing/2014/main" val="527247694"/>
                    </a:ext>
                  </a:extLst>
                </a:gridCol>
                <a:gridCol w="2615534">
                  <a:extLst>
                    <a:ext uri="{9D8B030D-6E8A-4147-A177-3AD203B41FA5}">
                      <a16:colId xmlns:a16="http://schemas.microsoft.com/office/drawing/2014/main" val="2746327929"/>
                    </a:ext>
                  </a:extLst>
                </a:gridCol>
              </a:tblGrid>
              <a:tr h="400999">
                <a:tc>
                  <a:txBody>
                    <a:bodyPr/>
                    <a:lstStyle/>
                    <a:p>
                      <a:pPr algn="ctr"/>
                      <a:r>
                        <a:rPr lang="en-US" sz="1800" b="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  </a:t>
                      </a:r>
                      <a:r>
                        <a:rPr lang="en-US" sz="1800" b="0" dirty="0" smtClean="0">
                          <a:solidFill>
                            <a:schemeClr val="tx1"/>
                          </a:solidFill>
                          <a:latin typeface="Times New Roman" panose="02020603050405020304" pitchFamily="18" charset="0"/>
                          <a:ea typeface="Cambria" panose="02040503050406030204" pitchFamily="18" charset="0"/>
                          <a:cs typeface="Times New Roman" panose="02020603050405020304" pitchFamily="18" charset="0"/>
                        </a:rPr>
                        <a:t>Name</a:t>
                      </a:r>
                      <a:r>
                        <a:rPr lang="en-US" sz="1800" b="0" baseline="0" dirty="0" smtClean="0">
                          <a:solidFill>
                            <a:schemeClr val="tx1"/>
                          </a:solidFill>
                          <a:latin typeface="Times New Roman" panose="02020603050405020304" pitchFamily="18" charset="0"/>
                          <a:ea typeface="Cambria" panose="02040503050406030204" pitchFamily="18" charset="0"/>
                          <a:cs typeface="Times New Roman" panose="02020603050405020304" pitchFamily="18" charset="0"/>
                        </a:rPr>
                        <a:t> of drugs</a:t>
                      </a:r>
                      <a:endParaRPr lang="en-US" sz="1800" b="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0" dirty="0" smtClean="0">
                          <a:solidFill>
                            <a:schemeClr val="tx1"/>
                          </a:solidFill>
                          <a:latin typeface="Times New Roman" panose="02020603050405020304" pitchFamily="18" charset="0"/>
                          <a:ea typeface="Cambria" panose="02040503050406030204" pitchFamily="18" charset="0"/>
                          <a:cs typeface="Times New Roman" panose="02020603050405020304" pitchFamily="18" charset="0"/>
                        </a:rPr>
                        <a:t>P-value</a:t>
                      </a:r>
                      <a:endParaRPr lang="en-US" sz="1800" b="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   </a:t>
                      </a:r>
                      <a:r>
                        <a:rPr lang="en-US" sz="1800" b="0" dirty="0" smtClean="0">
                          <a:solidFill>
                            <a:schemeClr val="tx1"/>
                          </a:solidFill>
                          <a:latin typeface="Times New Roman" panose="02020603050405020304" pitchFamily="18" charset="0"/>
                          <a:ea typeface="Cambria" panose="02040503050406030204" pitchFamily="18" charset="0"/>
                          <a:cs typeface="Times New Roman" panose="02020603050405020304" pitchFamily="18" charset="0"/>
                        </a:rPr>
                        <a:t>Adjusted</a:t>
                      </a:r>
                      <a:r>
                        <a:rPr lang="en-US" sz="1800" b="0" baseline="0" dirty="0" smtClean="0">
                          <a:solidFill>
                            <a:schemeClr val="tx1"/>
                          </a:solidFill>
                          <a:latin typeface="Times New Roman" panose="02020603050405020304" pitchFamily="18" charset="0"/>
                          <a:ea typeface="Cambria" panose="02040503050406030204" pitchFamily="18" charset="0"/>
                          <a:cs typeface="Times New Roman" panose="02020603050405020304" pitchFamily="18" charset="0"/>
                        </a:rPr>
                        <a:t> p-value</a:t>
                      </a:r>
                      <a:endParaRPr lang="en-US" sz="1800" b="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0" i="1" dirty="0" smtClean="0">
                          <a:solidFill>
                            <a:schemeClr val="tx1"/>
                          </a:solidFill>
                          <a:effectLst/>
                          <a:latin typeface="Times New Roman" panose="02020603050405020304" pitchFamily="18" charset="0"/>
                          <a:cs typeface="Times New Roman" panose="02020603050405020304" pitchFamily="18" charset="0"/>
                        </a:rPr>
                        <a:t>Genes</a:t>
                      </a:r>
                      <a:endParaRPr lang="en-US" sz="1800" b="0" dirty="0">
                        <a:solidFill>
                          <a:schemeClr val="tx1"/>
                        </a:solidFill>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092057"/>
                  </a:ext>
                </a:extLst>
              </a:tr>
              <a:tr h="439074">
                <a:tc>
                  <a:txBody>
                    <a:bodyPr/>
                    <a:lstStyle/>
                    <a:p>
                      <a:pPr algn="ctr"/>
                      <a:r>
                        <a:rPr lang="en-GB" sz="1800" i="0" kern="1200" dirty="0" err="1" smtClean="0">
                          <a:solidFill>
                            <a:schemeClr val="dk1"/>
                          </a:solidFill>
                          <a:effectLst/>
                          <a:latin typeface="+mn-lt"/>
                          <a:ea typeface="+mn-ea"/>
                          <a:cs typeface="+mn-cs"/>
                        </a:rPr>
                        <a:t>Clofop</a:t>
                      </a:r>
                      <a:r>
                        <a:rPr lang="en-GB" sz="1800" i="0" kern="1200" dirty="0" smtClean="0">
                          <a:solidFill>
                            <a:schemeClr val="dk1"/>
                          </a:solidFill>
                          <a:effectLst/>
                          <a:latin typeface="+mn-lt"/>
                          <a:ea typeface="+mn-ea"/>
                          <a:cs typeface="+mn-cs"/>
                        </a:rPr>
                        <a:t> [ISO] CTD 00000269</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800" i="0" kern="1200" dirty="0" smtClean="0">
                          <a:solidFill>
                            <a:schemeClr val="dk1"/>
                          </a:solidFill>
                          <a:effectLst/>
                          <a:latin typeface="+mn-lt"/>
                          <a:ea typeface="+mn-ea"/>
                          <a:cs typeface="+mn-cs"/>
                        </a:rPr>
                        <a:t>0.000584744</a:t>
                      </a:r>
                      <a:endParaRPr lang="en-US" sz="18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800" i="0" kern="1200" dirty="0" smtClean="0">
                          <a:solidFill>
                            <a:schemeClr val="dk1"/>
                          </a:solidFill>
                          <a:effectLst/>
                          <a:latin typeface="+mn-lt"/>
                          <a:ea typeface="+mn-ea"/>
                          <a:cs typeface="+mn-cs"/>
                        </a:rPr>
                        <a:t>0.09262142</a:t>
                      </a:r>
                      <a:endParaRPr lang="en-US" sz="18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800" i="0" kern="1200" dirty="0" smtClean="0">
                          <a:solidFill>
                            <a:schemeClr val="dk1"/>
                          </a:solidFill>
                          <a:effectLst/>
                          <a:latin typeface="+mn-lt"/>
                          <a:ea typeface="+mn-ea"/>
                          <a:cs typeface="+mn-cs"/>
                        </a:rPr>
                        <a:t>SLCO1B1;</a:t>
                      </a:r>
                      <a:r>
                        <a:rPr lang="en-GB" sz="1800" i="0" kern="1200" baseline="0" dirty="0" smtClean="0">
                          <a:solidFill>
                            <a:schemeClr val="dk1"/>
                          </a:solidFill>
                          <a:effectLst/>
                          <a:latin typeface="+mn-lt"/>
                          <a:ea typeface="+mn-ea"/>
                          <a:cs typeface="+mn-cs"/>
                        </a:rPr>
                        <a:t> </a:t>
                      </a:r>
                      <a:r>
                        <a:rPr lang="en-GB" sz="1800" i="0" kern="1200" dirty="0" smtClean="0">
                          <a:solidFill>
                            <a:schemeClr val="dk1"/>
                          </a:solidFill>
                          <a:effectLst/>
                          <a:latin typeface="+mn-lt"/>
                          <a:ea typeface="+mn-ea"/>
                          <a:cs typeface="+mn-cs"/>
                        </a:rPr>
                        <a:t>ANGPTL4</a:t>
                      </a:r>
                      <a:endParaRPr lang="en-US" sz="18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9705964"/>
                  </a:ext>
                </a:extLst>
              </a:tr>
              <a:tr h="4390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ea typeface="Cambria" panose="02040503050406030204" pitchFamily="18" charset="0"/>
                          <a:cs typeface="Times New Roman" panose="02020603050405020304" pitchFamily="18" charset="0"/>
                        </a:rPr>
                        <a:t>  </a:t>
                      </a:r>
                      <a:r>
                        <a:rPr lang="en-US" sz="1800" dirty="0" smtClean="0">
                          <a:latin typeface="Times New Roman" panose="02020603050405020304" pitchFamily="18" charset="0"/>
                          <a:ea typeface="Cambria" panose="02040503050406030204" pitchFamily="18" charset="0"/>
                          <a:cs typeface="Times New Roman" panose="02020603050405020304" pitchFamily="18" charset="0"/>
                        </a:rPr>
                        <a:t>3,7,12- Trihydroxycholan-24-oic acid CTD 00007320</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800" i="0" kern="1200" dirty="0" smtClean="0">
                          <a:solidFill>
                            <a:schemeClr val="dk1"/>
                          </a:solidFill>
                          <a:effectLst/>
                          <a:latin typeface="+mn-lt"/>
                          <a:ea typeface="+mn-ea"/>
                          <a:cs typeface="+mn-cs"/>
                        </a:rPr>
                        <a:t>0.010749535</a:t>
                      </a:r>
                      <a:r>
                        <a:rPr lang="en-US" sz="1800" b="0" i="0" u="none" strike="noStrike" kern="1200" baseline="0" dirty="0" smtClean="0">
                          <a:solidFill>
                            <a:schemeClr val="dk1"/>
                          </a:solidFill>
                          <a:latin typeface="Times New Roman" panose="02020603050405020304" pitchFamily="18" charset="0"/>
                          <a:ea typeface="Cambria" panose="02040503050406030204" pitchFamily="18" charset="0"/>
                          <a:cs typeface="Times New Roman" panose="02020603050405020304" pitchFamily="18" charset="0"/>
                        </a:rPr>
                        <a:t>     </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800" i="0" kern="1200" dirty="0" smtClean="0">
                          <a:solidFill>
                            <a:schemeClr val="dk1"/>
                          </a:solidFill>
                          <a:effectLst/>
                          <a:latin typeface="+mn-lt"/>
                          <a:ea typeface="+mn-ea"/>
                          <a:cs typeface="+mn-cs"/>
                        </a:rPr>
                        <a:t>0.170450445</a:t>
                      </a:r>
                      <a:endParaRPr lang="en-US" sz="18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800" i="0" kern="1200" dirty="0" smtClean="0">
                          <a:solidFill>
                            <a:schemeClr val="dk1"/>
                          </a:solidFill>
                          <a:effectLst/>
                          <a:latin typeface="+mn-lt"/>
                          <a:ea typeface="+mn-ea"/>
                          <a:cs typeface="+mn-cs"/>
                        </a:rPr>
                        <a:t>SLCO1B1</a:t>
                      </a:r>
                      <a:endParaRPr lang="en-US" sz="18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3908151"/>
                  </a:ext>
                </a:extLst>
              </a:tr>
              <a:tr h="4390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smtClean="0">
                          <a:latin typeface="Times New Roman" panose="02020603050405020304" pitchFamily="18" charset="0"/>
                          <a:ea typeface="Cambria" panose="02040503050406030204" pitchFamily="18" charset="0"/>
                          <a:cs typeface="Times New Roman" panose="02020603050405020304" pitchFamily="18" charset="0"/>
                        </a:rPr>
                        <a:t>Sulfobromophthalein</a:t>
                      </a:r>
                      <a:r>
                        <a:rPr lang="en-US" sz="1800" dirty="0" smtClean="0">
                          <a:latin typeface="Times New Roman" panose="02020603050405020304" pitchFamily="18" charset="0"/>
                          <a:ea typeface="Cambria" panose="02040503050406030204" pitchFamily="18" charset="0"/>
                          <a:cs typeface="Times New Roman" panose="02020603050405020304" pitchFamily="18" charset="0"/>
                        </a:rPr>
                        <a:t> CTD 00006810</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800" i="0" kern="1200" dirty="0" smtClean="0">
                          <a:solidFill>
                            <a:schemeClr val="dk1"/>
                          </a:solidFill>
                          <a:effectLst/>
                          <a:latin typeface="+mn-lt"/>
                          <a:ea typeface="+mn-ea"/>
                          <a:cs typeface="+mn-cs"/>
                        </a:rPr>
                        <a:t>0.010749535</a:t>
                      </a:r>
                      <a:endParaRPr lang="en-US" sz="18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i="0" dirty="0" smtClean="0">
                          <a:effectLst/>
                          <a:latin typeface="Times New Roman" panose="02020603050405020304" pitchFamily="18" charset="0"/>
                          <a:cs typeface="Times New Roman" panose="02020603050405020304" pitchFamily="18" charset="0"/>
                        </a:rPr>
                        <a:t>0.170450445</a:t>
                      </a:r>
                      <a:endParaRPr lang="en-US" sz="1800" i="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800" i="0" kern="1200" dirty="0" smtClean="0">
                          <a:solidFill>
                            <a:schemeClr val="dk1"/>
                          </a:solidFill>
                          <a:effectLst/>
                          <a:latin typeface="+mn-lt"/>
                          <a:ea typeface="+mn-ea"/>
                          <a:cs typeface="+mn-cs"/>
                        </a:rPr>
                        <a:t>SLCO1B1</a:t>
                      </a:r>
                      <a:endParaRPr lang="en-US" sz="18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2859541"/>
                  </a:ext>
                </a:extLst>
              </a:tr>
              <a:tr h="4390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aseline="0" dirty="0" smtClean="0">
                          <a:latin typeface="Times New Roman" panose="02020603050405020304" pitchFamily="18" charset="0"/>
                          <a:ea typeface="Cambria" panose="02040503050406030204" pitchFamily="18" charset="0"/>
                          <a:cs typeface="Times New Roman" panose="02020603050405020304" pitchFamily="18" charset="0"/>
                        </a:rPr>
                        <a:t>glycerol CTD 00006038</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800" i="0" kern="1200" dirty="0" smtClean="0">
                          <a:solidFill>
                            <a:schemeClr val="dk1"/>
                          </a:solidFill>
                          <a:effectLst/>
                          <a:latin typeface="+mn-lt"/>
                          <a:ea typeface="+mn-ea"/>
                          <a:cs typeface="+mn-cs"/>
                        </a:rPr>
                        <a:t>0.011640389</a:t>
                      </a:r>
                      <a:endParaRPr lang="en-US" sz="18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i="0" kern="1200" dirty="0" smtClean="0">
                          <a:solidFill>
                            <a:schemeClr val="dk1"/>
                          </a:solidFill>
                          <a:effectLst/>
                          <a:latin typeface="+mn-lt"/>
                          <a:ea typeface="+mn-ea"/>
                          <a:cs typeface="+mn-cs"/>
                        </a:rPr>
                        <a:t>0.170450445</a:t>
                      </a:r>
                      <a:r>
                        <a:rPr lang="en-US" sz="1800" b="0" i="0" u="none" strike="noStrike" kern="1200" baseline="0" dirty="0" smtClean="0">
                          <a:solidFill>
                            <a:schemeClr val="dk1"/>
                          </a:solidFill>
                          <a:latin typeface="Times New Roman" panose="02020603050405020304" pitchFamily="18" charset="0"/>
                          <a:ea typeface="Cambria" panose="02040503050406030204" pitchFamily="18" charset="0"/>
                          <a:cs typeface="Times New Roman" panose="02020603050405020304" pitchFamily="18" charset="0"/>
                        </a:rPr>
                        <a:t>      </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dirty="0" smtClean="0">
                          <a:effectLst/>
                          <a:latin typeface="Times New Roman" panose="02020603050405020304" pitchFamily="18" charset="0"/>
                          <a:cs typeface="Times New Roman" panose="02020603050405020304" pitchFamily="18" charset="0"/>
                        </a:rPr>
                        <a:t>AQP10</a:t>
                      </a:r>
                      <a:endParaRPr lang="en-US" sz="18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5579740"/>
                  </a:ext>
                </a:extLst>
              </a:tr>
              <a:tr h="465792">
                <a:tc>
                  <a:txBody>
                    <a:bodyPr/>
                    <a:lstStyle/>
                    <a:p>
                      <a:pPr algn="ctr"/>
                      <a:r>
                        <a:rPr lang="en-US" sz="1800" b="1" i="0" u="none" strike="noStrike" kern="1200" baseline="0" dirty="0">
                          <a:solidFill>
                            <a:srgbClr val="00B0F0"/>
                          </a:solidFill>
                          <a:latin typeface="Times New Roman" panose="02020603050405020304" pitchFamily="18" charset="0"/>
                          <a:ea typeface="Cambria" panose="02040503050406030204" pitchFamily="18" charset="0"/>
                          <a:cs typeface="Times New Roman" panose="02020603050405020304" pitchFamily="18" charset="0"/>
                        </a:rPr>
                        <a:t> </a:t>
                      </a:r>
                      <a:r>
                        <a:rPr lang="en-US" sz="1800" b="0" i="0" u="none" strike="noStrike" kern="1200" baseline="0" dirty="0" smtClean="0">
                          <a:solidFill>
                            <a:schemeClr val="tx1"/>
                          </a:solidFill>
                          <a:latin typeface="Times New Roman" panose="02020603050405020304" pitchFamily="18" charset="0"/>
                          <a:ea typeface="Cambria" panose="02040503050406030204" pitchFamily="18" charset="0"/>
                          <a:cs typeface="Times New Roman" panose="02020603050405020304" pitchFamily="18" charset="0"/>
                        </a:rPr>
                        <a:t>urea CTD 00006965</a:t>
                      </a:r>
                      <a:endParaRPr lang="en-US" sz="1800" b="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800" i="0" kern="1200" dirty="0" smtClean="0">
                          <a:solidFill>
                            <a:schemeClr val="dk1"/>
                          </a:solidFill>
                          <a:effectLst/>
                          <a:latin typeface="+mn-lt"/>
                          <a:ea typeface="+mn-ea"/>
                          <a:cs typeface="+mn-cs"/>
                        </a:rPr>
                        <a:t>0.011640389</a:t>
                      </a:r>
                      <a:endParaRPr lang="en-US" sz="18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i="0" kern="1200" dirty="0" smtClean="0">
                          <a:solidFill>
                            <a:schemeClr val="dk1"/>
                          </a:solidFill>
                          <a:effectLst/>
                          <a:latin typeface="+mn-lt"/>
                          <a:ea typeface="+mn-ea"/>
                          <a:cs typeface="+mn-cs"/>
                        </a:rPr>
                        <a:t>0.170450445</a:t>
                      </a:r>
                      <a:r>
                        <a:rPr lang="en-US" sz="1800" b="0" i="0" u="none" strike="noStrike" kern="1200" baseline="0" dirty="0" smtClean="0">
                          <a:solidFill>
                            <a:schemeClr val="dk1"/>
                          </a:solidFill>
                          <a:latin typeface="Times New Roman" panose="02020603050405020304" pitchFamily="18" charset="0"/>
                          <a:ea typeface="Cambria" panose="02040503050406030204" pitchFamily="18" charset="0"/>
                          <a:cs typeface="Times New Roman" panose="02020603050405020304" pitchFamily="18" charset="0"/>
                        </a:rPr>
                        <a:t>     </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dirty="0" smtClean="0">
                          <a:effectLst/>
                          <a:latin typeface="Times New Roman" panose="02020603050405020304" pitchFamily="18" charset="0"/>
                          <a:cs typeface="Times New Roman" panose="02020603050405020304" pitchFamily="18" charset="0"/>
                        </a:rPr>
                        <a:t>AQP10</a:t>
                      </a:r>
                      <a:endParaRPr lang="en-US" sz="18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7519837"/>
                  </a:ext>
                </a:extLst>
              </a:tr>
            </a:tbl>
          </a:graphicData>
        </a:graphic>
      </p:graphicFrame>
      <p:sp>
        <p:nvSpPr>
          <p:cNvPr id="11" name="TextBox 10"/>
          <p:cNvSpPr txBox="1"/>
          <p:nvPr/>
        </p:nvSpPr>
        <p:spPr>
          <a:xfrm>
            <a:off x="1066961" y="1473969"/>
            <a:ext cx="6962503" cy="523220"/>
          </a:xfrm>
          <a:prstGeom prst="rect">
            <a:avLst/>
          </a:prstGeom>
          <a:noFill/>
        </p:spPr>
        <p:txBody>
          <a:bodyPr wrap="square" rtlCol="0">
            <a:spAutoFit/>
          </a:bodyPr>
          <a:lstStyle/>
          <a:p>
            <a:r>
              <a:rPr lang="en-GB" sz="2800" b="1" dirty="0" smtClean="0">
                <a:latin typeface="Times New Roman" panose="02020603050405020304" pitchFamily="18" charset="0"/>
                <a:cs typeface="Times New Roman" panose="02020603050405020304" pitchFamily="18" charset="0"/>
              </a:rPr>
              <a:t>Drug Compounds Prediction</a:t>
            </a:r>
            <a:endParaRPr lang="en-GB" sz="28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1066961" y="2172108"/>
            <a:ext cx="7223760" cy="461665"/>
          </a:xfrm>
          <a:prstGeom prst="rect">
            <a:avLst/>
          </a:prstGeom>
          <a:noFill/>
        </p:spPr>
        <p:txBody>
          <a:bodyPr wrap="square" rtlCol="0">
            <a:spAutoFit/>
          </a:bodyPr>
          <a:lstStyle/>
          <a:p>
            <a:r>
              <a:rPr lang="en-GB" sz="2400" dirty="0" smtClean="0">
                <a:latin typeface="Times New Roman" panose="02020603050405020304" pitchFamily="18" charset="0"/>
                <a:cs typeface="Times New Roman" panose="02020603050405020304" pitchFamily="18" charset="0"/>
              </a:rPr>
              <a:t>Top drug compounds according to common DEGs</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0267002"/>
      </p:ext>
    </p:extLst>
  </p:cSld>
  <p:clrMapOvr>
    <a:masterClrMapping/>
  </p:clrMapOvr>
  <mc:AlternateContent xmlns:mc="http://schemas.openxmlformats.org/markup-compatibility/2006" xmlns:p14="http://schemas.microsoft.com/office/powerpoint/2010/main">
    <mc:Choice Requires="p14">
      <p:transition spd="slow" p14:dur="2000" advTm="59455"/>
    </mc:Choice>
    <mc:Fallback xmlns="">
      <p:transition spd="slow" advTm="59455"/>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December </a:t>
            </a:r>
            <a:r>
              <a:rPr lang="en-US" dirty="0" smtClean="0"/>
              <a:t>31</a:t>
            </a:r>
            <a:r>
              <a:rPr lang="en-US" dirty="0" smtClean="0"/>
              <a:t>,2022</a:t>
            </a:r>
            <a:endParaRPr lang="en-US" dirty="0"/>
          </a:p>
        </p:txBody>
      </p:sp>
      <p:sp>
        <p:nvSpPr>
          <p:cNvPr id="6" name="TextBox 5"/>
          <p:cNvSpPr txBox="1"/>
          <p:nvPr/>
        </p:nvSpPr>
        <p:spPr>
          <a:xfrm>
            <a:off x="5131055" y="6351826"/>
            <a:ext cx="2728451" cy="276999"/>
          </a:xfrm>
          <a:prstGeom prst="rect">
            <a:avLst/>
          </a:prstGeom>
          <a:noFill/>
        </p:spPr>
        <p:txBody>
          <a:bodyPr wrap="square" rtlCol="0">
            <a:spAutoFit/>
          </a:bodyPr>
          <a:lstStyle/>
          <a:p>
            <a:pPr algn="just"/>
            <a:r>
              <a:rPr lang="en-US" sz="1200" dirty="0"/>
              <a:t>Paper </a:t>
            </a:r>
            <a:r>
              <a:rPr lang="en-US" sz="1200" dirty="0" smtClean="0"/>
              <a:t>ID-79</a:t>
            </a:r>
            <a:endParaRPr lang="en-US" sz="1200" dirty="0"/>
          </a:p>
        </p:txBody>
      </p:sp>
      <p:sp>
        <p:nvSpPr>
          <p:cNvPr id="9" name="Oval 8"/>
          <p:cNvSpPr/>
          <p:nvPr/>
        </p:nvSpPr>
        <p:spPr>
          <a:xfrm>
            <a:off x="11484793" y="6321196"/>
            <a:ext cx="536668" cy="4260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latin typeface="MS PGothic(Body)"/>
                <a:ea typeface="MS PGothic" panose="020B0600070205080204" pitchFamily="34" charset="-128"/>
              </a:rPr>
              <a:t>15</a:t>
            </a:r>
            <a:endParaRPr lang="en-US" sz="1200" dirty="0">
              <a:latin typeface="MS PGothic(Body)"/>
              <a:ea typeface="MS PGothic" panose="020B0600070205080204" pitchFamily="34" charset="-128"/>
            </a:endParaRPr>
          </a:p>
        </p:txBody>
      </p:sp>
      <p:sp>
        <p:nvSpPr>
          <p:cNvPr id="3" name="TextBox 2">
            <a:extLst>
              <a:ext uri="{FF2B5EF4-FFF2-40B4-BE49-F238E27FC236}">
                <a16:creationId xmlns:a16="http://schemas.microsoft.com/office/drawing/2014/main" id="{5D222FBF-C2DF-45B3-8F03-96512D013153}"/>
              </a:ext>
            </a:extLst>
          </p:cNvPr>
          <p:cNvSpPr txBox="1"/>
          <p:nvPr/>
        </p:nvSpPr>
        <p:spPr>
          <a:xfrm flipH="1">
            <a:off x="5906821" y="444057"/>
            <a:ext cx="5277392" cy="523220"/>
          </a:xfrm>
          <a:prstGeom prst="rect">
            <a:avLst/>
          </a:prstGeom>
          <a:noFill/>
        </p:spPr>
        <p:txBody>
          <a:bodyPr wrap="square" rtlCol="0">
            <a:spAutoFit/>
          </a:bodyPr>
          <a:lstStyle/>
          <a:p>
            <a:r>
              <a:rPr lang="en-US" sz="2800" b="1" dirty="0" smtClean="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ea typeface="Cambria" panose="02040503050406030204" pitchFamily="18" charset="0"/>
                <a:cs typeface="Times New Roman" panose="02020603050405020304" pitchFamily="18" charset="0"/>
              </a:rPr>
              <a:t>Drug Discovery &amp; Development</a:t>
            </a:r>
            <a:endParaRPr lang="en-US" sz="28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21" name="Straight Connector 20">
            <a:extLst>
              <a:ext uri="{FF2B5EF4-FFF2-40B4-BE49-F238E27FC236}">
                <a16:creationId xmlns:a16="http://schemas.microsoft.com/office/drawing/2014/main" id="{45253915-89B9-4807-AEFC-DA141BC80A90}"/>
              </a:ext>
            </a:extLst>
          </p:cNvPr>
          <p:cNvCxnSpPr/>
          <p:nvPr/>
        </p:nvCxnSpPr>
        <p:spPr>
          <a:xfrm>
            <a:off x="211271" y="1336854"/>
            <a:ext cx="11620870" cy="0"/>
          </a:xfrm>
          <a:prstGeom prst="line">
            <a:avLst/>
          </a:prstGeom>
          <a:ln w="57150"/>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sp>
        <p:nvSpPr>
          <p:cNvPr id="5" name="Rectangle 4">
            <a:extLst>
              <a:ext uri="{FF2B5EF4-FFF2-40B4-BE49-F238E27FC236}">
                <a16:creationId xmlns:a16="http://schemas.microsoft.com/office/drawing/2014/main" id="{697E8EBD-CA91-458A-8221-F826FDAB18E3}"/>
              </a:ext>
            </a:extLst>
          </p:cNvPr>
          <p:cNvSpPr/>
          <p:nvPr/>
        </p:nvSpPr>
        <p:spPr>
          <a:xfrm>
            <a:off x="211271" y="136525"/>
            <a:ext cx="5262066" cy="1200329"/>
          </a:xfrm>
          <a:prstGeom prst="rect">
            <a:avLst/>
          </a:prstGeom>
        </p:spPr>
        <p:txBody>
          <a:bodyPr wrap="square">
            <a:spAutoFit/>
          </a:bodyPr>
          <a:lstStyle/>
          <a:p>
            <a:r>
              <a:rPr lang="en-GB" sz="2400" b="1" dirty="0" smtClean="0">
                <a:solidFill>
                  <a:schemeClr val="accent6">
                    <a:lumMod val="75000"/>
                  </a:schemeClr>
                </a:solidFill>
                <a:latin typeface="Times New Roman" panose="02020603050405020304" pitchFamily="18" charset="0"/>
                <a:cs typeface="Times New Roman" panose="02020603050405020304" pitchFamily="18" charset="0"/>
              </a:rPr>
              <a:t>8th </a:t>
            </a:r>
            <a:r>
              <a:rPr lang="en-GB" sz="2400" b="1" dirty="0">
                <a:solidFill>
                  <a:schemeClr val="accent6">
                    <a:lumMod val="75000"/>
                  </a:schemeClr>
                </a:solidFill>
                <a:latin typeface="Times New Roman" panose="02020603050405020304" pitchFamily="18" charset="0"/>
                <a:cs typeface="Times New Roman" panose="02020603050405020304" pitchFamily="18" charset="0"/>
              </a:rPr>
              <a:t>IEEE international Women in Engineering (WIE) Conference on Electrical and Computer Engineering</a:t>
            </a:r>
            <a:endParaRPr lang="en-US"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7177" y="1553980"/>
            <a:ext cx="8582297" cy="4585563"/>
          </a:xfrm>
          <a:prstGeom prst="rect">
            <a:avLst/>
          </a:prstGeom>
        </p:spPr>
      </p:pic>
    </p:spTree>
    <p:extLst>
      <p:ext uri="{BB962C8B-B14F-4D97-AF65-F5344CB8AC3E}">
        <p14:creationId xmlns:p14="http://schemas.microsoft.com/office/powerpoint/2010/main" val="4096690615"/>
      </p:ext>
    </p:extLst>
  </p:cSld>
  <p:clrMapOvr>
    <a:masterClrMapping/>
  </p:clrMapOvr>
  <mc:AlternateContent xmlns:mc="http://schemas.openxmlformats.org/markup-compatibility/2006" xmlns:p14="http://schemas.microsoft.com/office/powerpoint/2010/main">
    <mc:Choice Requires="p14">
      <p:transition spd="slow" p14:dur="2000" advTm="59455"/>
    </mc:Choice>
    <mc:Fallback xmlns="">
      <p:transition spd="slow" advTm="59455"/>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December </a:t>
            </a:r>
            <a:r>
              <a:rPr lang="en-US" dirty="0" smtClean="0"/>
              <a:t>31</a:t>
            </a:r>
            <a:r>
              <a:rPr lang="en-US" dirty="0" smtClean="0"/>
              <a:t>,2022</a:t>
            </a:r>
            <a:endParaRPr lang="en-US" dirty="0"/>
          </a:p>
        </p:txBody>
      </p:sp>
      <p:sp>
        <p:nvSpPr>
          <p:cNvPr id="6" name="TextBox 5"/>
          <p:cNvSpPr txBox="1"/>
          <p:nvPr/>
        </p:nvSpPr>
        <p:spPr>
          <a:xfrm>
            <a:off x="5131055" y="6351826"/>
            <a:ext cx="2728451" cy="276999"/>
          </a:xfrm>
          <a:prstGeom prst="rect">
            <a:avLst/>
          </a:prstGeom>
          <a:noFill/>
        </p:spPr>
        <p:txBody>
          <a:bodyPr wrap="square" rtlCol="0">
            <a:spAutoFit/>
          </a:bodyPr>
          <a:lstStyle/>
          <a:p>
            <a:pPr algn="just"/>
            <a:r>
              <a:rPr lang="en-US" sz="1200" dirty="0"/>
              <a:t>Paper </a:t>
            </a:r>
            <a:r>
              <a:rPr lang="en-US" sz="1200" dirty="0" smtClean="0"/>
              <a:t>ID-79</a:t>
            </a:r>
            <a:endParaRPr lang="en-US" sz="1200" dirty="0"/>
          </a:p>
        </p:txBody>
      </p:sp>
      <p:sp>
        <p:nvSpPr>
          <p:cNvPr id="9" name="Oval 8"/>
          <p:cNvSpPr/>
          <p:nvPr/>
        </p:nvSpPr>
        <p:spPr>
          <a:xfrm>
            <a:off x="11484793" y="6321196"/>
            <a:ext cx="536668" cy="4260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latin typeface="MS PGothic(Body)"/>
                <a:ea typeface="MS PGothic" panose="020B0600070205080204" pitchFamily="34" charset="-128"/>
              </a:rPr>
              <a:t>16</a:t>
            </a:r>
            <a:endParaRPr lang="en-US" sz="1200" dirty="0">
              <a:latin typeface="MS PGothic(Body)"/>
              <a:ea typeface="MS PGothic" panose="020B0600070205080204" pitchFamily="34" charset="-128"/>
            </a:endParaRPr>
          </a:p>
        </p:txBody>
      </p:sp>
      <p:sp>
        <p:nvSpPr>
          <p:cNvPr id="3" name="TextBox 2">
            <a:extLst>
              <a:ext uri="{FF2B5EF4-FFF2-40B4-BE49-F238E27FC236}">
                <a16:creationId xmlns:a16="http://schemas.microsoft.com/office/drawing/2014/main" id="{5D222FBF-C2DF-45B3-8F03-96512D013153}"/>
              </a:ext>
            </a:extLst>
          </p:cNvPr>
          <p:cNvSpPr txBox="1"/>
          <p:nvPr/>
        </p:nvSpPr>
        <p:spPr>
          <a:xfrm flipH="1">
            <a:off x="6393306" y="462602"/>
            <a:ext cx="2932399" cy="523220"/>
          </a:xfrm>
          <a:prstGeom prst="rect">
            <a:avLst/>
          </a:prstGeom>
          <a:noFill/>
        </p:spPr>
        <p:txBody>
          <a:bodyPr wrap="square" rtlCol="0">
            <a:spAutoFit/>
          </a:bodyPr>
          <a:lstStyle/>
          <a:p>
            <a:r>
              <a:rPr lang="en-US" sz="2800" b="1" dirty="0" smtClean="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ea typeface="Cambria" panose="02040503050406030204" pitchFamily="18" charset="0"/>
                <a:cs typeface="Times New Roman" panose="02020603050405020304" pitchFamily="18" charset="0"/>
              </a:rPr>
              <a:t>Conclusions </a:t>
            </a:r>
            <a:endParaRPr lang="en-US" sz="28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21" name="Straight Connector 20">
            <a:extLst>
              <a:ext uri="{FF2B5EF4-FFF2-40B4-BE49-F238E27FC236}">
                <a16:creationId xmlns:a16="http://schemas.microsoft.com/office/drawing/2014/main" id="{45253915-89B9-4807-AEFC-DA141BC80A90}"/>
              </a:ext>
            </a:extLst>
          </p:cNvPr>
          <p:cNvCxnSpPr/>
          <p:nvPr/>
        </p:nvCxnSpPr>
        <p:spPr>
          <a:xfrm>
            <a:off x="211271" y="1336854"/>
            <a:ext cx="11620870" cy="0"/>
          </a:xfrm>
          <a:prstGeom prst="line">
            <a:avLst/>
          </a:prstGeom>
          <a:ln w="57150"/>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sp>
        <p:nvSpPr>
          <p:cNvPr id="5" name="Rectangle 4">
            <a:extLst>
              <a:ext uri="{FF2B5EF4-FFF2-40B4-BE49-F238E27FC236}">
                <a16:creationId xmlns:a16="http://schemas.microsoft.com/office/drawing/2014/main" id="{697E8EBD-CA91-458A-8221-F826FDAB18E3}"/>
              </a:ext>
            </a:extLst>
          </p:cNvPr>
          <p:cNvSpPr/>
          <p:nvPr/>
        </p:nvSpPr>
        <p:spPr>
          <a:xfrm>
            <a:off x="211271" y="136525"/>
            <a:ext cx="5170626" cy="1200329"/>
          </a:xfrm>
          <a:prstGeom prst="rect">
            <a:avLst/>
          </a:prstGeom>
        </p:spPr>
        <p:txBody>
          <a:bodyPr wrap="square">
            <a:spAutoFit/>
          </a:bodyPr>
          <a:lstStyle/>
          <a:p>
            <a:r>
              <a:rPr lang="en-GB" sz="2400" b="1" dirty="0" smtClean="0">
                <a:solidFill>
                  <a:schemeClr val="accent6">
                    <a:lumMod val="75000"/>
                  </a:schemeClr>
                </a:solidFill>
                <a:latin typeface="Times New Roman" panose="02020603050405020304" pitchFamily="18" charset="0"/>
                <a:cs typeface="Times New Roman" panose="02020603050405020304" pitchFamily="18" charset="0"/>
              </a:rPr>
              <a:t>8th </a:t>
            </a:r>
            <a:r>
              <a:rPr lang="en-GB" sz="2400" b="1" dirty="0">
                <a:solidFill>
                  <a:schemeClr val="accent6">
                    <a:lumMod val="75000"/>
                  </a:schemeClr>
                </a:solidFill>
                <a:latin typeface="Times New Roman" panose="02020603050405020304" pitchFamily="18" charset="0"/>
                <a:cs typeface="Times New Roman" panose="02020603050405020304" pitchFamily="18" charset="0"/>
              </a:rPr>
              <a:t>IEEE international Women in Engineering (WIE) Conference on Electrical and Computer Engineering</a:t>
            </a:r>
            <a:endParaRPr lang="en-US" dirty="0"/>
          </a:p>
        </p:txBody>
      </p:sp>
      <p:sp>
        <p:nvSpPr>
          <p:cNvPr id="7" name="TextBox 6"/>
          <p:cNvSpPr txBox="1"/>
          <p:nvPr/>
        </p:nvSpPr>
        <p:spPr>
          <a:xfrm>
            <a:off x="838200" y="1776586"/>
            <a:ext cx="10518142" cy="3416320"/>
          </a:xfrm>
          <a:prstGeom prst="rect">
            <a:avLst/>
          </a:prstGeom>
          <a:noFill/>
        </p:spPr>
        <p:txBody>
          <a:bodyPr wrap="square" rtlCol="0">
            <a:spAutoFit/>
          </a:bodyPr>
          <a:lstStyle/>
          <a:p>
            <a:pPr algn="just">
              <a:lnSpc>
                <a:spcPct val="150000"/>
              </a:lnSpc>
            </a:pPr>
            <a:r>
              <a:rPr lang="en-GB" sz="2400" dirty="0" smtClean="0">
                <a:latin typeface="Times New Roman" panose="02020603050405020304" pitchFamily="18" charset="0"/>
                <a:cs typeface="Times New Roman" panose="02020603050405020304" pitchFamily="18" charset="0"/>
              </a:rPr>
              <a:t>The transcriptomic result obtained from this study is immense compare to other studies that have been achieved so far regarding </a:t>
            </a:r>
            <a:r>
              <a:rPr lang="en-GB" sz="2400" dirty="0" smtClean="0">
                <a:latin typeface="Times New Roman" panose="02020603050405020304" pitchFamily="18" charset="0"/>
                <a:cs typeface="Times New Roman" panose="02020603050405020304" pitchFamily="18" charset="0"/>
              </a:rPr>
              <a:t>stress </a:t>
            </a:r>
            <a:r>
              <a:rPr lang="en-GB" sz="2400" dirty="0" smtClean="0">
                <a:latin typeface="Times New Roman" panose="02020603050405020304" pitchFamily="18" charset="0"/>
                <a:cs typeface="Times New Roman" panose="02020603050405020304" pitchFamily="18" charset="0"/>
              </a:rPr>
              <a:t>and </a:t>
            </a:r>
            <a:r>
              <a:rPr lang="en-GB" sz="2400" dirty="0" smtClean="0">
                <a:latin typeface="Times New Roman" panose="02020603050405020304" pitchFamily="18" charset="0"/>
                <a:cs typeface="Times New Roman" panose="02020603050405020304" pitchFamily="18" charset="0"/>
              </a:rPr>
              <a:t>depression samples</a:t>
            </a:r>
            <a:r>
              <a:rPr lang="en-GB" sz="2400" dirty="0" smtClean="0">
                <a:latin typeface="Times New Roman" panose="02020603050405020304" pitchFamily="18" charset="0"/>
                <a:cs typeface="Times New Roman" panose="02020603050405020304" pitchFamily="18" charset="0"/>
              </a:rPr>
              <a:t>. Methodologies of data mining such as filtering the dataset is achieved. In this research by identifying the Differentially expressed genes (DEGs) and common DEGs. Based on the DEGs, PPIs network is designed which eventually leads to hub gene identification. Then candidate drugs are predicted.</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8929992"/>
      </p:ext>
    </p:extLst>
  </p:cSld>
  <p:clrMapOvr>
    <a:masterClrMapping/>
  </p:clrMapOvr>
  <mc:AlternateContent xmlns:mc="http://schemas.openxmlformats.org/markup-compatibility/2006" xmlns:p14="http://schemas.microsoft.com/office/powerpoint/2010/main">
    <mc:Choice Requires="p14">
      <p:transition spd="slow" p14:dur="2000" advTm="59455"/>
    </mc:Choice>
    <mc:Fallback xmlns="">
      <p:transition spd="slow" advTm="59455"/>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December </a:t>
            </a:r>
            <a:r>
              <a:rPr lang="en-US" dirty="0" smtClean="0"/>
              <a:t>31</a:t>
            </a:r>
            <a:r>
              <a:rPr lang="en-US" dirty="0" smtClean="0"/>
              <a:t>,2022</a:t>
            </a:r>
            <a:endParaRPr lang="en-US" dirty="0"/>
          </a:p>
        </p:txBody>
      </p:sp>
      <p:sp>
        <p:nvSpPr>
          <p:cNvPr id="6" name="TextBox 5"/>
          <p:cNvSpPr txBox="1"/>
          <p:nvPr/>
        </p:nvSpPr>
        <p:spPr>
          <a:xfrm>
            <a:off x="5131055" y="6351826"/>
            <a:ext cx="2728451" cy="276999"/>
          </a:xfrm>
          <a:prstGeom prst="rect">
            <a:avLst/>
          </a:prstGeom>
          <a:noFill/>
        </p:spPr>
        <p:txBody>
          <a:bodyPr wrap="square" rtlCol="0">
            <a:spAutoFit/>
          </a:bodyPr>
          <a:lstStyle/>
          <a:p>
            <a:pPr algn="just"/>
            <a:r>
              <a:rPr lang="en-US" sz="1200" dirty="0"/>
              <a:t>Paper </a:t>
            </a:r>
            <a:r>
              <a:rPr lang="en-US" sz="1200" dirty="0" smtClean="0"/>
              <a:t>ID-79</a:t>
            </a:r>
            <a:endParaRPr lang="en-US" sz="1200" dirty="0"/>
          </a:p>
        </p:txBody>
      </p:sp>
      <p:sp>
        <p:nvSpPr>
          <p:cNvPr id="9" name="Oval 8"/>
          <p:cNvSpPr/>
          <p:nvPr/>
        </p:nvSpPr>
        <p:spPr>
          <a:xfrm>
            <a:off x="11469189" y="6321196"/>
            <a:ext cx="552272" cy="4260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latin typeface="MS PGothic(Body)"/>
                <a:ea typeface="MS PGothic" panose="020B0600070205080204" pitchFamily="34" charset="-128"/>
              </a:rPr>
              <a:t>17</a:t>
            </a:r>
            <a:endParaRPr lang="en-US" sz="1200" dirty="0">
              <a:latin typeface="MS PGothic(Body)"/>
              <a:ea typeface="MS PGothic" panose="020B0600070205080204" pitchFamily="34" charset="-128"/>
            </a:endParaRPr>
          </a:p>
        </p:txBody>
      </p:sp>
      <p:sp>
        <p:nvSpPr>
          <p:cNvPr id="3" name="TextBox 2">
            <a:extLst>
              <a:ext uri="{FF2B5EF4-FFF2-40B4-BE49-F238E27FC236}">
                <a16:creationId xmlns:a16="http://schemas.microsoft.com/office/drawing/2014/main" id="{5D222FBF-C2DF-45B3-8F03-96512D013153}"/>
              </a:ext>
            </a:extLst>
          </p:cNvPr>
          <p:cNvSpPr txBox="1"/>
          <p:nvPr/>
        </p:nvSpPr>
        <p:spPr>
          <a:xfrm flipH="1">
            <a:off x="6495280" y="351968"/>
            <a:ext cx="2400526" cy="584775"/>
          </a:xfrm>
          <a:prstGeom prst="rect">
            <a:avLst/>
          </a:prstGeom>
          <a:noFill/>
        </p:spPr>
        <p:txBody>
          <a:bodyPr wrap="square" rtlCol="0">
            <a:spAutoFit/>
          </a:bodyPr>
          <a:lstStyle/>
          <a:p>
            <a:r>
              <a:rPr lang="en-US" sz="3200" b="1" dirty="0" smtClean="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ea typeface="Cambria" panose="02040503050406030204" pitchFamily="18" charset="0"/>
                <a:cs typeface="Times New Roman" panose="02020603050405020304" pitchFamily="18" charset="0"/>
              </a:rPr>
              <a:t>References</a:t>
            </a:r>
            <a:endParaRPr lang="en-US" sz="32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21" name="Straight Connector 20">
            <a:extLst>
              <a:ext uri="{FF2B5EF4-FFF2-40B4-BE49-F238E27FC236}">
                <a16:creationId xmlns:a16="http://schemas.microsoft.com/office/drawing/2014/main" id="{45253915-89B9-4807-AEFC-DA141BC80A90}"/>
              </a:ext>
            </a:extLst>
          </p:cNvPr>
          <p:cNvCxnSpPr/>
          <p:nvPr/>
        </p:nvCxnSpPr>
        <p:spPr>
          <a:xfrm>
            <a:off x="211271" y="1336854"/>
            <a:ext cx="11620870" cy="0"/>
          </a:xfrm>
          <a:prstGeom prst="line">
            <a:avLst/>
          </a:prstGeom>
          <a:ln w="57150"/>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sp>
        <p:nvSpPr>
          <p:cNvPr id="5" name="Rectangle 4">
            <a:extLst>
              <a:ext uri="{FF2B5EF4-FFF2-40B4-BE49-F238E27FC236}">
                <a16:creationId xmlns:a16="http://schemas.microsoft.com/office/drawing/2014/main" id="{697E8EBD-CA91-458A-8221-F826FDAB18E3}"/>
              </a:ext>
            </a:extLst>
          </p:cNvPr>
          <p:cNvSpPr/>
          <p:nvPr/>
        </p:nvSpPr>
        <p:spPr>
          <a:xfrm>
            <a:off x="211271" y="136525"/>
            <a:ext cx="5288192" cy="1200329"/>
          </a:xfrm>
          <a:prstGeom prst="rect">
            <a:avLst/>
          </a:prstGeom>
        </p:spPr>
        <p:txBody>
          <a:bodyPr wrap="square">
            <a:spAutoFit/>
          </a:bodyPr>
          <a:lstStyle/>
          <a:p>
            <a:r>
              <a:rPr lang="en-GB" sz="2400" b="1" dirty="0" smtClean="0">
                <a:solidFill>
                  <a:schemeClr val="accent6">
                    <a:lumMod val="75000"/>
                  </a:schemeClr>
                </a:solidFill>
                <a:latin typeface="Times New Roman" panose="02020603050405020304" pitchFamily="18" charset="0"/>
                <a:cs typeface="Times New Roman" panose="02020603050405020304" pitchFamily="18" charset="0"/>
              </a:rPr>
              <a:t>8th </a:t>
            </a:r>
            <a:r>
              <a:rPr lang="en-GB" sz="2400" b="1" dirty="0">
                <a:solidFill>
                  <a:schemeClr val="accent6">
                    <a:lumMod val="75000"/>
                  </a:schemeClr>
                </a:solidFill>
                <a:latin typeface="Times New Roman" panose="02020603050405020304" pitchFamily="18" charset="0"/>
                <a:cs typeface="Times New Roman" panose="02020603050405020304" pitchFamily="18" charset="0"/>
              </a:rPr>
              <a:t>IEEE international Women in Engineering (WIE) Conference on Electrical and Computer Engineering</a:t>
            </a:r>
            <a:endParaRPr lang="en-US" dirty="0">
              <a:solidFill>
                <a:schemeClr val="accent1">
                  <a:lumMod val="75000"/>
                </a:schemeClr>
              </a:solidFill>
            </a:endParaRPr>
          </a:p>
        </p:txBody>
      </p:sp>
      <p:sp>
        <p:nvSpPr>
          <p:cNvPr id="2" name="Rectangle 1">
            <a:extLst>
              <a:ext uri="{FF2B5EF4-FFF2-40B4-BE49-F238E27FC236}">
                <a16:creationId xmlns:a16="http://schemas.microsoft.com/office/drawing/2014/main" id="{F71AA4CC-E9FA-447D-90D9-9E214B3AF277}"/>
              </a:ext>
            </a:extLst>
          </p:cNvPr>
          <p:cNvSpPr/>
          <p:nvPr/>
        </p:nvSpPr>
        <p:spPr>
          <a:xfrm>
            <a:off x="838200" y="2138276"/>
            <a:ext cx="10153094" cy="3262432"/>
          </a:xfrm>
          <a:prstGeom prst="rect">
            <a:avLst/>
          </a:prstGeom>
        </p:spPr>
        <p:txBody>
          <a:bodyPr wrap="square">
            <a:spAutoFit/>
          </a:bodyPr>
          <a:lstStyle/>
          <a:p>
            <a:r>
              <a:rPr lang="en-US" sz="1600" dirty="0" smtClean="0">
                <a:latin typeface="Times New Roman" panose="02020603050405020304" pitchFamily="18" charset="0"/>
                <a:ea typeface="Cambria" panose="02040503050406030204" pitchFamily="18" charset="0"/>
                <a:cs typeface="Times New Roman" panose="02020603050405020304" pitchFamily="18" charset="0"/>
              </a:rPr>
              <a:t>[1]. </a:t>
            </a:r>
            <a:r>
              <a:rPr lang="en-GB" sz="1600" dirty="0" err="1">
                <a:latin typeface="Times New Roman" panose="02020603050405020304" pitchFamily="18" charset="0"/>
                <a:ea typeface="Cambria" panose="02040503050406030204" pitchFamily="18" charset="0"/>
                <a:cs typeface="Times New Roman" panose="02020603050405020304" pitchFamily="18" charset="0"/>
              </a:rPr>
              <a:t>Selye</a:t>
            </a:r>
            <a:r>
              <a:rPr lang="en-GB" sz="1600" dirty="0">
                <a:latin typeface="Times New Roman" panose="02020603050405020304" pitchFamily="18" charset="0"/>
                <a:ea typeface="Cambria" panose="02040503050406030204" pitchFamily="18" charset="0"/>
                <a:cs typeface="Times New Roman" panose="02020603050405020304" pitchFamily="18" charset="0"/>
              </a:rPr>
              <a:t>, H., 1976. Stress without distress. In Psychopathology of </a:t>
            </a:r>
            <a:r>
              <a:rPr lang="en-GB" sz="1600" dirty="0" smtClean="0">
                <a:latin typeface="Times New Roman" panose="02020603050405020304" pitchFamily="18" charset="0"/>
                <a:ea typeface="Cambria" panose="02040503050406030204" pitchFamily="18" charset="0"/>
                <a:cs typeface="Times New Roman" panose="02020603050405020304" pitchFamily="18" charset="0"/>
              </a:rPr>
              <a:t>human adaptation </a:t>
            </a:r>
            <a:r>
              <a:rPr lang="en-GB" sz="1600" dirty="0">
                <a:latin typeface="Times New Roman" panose="02020603050405020304" pitchFamily="18" charset="0"/>
                <a:ea typeface="Cambria" panose="02040503050406030204" pitchFamily="18" charset="0"/>
                <a:cs typeface="Times New Roman" panose="02020603050405020304" pitchFamily="18" charset="0"/>
              </a:rPr>
              <a:t>(pp. 137-146). Springer, Boston, MA</a:t>
            </a:r>
            <a:r>
              <a:rPr lang="en-GB" sz="1600" dirty="0" smtClean="0">
                <a:latin typeface="Times New Roman" panose="02020603050405020304" pitchFamily="18" charset="0"/>
                <a:ea typeface="Cambria" panose="020405030504060302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ea typeface="Cambria" panose="02040503050406030204" pitchFamily="18" charset="0"/>
                <a:cs typeface="Times New Roman" panose="02020603050405020304" pitchFamily="18" charset="0"/>
              </a:rPr>
              <a:t>[2]. </a:t>
            </a:r>
            <a:r>
              <a:rPr lang="en-GB" sz="1600" dirty="0" smtClean="0">
                <a:latin typeface="Times New Roman" panose="02020603050405020304" pitchFamily="18" charset="0"/>
                <a:cs typeface="Times New Roman" panose="02020603050405020304" pitchFamily="18" charset="0"/>
              </a:rPr>
              <a:t>Islam</a:t>
            </a:r>
            <a:r>
              <a:rPr lang="en-GB" sz="1600" dirty="0">
                <a:latin typeface="Times New Roman" panose="02020603050405020304" pitchFamily="18" charset="0"/>
                <a:cs typeface="Times New Roman" panose="02020603050405020304" pitchFamily="18" charset="0"/>
              </a:rPr>
              <a:t>, M.R., Ahmed, M.L., Paul, B.K., </a:t>
            </a:r>
            <a:r>
              <a:rPr lang="en-GB" sz="1600" dirty="0" err="1">
                <a:latin typeface="Times New Roman" panose="02020603050405020304" pitchFamily="18" charset="0"/>
                <a:cs typeface="Times New Roman" panose="02020603050405020304" pitchFamily="18" charset="0"/>
              </a:rPr>
              <a:t>Bhuiyan</a:t>
            </a:r>
            <a:r>
              <a:rPr lang="en-GB" sz="1600" dirty="0">
                <a:latin typeface="Times New Roman" panose="02020603050405020304" pitchFamily="18" charset="0"/>
                <a:cs typeface="Times New Roman" panose="02020603050405020304" pitchFamily="18" charset="0"/>
              </a:rPr>
              <a:t>, T. and Ahmed, K</a:t>
            </a:r>
            <a:r>
              <a:rPr lang="en-GB" sz="1600" dirty="0" smtClean="0">
                <a:latin typeface="Times New Roman" panose="02020603050405020304" pitchFamily="18" charset="0"/>
                <a:cs typeface="Times New Roman" panose="02020603050405020304" pitchFamily="18" charset="0"/>
              </a:rPr>
              <a:t>., 2019</a:t>
            </a:r>
            <a:r>
              <a:rPr lang="en-GB" sz="1600" dirty="0">
                <a:latin typeface="Times New Roman" panose="02020603050405020304" pitchFamily="18" charset="0"/>
                <a:cs typeface="Times New Roman" panose="02020603050405020304" pitchFamily="18" charset="0"/>
              </a:rPr>
              <a:t>. Potential therapeutic drugs for ischemic stroke and stress disorder: A bioinformatics analysis. Informatics in Medicine Unlocked, </a:t>
            </a:r>
            <a:r>
              <a:rPr lang="en-GB" sz="1600" dirty="0" smtClean="0">
                <a:latin typeface="Times New Roman" panose="02020603050405020304" pitchFamily="18" charset="0"/>
                <a:cs typeface="Times New Roman" panose="02020603050405020304" pitchFamily="18" charset="0"/>
              </a:rPr>
              <a:t>17, p.100259.</a:t>
            </a:r>
          </a:p>
          <a:p>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ea typeface="Cambria" panose="02040503050406030204" pitchFamily="18" charset="0"/>
                <a:cs typeface="Times New Roman" panose="02020603050405020304" pitchFamily="18" charset="0"/>
              </a:rPr>
              <a:t>[3]. </a:t>
            </a:r>
            <a:r>
              <a:rPr lang="en-GB" sz="1600" dirty="0" smtClean="0">
                <a:latin typeface="Times New Roman" panose="02020603050405020304" pitchFamily="18" charset="0"/>
                <a:ea typeface="Cambria" panose="02040503050406030204" pitchFamily="18" charset="0"/>
                <a:cs typeface="Times New Roman" panose="02020603050405020304" pitchFamily="18" charset="0"/>
              </a:rPr>
              <a:t>Ferrari</a:t>
            </a:r>
            <a:r>
              <a:rPr lang="en-GB" sz="1600" dirty="0">
                <a:latin typeface="Times New Roman" panose="02020603050405020304" pitchFamily="18" charset="0"/>
                <a:ea typeface="Cambria" panose="02040503050406030204" pitchFamily="18" charset="0"/>
                <a:cs typeface="Times New Roman" panose="02020603050405020304" pitchFamily="18" charset="0"/>
              </a:rPr>
              <a:t>, A.J., </a:t>
            </a:r>
            <a:r>
              <a:rPr lang="en-GB" sz="1600" dirty="0" err="1">
                <a:latin typeface="Times New Roman" panose="02020603050405020304" pitchFamily="18" charset="0"/>
                <a:ea typeface="Cambria" panose="02040503050406030204" pitchFamily="18" charset="0"/>
                <a:cs typeface="Times New Roman" panose="02020603050405020304" pitchFamily="18" charset="0"/>
              </a:rPr>
              <a:t>Charlson</a:t>
            </a:r>
            <a:r>
              <a:rPr lang="en-GB" sz="1600" dirty="0">
                <a:latin typeface="Times New Roman" panose="02020603050405020304" pitchFamily="18" charset="0"/>
                <a:ea typeface="Cambria" panose="02040503050406030204" pitchFamily="18" charset="0"/>
                <a:cs typeface="Times New Roman" panose="02020603050405020304" pitchFamily="18" charset="0"/>
              </a:rPr>
              <a:t>, F.J., Norman, R.E., Flaxman, A.D., Patten, S.B</a:t>
            </a:r>
            <a:r>
              <a:rPr lang="en-GB" sz="1600" dirty="0" smtClean="0">
                <a:latin typeface="Times New Roman" panose="02020603050405020304" pitchFamily="18" charset="0"/>
                <a:ea typeface="Cambria" panose="02040503050406030204" pitchFamily="18" charset="0"/>
                <a:cs typeface="Times New Roman" panose="02020603050405020304" pitchFamily="18" charset="0"/>
              </a:rPr>
              <a:t>., </a:t>
            </a:r>
            <a:r>
              <a:rPr lang="en-GB" sz="1600" dirty="0" err="1" smtClean="0">
                <a:latin typeface="Times New Roman" panose="02020603050405020304" pitchFamily="18" charset="0"/>
                <a:ea typeface="Cambria" panose="02040503050406030204" pitchFamily="18" charset="0"/>
                <a:cs typeface="Times New Roman" panose="02020603050405020304" pitchFamily="18" charset="0"/>
              </a:rPr>
              <a:t>Vos</a:t>
            </a:r>
            <a:r>
              <a:rPr lang="en-GB" sz="1600" dirty="0">
                <a:latin typeface="Times New Roman" panose="02020603050405020304" pitchFamily="18" charset="0"/>
                <a:ea typeface="Cambria" panose="02040503050406030204" pitchFamily="18" charset="0"/>
                <a:cs typeface="Times New Roman" panose="02020603050405020304" pitchFamily="18" charset="0"/>
              </a:rPr>
              <a:t>, T. and </a:t>
            </a:r>
            <a:r>
              <a:rPr lang="en-GB" sz="1600" dirty="0" err="1">
                <a:latin typeface="Times New Roman" panose="02020603050405020304" pitchFamily="18" charset="0"/>
                <a:ea typeface="Cambria" panose="02040503050406030204" pitchFamily="18" charset="0"/>
                <a:cs typeface="Times New Roman" panose="02020603050405020304" pitchFamily="18" charset="0"/>
              </a:rPr>
              <a:t>Whiteford</a:t>
            </a:r>
            <a:r>
              <a:rPr lang="en-GB" sz="1600" dirty="0">
                <a:latin typeface="Times New Roman" panose="02020603050405020304" pitchFamily="18" charset="0"/>
                <a:ea typeface="Cambria" panose="02040503050406030204" pitchFamily="18" charset="0"/>
                <a:cs typeface="Times New Roman" panose="02020603050405020304" pitchFamily="18" charset="0"/>
              </a:rPr>
              <a:t>, H.A., 2013. The epidemiological modelling </a:t>
            </a:r>
            <a:r>
              <a:rPr lang="en-GB" sz="1600" dirty="0" smtClean="0">
                <a:latin typeface="Times New Roman" panose="02020603050405020304" pitchFamily="18" charset="0"/>
                <a:ea typeface="Cambria" panose="02040503050406030204" pitchFamily="18" charset="0"/>
                <a:cs typeface="Times New Roman" panose="02020603050405020304" pitchFamily="18" charset="0"/>
              </a:rPr>
              <a:t>of major </a:t>
            </a:r>
            <a:r>
              <a:rPr lang="en-GB" sz="1600" dirty="0">
                <a:latin typeface="Times New Roman" panose="02020603050405020304" pitchFamily="18" charset="0"/>
                <a:ea typeface="Cambria" panose="02040503050406030204" pitchFamily="18" charset="0"/>
                <a:cs typeface="Times New Roman" panose="02020603050405020304" pitchFamily="18" charset="0"/>
              </a:rPr>
              <a:t>depressive disorder: application for the Global Burden of </a:t>
            </a:r>
            <a:r>
              <a:rPr lang="en-GB" sz="1600" dirty="0" smtClean="0">
                <a:latin typeface="Times New Roman" panose="02020603050405020304" pitchFamily="18" charset="0"/>
                <a:ea typeface="Cambria" panose="02040503050406030204" pitchFamily="18" charset="0"/>
                <a:cs typeface="Times New Roman" panose="02020603050405020304" pitchFamily="18" charset="0"/>
              </a:rPr>
              <a:t>Disease Study </a:t>
            </a:r>
            <a:r>
              <a:rPr lang="en-GB" sz="1600" dirty="0">
                <a:latin typeface="Times New Roman" panose="02020603050405020304" pitchFamily="18" charset="0"/>
                <a:ea typeface="Cambria" panose="02040503050406030204" pitchFamily="18" charset="0"/>
                <a:cs typeface="Times New Roman" panose="02020603050405020304" pitchFamily="18" charset="0"/>
              </a:rPr>
              <a:t>2010. </a:t>
            </a:r>
            <a:r>
              <a:rPr lang="en-GB" sz="1600" dirty="0" err="1">
                <a:latin typeface="Times New Roman" panose="02020603050405020304" pitchFamily="18" charset="0"/>
                <a:ea typeface="Cambria" panose="02040503050406030204" pitchFamily="18" charset="0"/>
                <a:cs typeface="Times New Roman" panose="02020603050405020304" pitchFamily="18" charset="0"/>
              </a:rPr>
              <a:t>PloS</a:t>
            </a:r>
            <a:r>
              <a:rPr lang="en-GB" sz="1600" dirty="0">
                <a:latin typeface="Times New Roman" panose="02020603050405020304" pitchFamily="18" charset="0"/>
                <a:ea typeface="Cambria" panose="02040503050406030204" pitchFamily="18" charset="0"/>
                <a:cs typeface="Times New Roman" panose="02020603050405020304" pitchFamily="18" charset="0"/>
              </a:rPr>
              <a:t> one, 8(7), p.e69637</a:t>
            </a:r>
            <a:r>
              <a:rPr lang="en-GB" sz="1600" dirty="0" smtClean="0">
                <a:latin typeface="Times New Roman" panose="02020603050405020304" pitchFamily="18" charset="0"/>
                <a:ea typeface="Cambria" panose="02040503050406030204" pitchFamily="18" charset="0"/>
                <a:cs typeface="Times New Roman" panose="02020603050405020304" pitchFamily="18" charset="0"/>
              </a:rPr>
              <a:t>.</a:t>
            </a:r>
          </a:p>
          <a:p>
            <a:endParaRPr lang="en-GB" sz="1600" dirty="0" smtClean="0">
              <a:latin typeface="Times New Roman" panose="02020603050405020304" pitchFamily="18" charset="0"/>
              <a:ea typeface="Cambria" panose="02040503050406030204" pitchFamily="18" charset="0"/>
              <a:cs typeface="Times New Roman" panose="02020603050405020304" pitchFamily="18" charset="0"/>
            </a:endParaRPr>
          </a:p>
          <a:p>
            <a:r>
              <a:rPr lang="en-GB" sz="1600" dirty="0">
                <a:latin typeface="Times New Roman" panose="02020603050405020304" pitchFamily="18" charset="0"/>
                <a:ea typeface="Cambria" panose="02040503050406030204" pitchFamily="18" charset="0"/>
                <a:cs typeface="Times New Roman" panose="02020603050405020304" pitchFamily="18" charset="0"/>
              </a:rPr>
              <a:t>[4</a:t>
            </a:r>
            <a:r>
              <a:rPr lang="en-GB" sz="1600" dirty="0" smtClean="0">
                <a:latin typeface="Times New Roman" panose="02020603050405020304" pitchFamily="18" charset="0"/>
                <a:ea typeface="Cambria" panose="02040503050406030204" pitchFamily="18" charset="0"/>
                <a:cs typeface="Times New Roman" panose="02020603050405020304" pitchFamily="18" charset="0"/>
              </a:rPr>
              <a:t>]. </a:t>
            </a:r>
            <a:r>
              <a:rPr lang="en-GB" sz="1600" dirty="0">
                <a:latin typeface="Times New Roman" panose="02020603050405020304" pitchFamily="18" charset="0"/>
                <a:ea typeface="Cambria" panose="02040503050406030204" pitchFamily="18" charset="0"/>
                <a:cs typeface="Times New Roman" panose="02020603050405020304" pitchFamily="18" charset="0"/>
              </a:rPr>
              <a:t>Busch, Y. and </a:t>
            </a:r>
            <a:r>
              <a:rPr lang="en-GB" sz="1600" dirty="0" err="1">
                <a:latin typeface="Times New Roman" panose="02020603050405020304" pitchFamily="18" charset="0"/>
                <a:ea typeface="Cambria" panose="02040503050406030204" pitchFamily="18" charset="0"/>
                <a:cs typeface="Times New Roman" panose="02020603050405020304" pitchFamily="18" charset="0"/>
              </a:rPr>
              <a:t>Menke</a:t>
            </a:r>
            <a:r>
              <a:rPr lang="en-GB" sz="1600" dirty="0">
                <a:latin typeface="Times New Roman" panose="02020603050405020304" pitchFamily="18" charset="0"/>
                <a:ea typeface="Cambria" panose="02040503050406030204" pitchFamily="18" charset="0"/>
                <a:cs typeface="Times New Roman" panose="02020603050405020304" pitchFamily="18" charset="0"/>
              </a:rPr>
              <a:t>, A., 2019. Blood-based biomarkers predicting response to antidepressants. Journal of Neural Transmission, 126(1), pp.47-63.</a:t>
            </a:r>
            <a:r>
              <a:rPr lang="en-US" sz="1400" dirty="0"/>
              <a:t/>
            </a:r>
            <a:br>
              <a:rPr lang="en-US" sz="1400" dirty="0"/>
            </a:br>
            <a:endParaRPr lang="en-US" sz="1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1559512"/>
      </p:ext>
    </p:extLst>
  </p:cSld>
  <p:clrMapOvr>
    <a:masterClrMapping/>
  </p:clrMapOvr>
  <mc:AlternateContent xmlns:mc="http://schemas.openxmlformats.org/markup-compatibility/2006" xmlns:p14="http://schemas.microsoft.com/office/powerpoint/2010/main">
    <mc:Choice Requires="p14">
      <p:transition spd="slow" p14:dur="2000" advTm="5430"/>
    </mc:Choice>
    <mc:Fallback xmlns="">
      <p:transition spd="slow" advTm="5430"/>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December </a:t>
            </a:r>
            <a:r>
              <a:rPr lang="en-US" dirty="0" smtClean="0"/>
              <a:t>31</a:t>
            </a:r>
            <a:r>
              <a:rPr lang="en-US" dirty="0" smtClean="0"/>
              <a:t>,2022</a:t>
            </a:r>
            <a:endParaRPr lang="en-US" dirty="0"/>
          </a:p>
        </p:txBody>
      </p:sp>
      <p:sp>
        <p:nvSpPr>
          <p:cNvPr id="6" name="TextBox 5"/>
          <p:cNvSpPr txBox="1"/>
          <p:nvPr/>
        </p:nvSpPr>
        <p:spPr>
          <a:xfrm>
            <a:off x="5131055" y="6351826"/>
            <a:ext cx="2728451" cy="276999"/>
          </a:xfrm>
          <a:prstGeom prst="rect">
            <a:avLst/>
          </a:prstGeom>
          <a:noFill/>
        </p:spPr>
        <p:txBody>
          <a:bodyPr wrap="square" rtlCol="0">
            <a:spAutoFit/>
          </a:bodyPr>
          <a:lstStyle/>
          <a:p>
            <a:pPr algn="just"/>
            <a:r>
              <a:rPr lang="en-US" sz="1200" dirty="0"/>
              <a:t>Paper </a:t>
            </a:r>
            <a:r>
              <a:rPr lang="en-US" sz="1200" dirty="0" smtClean="0"/>
              <a:t>ID-79</a:t>
            </a:r>
            <a:endParaRPr lang="en-US" sz="1200" dirty="0"/>
          </a:p>
        </p:txBody>
      </p:sp>
      <p:sp>
        <p:nvSpPr>
          <p:cNvPr id="9" name="Oval 8"/>
          <p:cNvSpPr/>
          <p:nvPr/>
        </p:nvSpPr>
        <p:spPr>
          <a:xfrm>
            <a:off x="11482251" y="6321196"/>
            <a:ext cx="539210" cy="4260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latin typeface="MS PGothic(Body)"/>
                <a:ea typeface="MS PGothic" panose="020B0600070205080204" pitchFamily="34" charset="-128"/>
              </a:rPr>
              <a:t>18</a:t>
            </a:r>
            <a:endParaRPr lang="en-US" sz="1200" dirty="0">
              <a:latin typeface="MS PGothic(Body)"/>
              <a:ea typeface="MS PGothic" panose="020B0600070205080204" pitchFamily="34" charset="-128"/>
            </a:endParaRPr>
          </a:p>
        </p:txBody>
      </p:sp>
      <p:cxnSp>
        <p:nvCxnSpPr>
          <p:cNvPr id="21" name="Straight Connector 20">
            <a:extLst>
              <a:ext uri="{FF2B5EF4-FFF2-40B4-BE49-F238E27FC236}">
                <a16:creationId xmlns:a16="http://schemas.microsoft.com/office/drawing/2014/main" id="{45253915-89B9-4807-AEFC-DA141BC80A90}"/>
              </a:ext>
            </a:extLst>
          </p:cNvPr>
          <p:cNvCxnSpPr/>
          <p:nvPr/>
        </p:nvCxnSpPr>
        <p:spPr>
          <a:xfrm>
            <a:off x="211270" y="1343448"/>
            <a:ext cx="11620870" cy="0"/>
          </a:xfrm>
          <a:prstGeom prst="line">
            <a:avLst/>
          </a:prstGeom>
          <a:ln w="57150"/>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sp>
        <p:nvSpPr>
          <p:cNvPr id="5" name="Rectangle 4">
            <a:extLst>
              <a:ext uri="{FF2B5EF4-FFF2-40B4-BE49-F238E27FC236}">
                <a16:creationId xmlns:a16="http://schemas.microsoft.com/office/drawing/2014/main" id="{697E8EBD-CA91-458A-8221-F826FDAB18E3}"/>
              </a:ext>
            </a:extLst>
          </p:cNvPr>
          <p:cNvSpPr/>
          <p:nvPr/>
        </p:nvSpPr>
        <p:spPr>
          <a:xfrm>
            <a:off x="211270" y="136525"/>
            <a:ext cx="5183689" cy="1200329"/>
          </a:xfrm>
          <a:prstGeom prst="rect">
            <a:avLst/>
          </a:prstGeom>
        </p:spPr>
        <p:txBody>
          <a:bodyPr wrap="square">
            <a:spAutoFit/>
          </a:bodyPr>
          <a:lstStyle/>
          <a:p>
            <a:r>
              <a:rPr lang="en-GB" sz="2400" b="1" dirty="0" smtClean="0">
                <a:solidFill>
                  <a:schemeClr val="accent6">
                    <a:lumMod val="75000"/>
                  </a:schemeClr>
                </a:solidFill>
                <a:latin typeface="Times New Roman" panose="02020603050405020304" pitchFamily="18" charset="0"/>
                <a:cs typeface="Times New Roman" panose="02020603050405020304" pitchFamily="18" charset="0"/>
              </a:rPr>
              <a:t>8th </a:t>
            </a:r>
            <a:r>
              <a:rPr lang="en-GB" sz="2400" b="1" dirty="0">
                <a:solidFill>
                  <a:schemeClr val="accent6">
                    <a:lumMod val="75000"/>
                  </a:schemeClr>
                </a:solidFill>
                <a:latin typeface="Times New Roman" panose="02020603050405020304" pitchFamily="18" charset="0"/>
                <a:cs typeface="Times New Roman" panose="02020603050405020304" pitchFamily="18" charset="0"/>
              </a:rPr>
              <a:t>IEEE international Women in Engineering (WIE) Conference on Electrical and Computer Engineering</a:t>
            </a:r>
            <a:endParaRPr lang="en-US" dirty="0">
              <a:solidFill>
                <a:schemeClr val="accent1">
                  <a:lumMod val="75000"/>
                </a:schemeClr>
              </a:solidFill>
            </a:endParaRPr>
          </a:p>
        </p:txBody>
      </p:sp>
      <p:sp>
        <p:nvSpPr>
          <p:cNvPr id="7" name="Rectangle 6">
            <a:extLst>
              <a:ext uri="{FF2B5EF4-FFF2-40B4-BE49-F238E27FC236}">
                <a16:creationId xmlns:a16="http://schemas.microsoft.com/office/drawing/2014/main" id="{7242F565-7731-40B6-B4AB-6618A44DC0DC}"/>
              </a:ext>
            </a:extLst>
          </p:cNvPr>
          <p:cNvSpPr/>
          <p:nvPr/>
        </p:nvSpPr>
        <p:spPr>
          <a:xfrm>
            <a:off x="3048000" y="2854516"/>
            <a:ext cx="6096000" cy="1148969"/>
          </a:xfrm>
          <a:prstGeom prst="rect">
            <a:avLst/>
          </a:prstGeom>
        </p:spPr>
        <p:txBody>
          <a:bodyPr>
            <a:spAutoFit/>
          </a:bodyPr>
          <a:lstStyle/>
          <a:p>
            <a:pPr algn="ctr">
              <a:lnSpc>
                <a:spcPct val="250000"/>
              </a:lnSpc>
            </a:pPr>
            <a:r>
              <a:rPr lang="en-US" dirty="0">
                <a:solidFill>
                  <a:srgbClr val="0070C0"/>
                </a:solidFill>
                <a:latin typeface="Cambria" panose="02040503050406030204" pitchFamily="18" charset="0"/>
              </a:rPr>
              <a:t>Thank you all for your kind attention.</a:t>
            </a:r>
          </a:p>
          <a:p>
            <a:pPr algn="ctr">
              <a:lnSpc>
                <a:spcPct val="150000"/>
              </a:lnSpc>
            </a:pPr>
            <a:r>
              <a:rPr lang="en-US" dirty="0">
                <a:solidFill>
                  <a:schemeClr val="accent6"/>
                </a:solidFill>
                <a:latin typeface="Cambria" panose="02040503050406030204" pitchFamily="18" charset="0"/>
              </a:rPr>
              <a:t>Welcome to Q &amp; A session!!!</a:t>
            </a:r>
          </a:p>
        </p:txBody>
      </p:sp>
    </p:spTree>
    <p:extLst>
      <p:ext uri="{BB962C8B-B14F-4D97-AF65-F5344CB8AC3E}">
        <p14:creationId xmlns:p14="http://schemas.microsoft.com/office/powerpoint/2010/main" val="3757733448"/>
      </p:ext>
    </p:extLst>
  </p:cSld>
  <p:clrMapOvr>
    <a:masterClrMapping/>
  </p:clrMapOvr>
  <mc:AlternateContent xmlns:mc="http://schemas.openxmlformats.org/markup-compatibility/2006" xmlns:p14="http://schemas.microsoft.com/office/powerpoint/2010/main">
    <mc:Choice Requires="p14">
      <p:transition spd="slow" p14:dur="2000" advTm="5018"/>
    </mc:Choice>
    <mc:Fallback xmlns="">
      <p:transition spd="slow" advTm="5018"/>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9379</TotalTime>
  <Words>1529</Words>
  <Application>Microsoft Office PowerPoint</Application>
  <PresentationFormat>Widescreen</PresentationFormat>
  <Paragraphs>178</Paragraphs>
  <Slides>18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MS PGothic</vt:lpstr>
      <vt:lpstr>Arial</vt:lpstr>
      <vt:lpstr>Calibri</vt:lpstr>
      <vt:lpstr>Calibri Light</vt:lpstr>
      <vt:lpstr>Cambria</vt:lpstr>
      <vt:lpstr>Cambria Math</vt:lpstr>
      <vt:lpstr>MS PGothic(Body)</vt:lpstr>
      <vt:lpstr>Times New Roman</vt:lpstr>
      <vt:lpstr>Wingdings</vt:lpstr>
      <vt:lpstr>Office Theme</vt:lpstr>
      <vt:lpstr>8th IEEE international Women in Engineering (WIE) Conference on Electrical and Computer Engineering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Md Faruk Hosen</cp:lastModifiedBy>
  <cp:revision>380</cp:revision>
  <dcterms:created xsi:type="dcterms:W3CDTF">2020-01-31T09:26:31Z</dcterms:created>
  <dcterms:modified xsi:type="dcterms:W3CDTF">2022-12-27T09:34:52Z</dcterms:modified>
</cp:coreProperties>
</file>